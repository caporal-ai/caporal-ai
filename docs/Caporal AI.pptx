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4"/>
    <p:sldMasterId id="2147483649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7" r:id="rId7"/>
    <p:sldId id="258" r:id="rId8"/>
    <p:sldId id="261" r:id="rId9"/>
    <p:sldId id="262" r:id="rId10"/>
    <p:sldId id="265" r:id="rId11"/>
    <p:sldId id="263" r:id="rId12"/>
    <p:sldId id="264" r:id="rId13"/>
    <p:sldId id="260" r:id="rId14"/>
  </p:sldIdLst>
  <p:sldSz cx="9144000" cy="6858000" type="screen4x3"/>
  <p:notesSz cx="6858000" cy="9144000"/>
  <p:defaultTextStyle>
    <a:defPPr>
      <a:defRPr lang="es-ES_tradnl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2"/>
    <p:restoredTop sz="72511" autoAdjust="0"/>
  </p:normalViewPr>
  <p:slideViewPr>
    <p:cSldViewPr>
      <p:cViewPr varScale="1">
        <p:scale>
          <a:sx n="111" d="100"/>
          <a:sy n="111" d="100"/>
        </p:scale>
        <p:origin x="29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A0850F-5E31-7B7D-F2EB-ED79C3FFC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E2A16-49F1-EF3B-AA94-C68E0769F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pPr>
              <a:defRPr/>
            </a:pPr>
            <a:fld id="{4F08F45D-03D4-4A96-815B-6B02B79F362B}" type="datetimeFigureOut">
              <a:rPr lang="en-US" altLang="es-ES"/>
              <a:pPr>
                <a:defRPr/>
              </a:pPr>
              <a:t>4/12/26</a:t>
            </a:fld>
            <a:endParaRPr lang="en-US" alt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A1A3F-3D5E-D1F9-EA12-CF29B37CAC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77E62-94A0-DAB9-4A7C-F2B877B352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defRPr sz="1200" smtClean="0"/>
            </a:lvl1pPr>
          </a:lstStyle>
          <a:p>
            <a:pPr>
              <a:defRPr/>
            </a:pPr>
            <a:fld id="{8333745D-3D85-42D7-B480-34A98251EE3F}" type="slidenum">
              <a:rPr lang="en-US" altLang="es-ES"/>
              <a:pPr>
                <a:defRPr/>
              </a:pPr>
              <a:t>‹#›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C8E90E0F-BD66-2851-6981-C0DCEAD43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B537F3-B2BF-3A66-26C4-144CE90F009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 cap="flat" cmpd="sng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x-none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es-ES_tradnl" altLang="x-none" noProof="0">
                <a:sym typeface="Avenir Roman" charset="0"/>
              </a:rPr>
              <a:t>Second level</a:t>
            </a:r>
          </a:p>
          <a:p>
            <a:pPr lvl="2"/>
            <a:r>
              <a:rPr lang="es-ES_tradnl" altLang="x-none" noProof="0">
                <a:sym typeface="Avenir Roman" charset="0"/>
              </a:rPr>
              <a:t>Third level</a:t>
            </a:r>
          </a:p>
          <a:p>
            <a:pPr lvl="3"/>
            <a:r>
              <a:rPr lang="es-ES_tradnl" altLang="x-none" noProof="0">
                <a:sym typeface="Avenir Roman" charset="0"/>
              </a:rPr>
              <a:t>Fourth level</a:t>
            </a:r>
          </a:p>
          <a:p>
            <a:pPr lvl="4"/>
            <a:r>
              <a:rPr lang="es-ES_tradnl" altLang="x-none" noProof="0">
                <a:sym typeface="Avenir Roman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Bienvenidos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muchas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gracias al tribunal. Somos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Equipo 3005, y hoy les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presentamos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Caporal AI: un Sistema para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Optimización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Económica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Dietas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Bovinas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"Durante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próximos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minutos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demostrar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Inteligencia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Artificial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híbrida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puede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democratizar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zootecnia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precisión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mexicanos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proyecto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rigor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metodología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Scrum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datos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reales. Los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invitamos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conocerlo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~30 seg. | 💡 Reglas de Oro: No leer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cámaras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encendidas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máx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10-15 min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total.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1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Seguiremos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estructura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oficial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plantilla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Comenzamos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contexto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problema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luego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metodología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después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arquitectura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técnica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demostración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prototipo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nuestros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KPIs,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cerramos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conclusiones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trabajo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futuro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~20 seg.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90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[P3] "El sector </a:t>
            </a:r>
            <a:r>
              <a:rPr lang="en-US" dirty="0" err="1"/>
              <a:t>ganadero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México </a:t>
            </a:r>
            <a:r>
              <a:rPr lang="en-US" dirty="0" err="1"/>
              <a:t>vive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crisis </a:t>
            </a:r>
            <a:r>
              <a:rPr lang="en-US" dirty="0" err="1"/>
              <a:t>silenciosa</a:t>
            </a:r>
            <a:r>
              <a:rPr lang="en-US" dirty="0"/>
              <a:t>: </a:t>
            </a:r>
            <a:r>
              <a:rPr lang="en-US" dirty="0" err="1"/>
              <a:t>el</a:t>
            </a:r>
            <a:r>
              <a:rPr lang="en-US" dirty="0"/>
              <a:t> productor </a:t>
            </a:r>
            <a:r>
              <a:rPr lang="en-US" dirty="0" err="1"/>
              <a:t>mediano</a:t>
            </a:r>
            <a:r>
              <a:rPr lang="en-US" dirty="0"/>
              <a:t> </a:t>
            </a:r>
            <a:r>
              <a:rPr lang="en-US" dirty="0" err="1"/>
              <a:t>alimenta</a:t>
            </a:r>
            <a:r>
              <a:rPr lang="en-US" dirty="0"/>
              <a:t> 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ganado</a:t>
            </a:r>
            <a:r>
              <a:rPr lang="en-US" dirty="0"/>
              <a:t> de forma </a:t>
            </a:r>
            <a:r>
              <a:rPr lang="en-US" dirty="0" err="1"/>
              <a:t>empírica</a:t>
            </a:r>
            <a:r>
              <a:rPr lang="en-US" dirty="0"/>
              <a:t>, </a:t>
            </a:r>
            <a:r>
              <a:rPr lang="en-US" dirty="0" err="1"/>
              <a:t>reacciona</a:t>
            </a:r>
            <a:r>
              <a:rPr lang="en-US" dirty="0"/>
              <a:t> </a:t>
            </a:r>
            <a:r>
              <a:rPr lang="en-US" dirty="0" err="1"/>
              <a:t>tarde</a:t>
            </a:r>
            <a:r>
              <a:rPr lang="en-US" dirty="0"/>
              <a:t> a la </a:t>
            </a:r>
            <a:r>
              <a:rPr lang="en-US" dirty="0" err="1"/>
              <a:t>inflación</a:t>
            </a:r>
            <a:r>
              <a:rPr lang="en-US" dirty="0"/>
              <a:t> del </a:t>
            </a:r>
            <a:r>
              <a:rPr lang="en-US" dirty="0" err="1"/>
              <a:t>maíz</a:t>
            </a:r>
            <a:r>
              <a:rPr lang="en-US" dirty="0"/>
              <a:t> y </a:t>
            </a:r>
            <a:r>
              <a:rPr lang="en-US" dirty="0" err="1"/>
              <a:t>pierde</a:t>
            </a:r>
            <a:r>
              <a:rPr lang="en-US" dirty="0"/>
              <a:t> dinero sin </a:t>
            </a:r>
            <a:r>
              <a:rPr lang="en-US" dirty="0" err="1"/>
              <a:t>saberlo</a:t>
            </a:r>
            <a:r>
              <a:rPr lang="en-US" dirty="0"/>
              <a:t>.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tabla</a:t>
            </a:r>
            <a:r>
              <a:rPr lang="en-US" dirty="0"/>
              <a:t> de la </a:t>
            </a:r>
            <a:r>
              <a:rPr lang="en-US" dirty="0" err="1"/>
              <a:t>derecha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ninguna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</a:t>
            </a:r>
            <a:r>
              <a:rPr lang="en-US" dirty="0" err="1"/>
              <a:t>resuelve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a la </a:t>
            </a:r>
            <a:r>
              <a:rPr lang="en-US" dirty="0" err="1"/>
              <a:t>vez</a:t>
            </a:r>
            <a:r>
              <a:rPr lang="en-US" dirty="0"/>
              <a:t>."
[P1] "</a:t>
            </a:r>
            <a:r>
              <a:rPr lang="en-US" dirty="0" err="1"/>
              <a:t>Ganadero</a:t>
            </a:r>
            <a:r>
              <a:rPr lang="en-US" dirty="0"/>
              <a:t> SG es </a:t>
            </a:r>
            <a:r>
              <a:rPr lang="en-US" dirty="0" err="1"/>
              <a:t>accesible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optimiza</a:t>
            </a:r>
            <a:r>
              <a:rPr lang="en-US" dirty="0"/>
              <a:t> nada. NDS </a:t>
            </a:r>
            <a:r>
              <a:rPr lang="en-US" dirty="0" err="1"/>
              <a:t>optimiza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es </a:t>
            </a:r>
            <a:r>
              <a:rPr lang="en-US" dirty="0" err="1"/>
              <a:t>inaccesible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y </a:t>
            </a:r>
            <a:r>
              <a:rPr lang="en-US" dirty="0" err="1"/>
              <a:t>económicamente</a:t>
            </a:r>
            <a:r>
              <a:rPr lang="en-US" dirty="0"/>
              <a:t>. Caporal AI es la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opción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cumple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: </a:t>
            </a:r>
            <a:r>
              <a:rPr lang="en-US" dirty="0" err="1"/>
              <a:t>optimiza</a:t>
            </a:r>
            <a:r>
              <a:rPr lang="en-US" dirty="0"/>
              <a:t> </a:t>
            </a:r>
            <a:r>
              <a:rPr lang="en-US" dirty="0" err="1"/>
              <a:t>costos</a:t>
            </a:r>
            <a:r>
              <a:rPr lang="en-US" dirty="0"/>
              <a:t>, </a:t>
            </a:r>
            <a:r>
              <a:rPr lang="en-US" dirty="0" err="1"/>
              <a:t>habla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natural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ganadero</a:t>
            </a:r>
            <a:r>
              <a:rPr lang="en-US" dirty="0"/>
              <a:t>, y </a:t>
            </a:r>
            <a:r>
              <a:rPr lang="en-US" dirty="0" err="1"/>
              <a:t>garantiza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</a:t>
            </a:r>
            <a:r>
              <a:rPr lang="en-US" dirty="0" err="1"/>
              <a:t>biológico</a:t>
            </a:r>
            <a:r>
              <a:rPr lang="en-US" dirty="0"/>
              <a:t> NRC."
[P2] "En </a:t>
            </a:r>
            <a:r>
              <a:rPr lang="en-US" dirty="0" err="1"/>
              <a:t>pocas</a:t>
            </a:r>
            <a:r>
              <a:rPr lang="en-US" dirty="0"/>
              <a:t> palabras: es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prescriptivo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dice al </a:t>
            </a:r>
            <a:r>
              <a:rPr lang="en-US" dirty="0" err="1"/>
              <a:t>ganadero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 hoy para </a:t>
            </a:r>
            <a:r>
              <a:rPr lang="en-US" dirty="0" err="1"/>
              <a:t>ahorrar</a:t>
            </a:r>
            <a:r>
              <a:rPr lang="en-US" dirty="0"/>
              <a:t> dinero, </a:t>
            </a:r>
            <a:r>
              <a:rPr lang="en-US" dirty="0" err="1"/>
              <a:t>comunicándose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español</a:t>
            </a:r>
            <a:r>
              <a:rPr lang="en-US" dirty="0"/>
              <a:t> natural."
⏱ ~1:30 min.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1636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"Nuestro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principal es claro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medible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reducir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entre 5% y 10%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costo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dieta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sin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violar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jamás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restricciones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National Research Council. Si no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cumple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ese guardrail,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no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entrega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ninguna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recomendación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realmente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funciona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adoptamos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ciclo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Lean Startup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diagrama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circular: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prototipo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Medir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7 KPIs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estrictos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Aprender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iterar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Esto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cada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sprint."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"Y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organizarnos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trabajamos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7 Sprints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semanales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bajo Scrum, con backlog,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historias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usuario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definición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Done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cada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entregable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combinación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Scrum + Lean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mantuvo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alineados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durante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desarrollo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~1:30 min.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262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[P2] "El diagrama de la derecha muestra nuestra Arquitectura Hexagonal. El hexágono azul central es </a:t>
            </a:r>
            <a:r>
              <a:rPr lang="es-ES" dirty="0" err="1"/>
              <a:t>NestJS</a:t>
            </a:r>
            <a:r>
              <a:rPr lang="es-ES" dirty="0"/>
              <a:t> — el orquestador que conecta todos los servicios sin que ninguno dependa directamente del otro." </a:t>
            </a:r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[P1] "La clave está en el Motor </a:t>
            </a:r>
            <a:r>
              <a:rPr lang="es-ES" dirty="0" err="1"/>
              <a:t>Solver</a:t>
            </a:r>
            <a:r>
              <a:rPr lang="es-ES" dirty="0"/>
              <a:t>: el hexágono naranja es Python con </a:t>
            </a:r>
            <a:r>
              <a:rPr lang="es-ES" dirty="0" err="1"/>
              <a:t>SciPy</a:t>
            </a:r>
            <a:r>
              <a:rPr lang="es-ES" dirty="0"/>
              <a:t> corriendo el algoritmo Simplex. Los modelos de lenguaje como </a:t>
            </a:r>
            <a:r>
              <a:rPr lang="es-ES" dirty="0" err="1"/>
              <a:t>ChatGPT</a:t>
            </a:r>
            <a:r>
              <a:rPr lang="es-ES" dirty="0"/>
              <a:t> alucinan, lo cual sería mortal en nutrición animal. Por eso </a:t>
            </a:r>
            <a:r>
              <a:rPr lang="es-ES" dirty="0" err="1"/>
              <a:t>LangChain</a:t>
            </a:r>
            <a:r>
              <a:rPr lang="es-ES" dirty="0"/>
              <a:t> — el morado — solo entiende al ganadero y traduce su pregunta, pero el número de la ración SIEMPRE lo calcula el Simplex determinista." </a:t>
            </a:r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[P3] "Y el hexágono verde es el </a:t>
            </a:r>
            <a:r>
              <a:rPr lang="es-ES" dirty="0" err="1"/>
              <a:t>Guardrail</a:t>
            </a:r>
            <a:r>
              <a:rPr lang="es-ES" dirty="0"/>
              <a:t> NRC: antes de entregar cualquier resultado, el sistema verifica que todas las restricciones nutricionales del </a:t>
            </a:r>
            <a:r>
              <a:rPr lang="es-ES" dirty="0" err="1"/>
              <a:t>National</a:t>
            </a:r>
            <a:r>
              <a:rPr lang="es-ES" dirty="0"/>
              <a:t> </a:t>
            </a:r>
            <a:r>
              <a:rPr lang="es-ES" dirty="0" err="1"/>
              <a:t>Research</a:t>
            </a:r>
            <a:r>
              <a:rPr lang="es-ES" dirty="0"/>
              <a:t> Council estén cumplidas. Si no se cumplen, el resultado se bloquea. Cero riesgos biológicos." ⏱ ~1:30 min.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66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CCF5-EBB0-72AF-A567-90AD28B3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F680A-1BC1-D759-EB87-3D89F1608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123C0-7DF8-F359-B9FA-BCB03F42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[P3] "Llegó el momento de ver la herramienta en acción. El diagrama muestra los tres módulos integrados del prototipo."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[P1] "El Módulo 1 — Gestión Operativa — permite al productor registrar digitalmente cada lote y el peso de su ganado desde el celular, sin papel. Con esa información el sistema establece el punto de partida para la optimización."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[P2] "El Módulo 2 — Optimización Dinámica — es el corazón del proyecto: en cuanto el usuario actualiza el precio del maíz, el </a:t>
            </a:r>
            <a:r>
              <a:rPr lang="es-ES" dirty="0" err="1"/>
              <a:t>Solver</a:t>
            </a:r>
            <a:r>
              <a:rPr lang="es-ES" dirty="0"/>
              <a:t> Simplex recalcula en menos de 5 minutos la dieta más económica posible, sin comprometer la nutrición."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[P3] "Y el Módulo 3 — </a:t>
            </a:r>
            <a:r>
              <a:rPr lang="es-ES" dirty="0" err="1"/>
              <a:t>Decision</a:t>
            </a:r>
            <a:r>
              <a:rPr lang="es-ES" dirty="0"/>
              <a:t> </a:t>
            </a:r>
            <a:r>
              <a:rPr lang="es-ES" dirty="0" err="1"/>
              <a:t>Copilot</a:t>
            </a:r>
            <a:r>
              <a:rPr lang="es-ES" dirty="0"/>
              <a:t> — permite al ganadero hacer preguntas en español. El sistema responde únicamente con citas del corpus NRC verificadas. Nunca inventa nada. (Aquí mostrar demo en vivo o video del </a:t>
            </a:r>
            <a:r>
              <a:rPr lang="es-ES" dirty="0" err="1"/>
              <a:t>dashboard</a:t>
            </a:r>
            <a:r>
              <a:rPr lang="es-ES" dirty="0"/>
              <a:t> en pantalla.)"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⏱ ~1:30 min.</a:t>
            </a:r>
          </a:p>
        </p:txBody>
      </p:sp>
    </p:spTree>
    <p:extLst>
      <p:ext uri="{BB962C8B-B14F-4D97-AF65-F5344CB8AC3E}">
        <p14:creationId xmlns:p14="http://schemas.microsoft.com/office/powerpoint/2010/main" val="658142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someter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nuestra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propuesta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rigor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diseñamos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experimento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backtesting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90 días: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inyectamos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datos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históricos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reales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inflación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granos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México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simulamos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habría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respondido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Caporal AI versus 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sigue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práctica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empírica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tradicional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"Los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KPIs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críticos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tarjetas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superiores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gráfico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resumen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resultado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El primero: cero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violaciones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restricciones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nutricionales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NRC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escenarios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solución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es 100%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segundo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92% de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respuestas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chatbot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incluyen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verificables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nunca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alucina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recomendación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importante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la barra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azul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Caporal AI 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consistentemente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baja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gris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meses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simulados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confirma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reducción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5 al 10%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costo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Caporal AI 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económicamente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viable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mismo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tiempo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~1:30 min.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01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**Notas del Presentador:** *"En conclusión, Caporal AI trasciende el software de registro y se posiciona como una herramienta prescriptiva que cuida el bolsillo del ganadero. Hacia el futuro, el proyecto tiene un claro camino de escalabilidad: planeamos conectar el sistema a bolsas de valores agrícolas para actualizar precios en automático, y exploraremos tecnologías de Edge AI, permitiendo que el motor matemático corra en los celulares de las rancherías sin necesidad de internet. Muchas gracias por su atención, estamos a su disposición para cualquier pregunta."*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**Sugerencia Visual:** Iconos de escalabilidad: Una antena/nube (</a:t>
            </a:r>
            <a:r>
              <a:rPr lang="es-ES" dirty="0" err="1"/>
              <a:t>APIs</a:t>
            </a:r>
            <a:r>
              <a:rPr lang="es-ES" dirty="0"/>
              <a:t>), un celular (Edge AI) y un icono de granja (Expansión transversal).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### 💡 Reglas de Oro para la grabación (Según Clase S04):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1. **Practiquen para no exceder los 10 minutos cronometrados.**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2. **Repártanse equitativamente las diapositivas; todos deben hablar.**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3. **Usen OBS Studio o </a:t>
            </a:r>
            <a:r>
              <a:rPr lang="es-ES" dirty="0" err="1"/>
              <a:t>Teams</a:t>
            </a:r>
            <a:r>
              <a:rPr lang="es-ES" dirty="0"/>
              <a:t>/Zoom.** Compartan pantalla con sus **cámaras encendidas** en todo momento.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4. **NO LEAN.** El texto de la PPT es de apoyo; el guion es para que lo estudien, lo hagan suyo y lo expliquen con naturalidad. La rúbrica prohíbe terminantemente leer mecánicamente.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2400" b="1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----------------------------------------------------------------------------------------------------------------------------------------------------------------------------------------------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"En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conclusión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Caporal AI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trasciende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software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registro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posiciona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herramienta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prescriptiva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cuida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bolsillo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comprometer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salud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Logramos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parecían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incompatibles: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ahorrar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dinero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garantizar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seguridad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"Hacia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futuro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roadmap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diagrama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tiene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pasos claros: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conectar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bolsas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valores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agrícolas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precios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actualicen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automáticamente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;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llevar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motor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cómputo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dispositivo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productor con Edge AI para zonas sin internet;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aplicar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mismo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modelo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avicultura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porcicultura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"El motor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matemático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arquitectura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reutilizables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cualquier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especie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productiva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Caporal AI es,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esencia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plataforma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optimización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nutricional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IA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conversacional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Muchas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gracias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atención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disposición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cualquier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pregunta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~1:00 min. | 💡 Reglas de Oro (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recordatorio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): No leer,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cámaras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encendidas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≤10-15 min total.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90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918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9290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1191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46131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7120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</p:spTree>
    <p:extLst>
      <p:ext uri="{BB962C8B-B14F-4D97-AF65-F5344CB8AC3E}">
        <p14:creationId xmlns:p14="http://schemas.microsoft.com/office/powerpoint/2010/main" val="31284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43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760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3958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96026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1600200"/>
            <a:ext cx="2286000" cy="4525963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0" y="1600200"/>
            <a:ext cx="6705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6075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BC97BEC-C7C9-BB5A-EDED-E6B48E17A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8B997-67B0-4933-9FBB-5898B4B14D7F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226837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EDD3D3-4911-CC8B-0E6E-FF89BF9F9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90437-C89A-4F86-9C3F-53CCC0E1A127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74582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DF5D46B-2589-7EDF-AFAD-7DDDDDCF6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1BA16-5CD5-4455-9DF7-D747FE23BEF5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287863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5AFC6F-2B92-598C-8287-061F301E1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5FBE0-12FA-4CFC-AAA6-D2EDAB884E1A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2740097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7B3D36-2026-F622-1665-E8BF944FD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7D05E-C194-4444-9DF5-AC0AE221B558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4294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F1014E5-7389-C66D-8C47-27770068B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47615-10AE-444D-B1E7-A912194595CE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1485015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B02B5F6-47CF-CED2-DFDE-81809EB55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28B9C-6E99-449A-A6A2-304F7D45901C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539044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5ED577B-AD06-96A7-4170-B2ABAA62B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12A44-0F04-44F1-A23D-36773C77D453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22493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EB7059-6678-384A-3EA3-E570A4633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30367-E7DB-4CFB-AAB4-E67AEAA2CE09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476581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5D6EB88-23F4-7C56-0151-28106D521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D4719-C7F3-492E-9AF3-E4A51152EF88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485242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85599A-BD51-33BE-C6AA-F62466A86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16F08-8A41-4EFB-B343-851DEF99609A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426052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E6881766-938A-B164-D09B-DE7192D62A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957513"/>
            <a:ext cx="91440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>
                <a:sym typeface="Arial Narrow" panose="020B0606020202030204" pitchFamily="34" charset="0"/>
              </a:rPr>
              <a:t>Click to edit Master title style</a:t>
            </a:r>
          </a:p>
        </p:txBody>
      </p:sp>
      <p:pic>
        <p:nvPicPr>
          <p:cNvPr id="1027" name="Picture 2" descr="logoblanco.png">
            <a:extLst>
              <a:ext uri="{FF2B5EF4-FFF2-40B4-BE49-F238E27FC236}">
                <a16:creationId xmlns:a16="http://schemas.microsoft.com/office/drawing/2014/main" id="{C0555D94-5BA2-CB6D-9A52-D6CEE51EE0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8" y="3106738"/>
            <a:ext cx="122237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>
            <a:extLst>
              <a:ext uri="{FF2B5EF4-FFF2-40B4-BE49-F238E27FC236}">
                <a16:creationId xmlns:a16="http://schemas.microsoft.com/office/drawing/2014/main" id="{247157AE-0B66-F11B-BD37-7D2A304E2E32}"/>
              </a:ext>
            </a:extLst>
          </p:cNvPr>
          <p:cNvGrpSpPr>
            <a:grpSpLocks/>
          </p:cNvGrpSpPr>
          <p:nvPr/>
        </p:nvGrpSpPr>
        <p:grpSpPr bwMode="auto">
          <a:xfrm>
            <a:off x="0" y="6402388"/>
            <a:ext cx="9150350" cy="463550"/>
            <a:chOff x="0" y="0"/>
            <a:chExt cx="9151698" cy="464252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BF2EC0A8-9E77-8D10-7AB9-380BB9EA9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>
                <a:defRPr/>
              </a:pPr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75650778-FC80-1134-391A-618214F1E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12314C-BED9-1005-C0E6-EC2FD1177F9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 w="12700" cap="flat" cmpd="sng">
            <a:noFill/>
            <a:prstDash val="solid"/>
            <a:miter lim="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2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442075F-3417-4FC6-BF5C-9CF38CC98857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  <p:pic>
        <p:nvPicPr>
          <p:cNvPr id="2052" name="Picture 3">
            <a:extLst>
              <a:ext uri="{FF2B5EF4-FFF2-40B4-BE49-F238E27FC236}">
                <a16:creationId xmlns:a16="http://schemas.microsoft.com/office/drawing/2014/main" id="{26000AC0-6AB3-DD55-8427-E2414EC45AE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402388"/>
            <a:ext cx="16732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366C0D6B-F09F-1A2B-C6F0-20B382F931C3}"/>
              </a:ext>
            </a:extLst>
          </p:cNvPr>
          <p:cNvSpPr>
            <a:spLocks/>
          </p:cNvSpPr>
          <p:nvPr/>
        </p:nvSpPr>
        <p:spPr bwMode="auto">
          <a:xfrm>
            <a:off x="0" y="5611813"/>
            <a:ext cx="9144000" cy="133350"/>
          </a:xfrm>
          <a:prstGeom prst="rect">
            <a:avLst/>
          </a:prstGeom>
          <a:solidFill>
            <a:srgbClr val="0098C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endParaRPr lang="es-ES" altLang="es-ES">
              <a:solidFill>
                <a:srgbClr val="0098CD"/>
              </a:solidFill>
            </a:endParaRP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BAC376B0-EA17-E59A-640A-2349995C3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400" y="228600"/>
            <a:ext cx="8988425" cy="495300"/>
          </a:xfrm>
        </p:spPr>
        <p:txBody>
          <a:bodyPr anchor="t"/>
          <a:lstStyle/>
          <a:p>
            <a:pPr eaLnBrk="1">
              <a:lnSpc>
                <a:spcPct val="70000"/>
              </a:lnSpc>
            </a:pPr>
            <a: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  <a:t>Sistema para Optimización Económica de Dietas Bovinas en Entornos de Datos Escaso (Caporal AI)</a:t>
            </a: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  <a:t>Trabajo de Innovación en IA</a:t>
            </a:r>
            <a:endParaRPr lang="es-ES_tradnl" altLang="es-ES" sz="1800" dirty="0">
              <a:solidFill>
                <a:srgbClr val="0098CD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7">
            <a:extLst>
              <a:ext uri="{FF2B5EF4-FFF2-40B4-BE49-F238E27FC236}">
                <a16:creationId xmlns:a16="http://schemas.microsoft.com/office/drawing/2014/main" id="{84A374D2-79C0-2E52-5A8C-124E7C92FE06}"/>
              </a:ext>
            </a:extLst>
          </p:cNvPr>
          <p:cNvSpPr>
            <a:spLocks/>
          </p:cNvSpPr>
          <p:nvPr/>
        </p:nvSpPr>
        <p:spPr bwMode="auto">
          <a:xfrm>
            <a:off x="-381000" y="4610100"/>
            <a:ext cx="89868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>
              <a:lnSpc>
                <a:spcPct val="70000"/>
              </a:lnSpc>
            </a:pPr>
            <a:r>
              <a:rPr lang="es-ES_tradnl" altLang="es-ES" sz="3000" dirty="0">
                <a:solidFill>
                  <a:srgbClr val="000000"/>
                </a:solidFill>
                <a:sym typeface="Arial Narrow" panose="020B0606020202030204" pitchFamily="34" charset="0"/>
              </a:rPr>
              <a:t>Caporal AI</a:t>
            </a:r>
          </a:p>
        </p:txBody>
      </p:sp>
      <p:sp>
        <p:nvSpPr>
          <p:cNvPr id="5125" name="Rectangle 8">
            <a:extLst>
              <a:ext uri="{FF2B5EF4-FFF2-40B4-BE49-F238E27FC236}">
                <a16:creationId xmlns:a16="http://schemas.microsoft.com/office/drawing/2014/main" id="{7117B49C-83B5-56BE-AAB6-E9C7815770E2}"/>
              </a:ext>
            </a:extLst>
          </p:cNvPr>
          <p:cNvSpPr>
            <a:spLocks/>
          </p:cNvSpPr>
          <p:nvPr/>
        </p:nvSpPr>
        <p:spPr bwMode="auto">
          <a:xfrm>
            <a:off x="554038" y="611188"/>
            <a:ext cx="52895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Juan Carlos Ávila Reséndiz</a:t>
            </a: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Axel Jonathan Trujillo Olvera</a:t>
            </a: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Leopoldo Edgardo Lara Hernández</a:t>
            </a:r>
          </a:p>
        </p:txBody>
      </p:sp>
      <p:pic>
        <p:nvPicPr>
          <p:cNvPr id="5126" name="Picture 1">
            <a:extLst>
              <a:ext uri="{FF2B5EF4-FFF2-40B4-BE49-F238E27FC236}">
                <a16:creationId xmlns:a16="http://schemas.microsoft.com/office/drawing/2014/main" id="{7FB584AD-D2A3-849D-C8B9-A34795A8D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949950"/>
            <a:ext cx="24971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2">
            <a:extLst>
              <a:ext uri="{FF2B5EF4-FFF2-40B4-BE49-F238E27FC236}">
                <a16:creationId xmlns:a16="http://schemas.microsoft.com/office/drawing/2014/main" id="{96F2F192-EB02-3366-3125-2CB42F2DB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6154738"/>
            <a:ext cx="3168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/>
            <a:r>
              <a:rPr lang="en-US" altLang="es-ES" sz="1300">
                <a:solidFill>
                  <a:srgbClr val="0098CD"/>
                </a:solidFill>
                <a:latin typeface="Unit"/>
              </a:rPr>
              <a:t>Universidad Internacional de La Rioja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842DF98-6135-1F83-FAD9-1F7EF32D5534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7A379EF5-15A7-4F6F-9825-4A9C31A036E5}" type="slidenum">
              <a:rPr lang="es-ES_tradnl" altLang="es-ES" sz="1200">
                <a:solidFill>
                  <a:srgbClr val="FFFFFF"/>
                </a:solidFill>
              </a:rPr>
              <a:pPr algn="r" eaLnBrk="1"/>
              <a:t>2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1C48B04-89CA-3A1B-F073-850D40D5327A}"/>
              </a:ext>
            </a:extLst>
          </p:cNvPr>
          <p:cNvSpPr>
            <a:spLocks/>
          </p:cNvSpPr>
          <p:nvPr/>
        </p:nvSpPr>
        <p:spPr bwMode="auto">
          <a:xfrm>
            <a:off x="419100" y="255588"/>
            <a:ext cx="5614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Índice</a:t>
            </a:r>
            <a:endParaRPr lang="es-ES_tradnl" altLang="es-ES">
              <a:solidFill>
                <a:srgbClr val="000000"/>
              </a:solidFill>
              <a:latin typeface="Arial " charset="0"/>
              <a:sym typeface="Arial Narrow" panose="020B0606020202030204" pitchFamily="34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56C6D0B-2929-F05F-7E34-166A8681F09B}"/>
              </a:ext>
            </a:extLst>
          </p:cNvPr>
          <p:cNvSpPr>
            <a:spLocks/>
          </p:cNvSpPr>
          <p:nvPr/>
        </p:nvSpPr>
        <p:spPr bwMode="auto">
          <a:xfrm>
            <a:off x="512763" y="1358900"/>
            <a:ext cx="7997825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373063" indent="-373063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Introducción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Objetivos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Evaluación 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Conclusiones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sz="2000">
              <a:solidFill>
                <a:srgbClr val="0098CD"/>
              </a:solidFill>
              <a:latin typeface="Arial " charset="0"/>
              <a:sym typeface="Arial Narrow" panose="020B0606020202030204" pitchFamily="34" charset="0"/>
            </a:endParaRPr>
          </a:p>
        </p:txBody>
      </p:sp>
      <p:sp>
        <p:nvSpPr>
          <p:cNvPr id="6149" name="Marcador de número de diapositiva 1">
            <a:extLst>
              <a:ext uri="{FF2B5EF4-FFF2-40B4-BE49-F238E27FC236}">
                <a16:creationId xmlns:a16="http://schemas.microsoft.com/office/drawing/2014/main" id="{2209AB4E-791B-2815-4E31-5EF859630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9332509-EC46-440F-8F41-D88258C67108}" type="slidenum">
              <a:rPr lang="es-ES_tradnl" altLang="es-ES">
                <a:solidFill>
                  <a:srgbClr val="FFFFFF"/>
                </a:solidFill>
              </a:rPr>
              <a:pPr/>
              <a:t>2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8783B260-C581-3FB2-CEC7-6918EBD32755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33C9D29-9B7C-4A28-A075-684355D77B2A}" type="slidenum">
              <a:rPr lang="es-ES_tradnl" altLang="es-ES" sz="1200" smtClean="0">
                <a:solidFill>
                  <a:srgbClr val="FFFFFF"/>
                </a:solidFill>
              </a:rPr>
              <a:pPr algn="r" eaLnBrk="1"/>
              <a:t>3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E833A89-B77F-6ADF-DD2F-C7AC1AF23C41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Introducción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8C598B4-17F0-77F7-6C3A-A63A316B2E7C}"/>
              </a:ext>
            </a:extLst>
          </p:cNvPr>
          <p:cNvSpPr>
            <a:spLocks/>
          </p:cNvSpPr>
          <p:nvPr/>
        </p:nvSpPr>
        <p:spPr bwMode="auto">
          <a:xfrm>
            <a:off x="114400" y="1074509"/>
            <a:ext cx="396044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El Problema: Volatilidad de precios en granos y acceso nulo a zootecnia de precisión para pequeños/medianos productores (50-500 cabezas).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La Solución: </a:t>
            </a:r>
            <a:r>
              <a:rPr lang="es-ES" altLang="es-ES" sz="2000" b="1" dirty="0">
                <a:sym typeface="Arial Narrow" panose="020B0606020202030204" pitchFamily="34" charset="0"/>
              </a:rPr>
              <a:t>Caporal AI </a:t>
            </a:r>
            <a:r>
              <a:rPr lang="es-ES" altLang="es-ES" sz="2000" dirty="0">
                <a:sym typeface="Arial Narrow" panose="020B0606020202030204" pitchFamily="34" charset="0"/>
              </a:rPr>
              <a:t>(Inteligencia Artificial Híbrida: Optimización + Lenguaje Natural).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sz="2000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Comparativa: Supera el registro pasivo (Ganadero SG) y la inaccesibilidad técnica/financiera (NDS).</a:t>
            </a:r>
            <a:endParaRPr lang="es-ES_tradnl" altLang="es-ES" sz="2000" dirty="0">
              <a:sym typeface="Arial Narrow" panose="020B0606020202030204" pitchFamily="34" charset="0"/>
            </a:endParaRPr>
          </a:p>
        </p:txBody>
      </p:sp>
      <p:sp>
        <p:nvSpPr>
          <p:cNvPr id="7173" name="Marcador de número de diapositiva 1">
            <a:extLst>
              <a:ext uri="{FF2B5EF4-FFF2-40B4-BE49-F238E27FC236}">
                <a16:creationId xmlns:a16="http://schemas.microsoft.com/office/drawing/2014/main" id="{A9F52ADC-FE3C-7E19-3F75-D7391C749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A261441-3D6B-4E99-BD9C-CD35B58EA5A0}" type="slidenum">
              <a:rPr lang="es-ES_tradnl" altLang="es-ES" smtClean="0">
                <a:solidFill>
                  <a:srgbClr val="FFFFFF"/>
                </a:solidFill>
              </a:rPr>
              <a:pPr/>
              <a:t>3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B5066-0517-43BA-14E1-EC7A74A3D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851" y="1469499"/>
            <a:ext cx="4898749" cy="39189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D592EB3-BD17-7F75-A47F-CFCA38BB57C6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764664F6-C129-4022-8AA1-B6904A510EF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4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BDB8CFE-A636-0A1C-AF67-58A7662840B6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Objetivos y Metodología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900D477-6580-7AEE-ADC7-95DCCC9BF8A0}"/>
              </a:ext>
            </a:extLst>
          </p:cNvPr>
          <p:cNvSpPr>
            <a:spLocks/>
          </p:cNvSpPr>
          <p:nvPr/>
        </p:nvSpPr>
        <p:spPr bwMode="auto">
          <a:xfrm>
            <a:off x="179512" y="1001713"/>
            <a:ext cx="878497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Objetivo Principal: Reducir costos operativos entre 5% y 10% manteniendo estándares biológicos NRC.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pt-BR" altLang="es-ES" dirty="0">
                <a:sym typeface="Arial Narrow" panose="020B0606020202030204" pitchFamily="34" charset="0"/>
              </a:rPr>
              <a:t>Objetivos Específicos: Motor matemático determinista (Simplex) e Interfaz de IA (RAG) en Arquitectura Hexagonal.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pt-BR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Metodología: Gestión con SCRUM (7 </a:t>
            </a:r>
            <a:r>
              <a:rPr lang="es-ES" altLang="es-ES" dirty="0" err="1">
                <a:sym typeface="Arial Narrow" panose="020B0606020202030204" pitchFamily="34" charset="0"/>
              </a:rPr>
              <a:t>Sprints</a:t>
            </a:r>
            <a:r>
              <a:rPr lang="es-ES" altLang="es-ES" dirty="0">
                <a:sym typeface="Arial Narrow" panose="020B0606020202030204" pitchFamily="34" charset="0"/>
              </a:rPr>
              <a:t>) y métricas LEAN Startup (Construir-Medir-Aprender).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sp>
        <p:nvSpPr>
          <p:cNvPr id="8197" name="Marcador de número de diapositiva 1">
            <a:extLst>
              <a:ext uri="{FF2B5EF4-FFF2-40B4-BE49-F238E27FC236}">
                <a16:creationId xmlns:a16="http://schemas.microsoft.com/office/drawing/2014/main" id="{9C845B5E-AE98-CC28-8628-AF21544B5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7A1708ED-1102-4D17-AF32-80B5C386E2B7}" type="slidenum">
              <a:rPr lang="es-ES_tradnl" altLang="es-ES">
                <a:solidFill>
                  <a:srgbClr val="FFFFFF"/>
                </a:solidFill>
              </a:rPr>
              <a:pPr/>
              <a:t>4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FFAC3-1002-1B9F-703E-97091B67C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42" b="90000" l="10000" r="90000">
                        <a14:foregroundMark x1="32262" y1="6974" x2="68095" y2="7763"/>
                        <a14:foregroundMark x1="33333" y1="4079" x2="46190" y2="7105"/>
                        <a14:foregroundMark x1="46190" y1="7105" x2="65476" y2="6184"/>
                        <a14:foregroundMark x1="63214" y1="4342" x2="57262" y2="5658"/>
                        <a14:foregroundMark x1="40476" y1="51184" x2="49762" y2="51842"/>
                        <a14:foregroundMark x1="49762" y1="51842" x2="52619" y2="58684"/>
                        <a14:foregroundMark x1="55238" y1="57763" x2="38452" y2="56711"/>
                        <a14:foregroundMark x1="43214" y1="52368" x2="55595" y2="523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762" y="3209594"/>
            <a:ext cx="4032448" cy="3648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20D28-9EFE-40A8-648A-E4B0FF31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475" y="3140968"/>
            <a:ext cx="2879748" cy="32185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14C79CC2-D63D-455C-8943-DC2C7ECDFB16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F1CC0D0-3C68-4580-9284-6730E02FF79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5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F1E56B4-0CAD-5873-72C6-E391A6323B22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Propuesta: Arquitectura</a:t>
            </a:r>
          </a:p>
          <a:p>
            <a:pPr eaLnBrk="1"/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9221" name="Marcador de número de diapositiva 1">
            <a:extLst>
              <a:ext uri="{FF2B5EF4-FFF2-40B4-BE49-F238E27FC236}">
                <a16:creationId xmlns:a16="http://schemas.microsoft.com/office/drawing/2014/main" id="{FD083962-6E9B-9AAF-46D7-A6F31681D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8686564-1021-4E50-A8CB-A563BA9F6AC5}" type="slidenum">
              <a:rPr lang="es-ES_tradnl" altLang="es-ES">
                <a:solidFill>
                  <a:srgbClr val="FFFFFF"/>
                </a:solidFill>
              </a:rPr>
              <a:pPr/>
              <a:t>5</a:t>
            </a:fld>
            <a:endParaRPr lang="es-ES_tradnl" altLang="es-ES">
              <a:solidFill>
                <a:srgbClr val="FFFFFF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B1E497-0344-A3DA-5DF2-3C52E981DEDC}"/>
              </a:ext>
            </a:extLst>
          </p:cNvPr>
          <p:cNvGrpSpPr/>
          <p:nvPr/>
        </p:nvGrpSpPr>
        <p:grpSpPr>
          <a:xfrm>
            <a:off x="1764506" y="1052736"/>
            <a:ext cx="5614987" cy="5212511"/>
            <a:chOff x="1397745" y="431855"/>
            <a:chExt cx="6342607" cy="5987827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28B43FE5-ABBE-FED4-2AE1-DF3D266BE4D7}"/>
                </a:ext>
              </a:extLst>
            </p:cNvPr>
            <p:cNvSpPr/>
            <p:nvPr/>
          </p:nvSpPr>
          <p:spPr bwMode="auto">
            <a:xfrm>
              <a:off x="3851921" y="2748594"/>
              <a:ext cx="1611860" cy="1360813"/>
            </a:xfrm>
            <a:prstGeom prst="hexagon">
              <a:avLst/>
            </a:prstGeom>
            <a:solidFill>
              <a:schemeClr val="accent6">
                <a:lumMod val="75000"/>
              </a:schemeClr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NestJS</a:t>
              </a:r>
              <a:endParaRPr kumimoji="0" lang="en-MX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MX" sz="1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Core API</a:t>
              </a: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8FB92EEA-12C3-2F33-D1BA-796EBC6BC20C}"/>
                </a:ext>
              </a:extLst>
            </p:cNvPr>
            <p:cNvSpPr/>
            <p:nvPr/>
          </p:nvSpPr>
          <p:spPr bwMode="auto">
            <a:xfrm>
              <a:off x="6300192" y="1616467"/>
              <a:ext cx="1440160" cy="1184612"/>
            </a:xfrm>
            <a:prstGeom prst="hexagon">
              <a:avLst/>
            </a:prstGeom>
            <a:solidFill>
              <a:srgbClr val="FFC000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Python</a:t>
              </a:r>
              <a:endParaRPr kumimoji="0" lang="en-MX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MX" sz="1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FastAPI</a:t>
              </a:r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D747DD3A-04B0-9EC4-7369-54365245D144}"/>
                </a:ext>
              </a:extLst>
            </p:cNvPr>
            <p:cNvSpPr/>
            <p:nvPr/>
          </p:nvSpPr>
          <p:spPr bwMode="auto">
            <a:xfrm>
              <a:off x="6300192" y="4021306"/>
              <a:ext cx="1440160" cy="1184612"/>
            </a:xfrm>
            <a:prstGeom prst="hexagon">
              <a:avLst/>
            </a:prstGeom>
            <a:solidFill>
              <a:srgbClr val="FFC000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Solver</a:t>
              </a:r>
              <a:endParaRPr kumimoji="0" lang="en-MX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MX" sz="14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SciPy HiGHS</a:t>
              </a:r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8D315B21-427B-B2F3-235D-1E93F1A283FC}"/>
                </a:ext>
              </a:extLst>
            </p:cNvPr>
            <p:cNvSpPr/>
            <p:nvPr/>
          </p:nvSpPr>
          <p:spPr bwMode="auto">
            <a:xfrm>
              <a:off x="3851921" y="5176767"/>
              <a:ext cx="1611860" cy="1242915"/>
            </a:xfrm>
            <a:prstGeom prst="hexagon">
              <a:avLst/>
            </a:prstGeom>
            <a:solidFill>
              <a:schemeClr val="tx1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Postgres</a:t>
              </a:r>
              <a:endParaRPr kumimoji="0" lang="en-MX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MX" sz="1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MX" sz="14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pgvector</a:t>
              </a:r>
              <a:endParaRPr kumimoji="0" lang="en-MX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C2953BA8-24B3-B2AD-BD76-B6890D1AF22A}"/>
                </a:ext>
              </a:extLst>
            </p:cNvPr>
            <p:cNvSpPr/>
            <p:nvPr/>
          </p:nvSpPr>
          <p:spPr bwMode="auto">
            <a:xfrm>
              <a:off x="1397745" y="4021306"/>
              <a:ext cx="1440160" cy="1184612"/>
            </a:xfrm>
            <a:prstGeom prst="hexagon">
              <a:avLst/>
            </a:prstGeom>
            <a:solidFill>
              <a:srgbClr val="7030A0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RAG</a:t>
              </a:r>
              <a:endParaRPr lang="en-MX" sz="1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MX" sz="1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Agentic</a:t>
              </a:r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2CF2EEDD-7E1A-AFE4-9EE3-0F3060078EF1}"/>
                </a:ext>
              </a:extLst>
            </p:cNvPr>
            <p:cNvSpPr/>
            <p:nvPr/>
          </p:nvSpPr>
          <p:spPr bwMode="auto">
            <a:xfrm>
              <a:off x="1397745" y="1616467"/>
              <a:ext cx="1440160" cy="1184612"/>
            </a:xfrm>
            <a:prstGeom prst="hexagon">
              <a:avLst/>
            </a:prstGeom>
            <a:solidFill>
              <a:srgbClr val="00B050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Guard</a:t>
              </a: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MX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Rails</a:t>
              </a:r>
              <a:endParaRPr lang="en-MX" sz="12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12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NCR</a:t>
              </a: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84A6811A-4C57-2C46-99A2-90385F222672}"/>
                </a:ext>
              </a:extLst>
            </p:cNvPr>
            <p:cNvSpPr/>
            <p:nvPr/>
          </p:nvSpPr>
          <p:spPr bwMode="auto">
            <a:xfrm>
              <a:off x="3851920" y="431855"/>
              <a:ext cx="1440160" cy="1184612"/>
            </a:xfrm>
            <a:prstGeom prst="hexagon">
              <a:avLst/>
            </a:prstGeom>
            <a:solidFill>
              <a:schemeClr val="accent2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MX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Arial" charset="0"/>
                  <a:cs typeface="Arial" charset="0"/>
                  <a:sym typeface="Arial" charset="0"/>
                </a:rPr>
                <a:t>React</a:t>
              </a:r>
              <a:endParaRPr kumimoji="0" lang="en-MX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MX" sz="1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  <a:p>
              <a:pPr marL="0" marR="0" indent="0" algn="ctr" defTabSz="457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MX" sz="14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rPr>
                <a:t>Front-end</a:t>
              </a:r>
              <a:endParaRPr kumimoji="0" lang="en-MX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A7D72D1F-49ED-8742-0A38-0BC6ABD11A6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 bwMode="auto">
            <a:xfrm flipV="1">
              <a:off x="2837905" y="3429000"/>
              <a:ext cx="1014015" cy="1184612"/>
            </a:xfrm>
            <a:prstGeom prst="bentConnector3">
              <a:avLst>
                <a:gd name="adj1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EBF8FDF9-49FF-E647-913F-9241728F273A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 bwMode="auto">
            <a:xfrm rot="10800000" flipV="1">
              <a:off x="5463781" y="2208773"/>
              <a:ext cx="836412" cy="1220227"/>
            </a:xfrm>
            <a:prstGeom prst="bentConnector3">
              <a:avLst>
                <a:gd name="adj1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B668D5F1-7118-CDFD-F2ED-E63B662CDE8A}"/>
                </a:ext>
              </a:extLst>
            </p:cNvPr>
            <p:cNvCxnSpPr>
              <a:cxnSpLocks/>
              <a:stCxn id="7" idx="0"/>
              <a:endCxn id="9" idx="3"/>
            </p:cNvCxnSpPr>
            <p:nvPr/>
          </p:nvCxnSpPr>
          <p:spPr bwMode="auto">
            <a:xfrm>
              <a:off x="5463780" y="3429000"/>
              <a:ext cx="836412" cy="1184612"/>
            </a:xfrm>
            <a:prstGeom prst="bentConnector3">
              <a:avLst>
                <a:gd name="adj1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3BA52FC0-25F9-9B39-C87A-ED7A8ADB879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99792" y="2492896"/>
              <a:ext cx="1152128" cy="936104"/>
            </a:xfrm>
            <a:prstGeom prst="bentConnector3">
              <a:avLst>
                <a:gd name="adj1" fmla="val 51005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2D79C25F-B388-768B-CB13-70A6DF6225B6}"/>
                </a:ext>
              </a:extLst>
            </p:cNvPr>
            <p:cNvCxnSpPr>
              <a:cxnSpLocks/>
              <a:stCxn id="7" idx="1"/>
              <a:endCxn id="10" idx="4"/>
            </p:cNvCxnSpPr>
            <p:nvPr/>
          </p:nvCxnSpPr>
          <p:spPr bwMode="auto">
            <a:xfrm rot="5400000">
              <a:off x="4109679" y="4157196"/>
              <a:ext cx="1067360" cy="971782"/>
            </a:xfrm>
            <a:prstGeom prst="bentConnector3">
              <a:avLst>
                <a:gd name="adj1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9A3AC21F-588A-D635-7672-8740C5EFAAEA}"/>
                </a:ext>
              </a:extLst>
            </p:cNvPr>
            <p:cNvCxnSpPr>
              <a:cxnSpLocks/>
              <a:stCxn id="7" idx="4"/>
              <a:endCxn id="13" idx="1"/>
            </p:cNvCxnSpPr>
            <p:nvPr/>
          </p:nvCxnSpPr>
          <p:spPr bwMode="auto">
            <a:xfrm rot="5400000" flipH="1" flipV="1">
              <a:off x="4027595" y="1775323"/>
              <a:ext cx="1132127" cy="814416"/>
            </a:xfrm>
            <a:prstGeom prst="bentConnector3">
              <a:avLst>
                <a:gd name="adj1" fmla="val 50000"/>
              </a:avLst>
            </a:prstGeom>
            <a:solidFill>
              <a:srgbClr val="FFFFFF"/>
            </a:solidFill>
            <a:ln w="25400" cap="flat" cmpd="sng" algn="ctr">
              <a:solidFill>
                <a:srgbClr val="0F7EC5"/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823D-9EFD-17A8-7B62-8BDE1F74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31B94F6F-6025-06CD-D297-863FA6B4A24C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F1CC0D0-3C68-4580-9284-6730E02FF79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6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D0C3D4C-9048-B100-4128-858CBA5488E6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Propuesta: El Prototipo Funcional (Demo)</a:t>
            </a:r>
          </a:p>
          <a:p>
            <a:pPr eaLnBrk="1"/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A33DF00-74EC-E790-DA34-A3F061E4F983}"/>
              </a:ext>
            </a:extLst>
          </p:cNvPr>
          <p:cNvSpPr>
            <a:spLocks/>
          </p:cNvSpPr>
          <p:nvPr/>
        </p:nvSpPr>
        <p:spPr bwMode="auto">
          <a:xfrm>
            <a:off x="6041603" y="303213"/>
            <a:ext cx="367240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Gestión Operativa.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Optimización Dinámica.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 err="1">
                <a:sym typeface="Arial Narrow" panose="020B0606020202030204" pitchFamily="34" charset="0"/>
              </a:rPr>
              <a:t>Decision</a:t>
            </a:r>
            <a:r>
              <a:rPr lang="es-ES" altLang="es-ES" sz="2000" dirty="0">
                <a:sym typeface="Arial Narrow" panose="020B0606020202030204" pitchFamily="34" charset="0"/>
              </a:rPr>
              <a:t> </a:t>
            </a:r>
            <a:r>
              <a:rPr lang="es-ES" altLang="es-ES" sz="2000" dirty="0" err="1">
                <a:sym typeface="Arial Narrow" panose="020B0606020202030204" pitchFamily="34" charset="0"/>
              </a:rPr>
              <a:t>Copilot</a:t>
            </a:r>
            <a:r>
              <a:rPr lang="es-ES" altLang="es-ES" sz="2000" dirty="0">
                <a:sym typeface="Arial Narrow" panose="020B0606020202030204" pitchFamily="34" charset="0"/>
              </a:rPr>
              <a:t>.</a:t>
            </a:r>
          </a:p>
        </p:txBody>
      </p:sp>
      <p:sp>
        <p:nvSpPr>
          <p:cNvPr id="9221" name="Marcador de número de diapositiva 1">
            <a:extLst>
              <a:ext uri="{FF2B5EF4-FFF2-40B4-BE49-F238E27FC236}">
                <a16:creationId xmlns:a16="http://schemas.microsoft.com/office/drawing/2014/main" id="{4B880D82-4790-3E2F-5932-517ADD6DA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8686564-1021-4E50-A8CB-A563BA9F6AC5}" type="slidenum">
              <a:rPr lang="es-ES_tradnl" altLang="es-ES">
                <a:solidFill>
                  <a:srgbClr val="FFFFFF"/>
                </a:solidFill>
              </a:rPr>
              <a:pPr/>
              <a:t>6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7E8E1-A1C5-6ABC-6456-FD1B59166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642040"/>
            <a:ext cx="8434710" cy="473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99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14613F77-12BD-D1A4-94F5-8C067DAC4CBB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017084D-3020-44DA-8389-0AAB1CAD9096}" type="slidenum">
              <a:rPr lang="es-ES_tradnl" altLang="es-ES" sz="1200">
                <a:solidFill>
                  <a:srgbClr val="FFFFFF"/>
                </a:solidFill>
              </a:rPr>
              <a:pPr algn="r" eaLnBrk="1"/>
              <a:t>7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59988DB-B1CE-192C-D42E-B68B17258A7D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Evaluación y Validación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7970A69-9BE3-7DF5-BD54-75B3BBDB593F}"/>
              </a:ext>
            </a:extLst>
          </p:cNvPr>
          <p:cNvSpPr>
            <a:spLocks/>
          </p:cNvSpPr>
          <p:nvPr/>
        </p:nvSpPr>
        <p:spPr bwMode="auto">
          <a:xfrm>
            <a:off x="49064" y="764704"/>
            <a:ext cx="324036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 err="1">
                <a:sym typeface="Arial Narrow" panose="020B0606020202030204" pitchFamily="34" charset="0"/>
              </a:rPr>
              <a:t>Backtesting</a:t>
            </a:r>
            <a:r>
              <a:rPr lang="es-ES" altLang="es-ES" dirty="0">
                <a:sym typeface="Arial Narrow" panose="020B0606020202030204" pitchFamily="34" charset="0"/>
              </a:rPr>
              <a:t> Histórico: Simulación retrospectiva a 90 días con inyección de volatilidad de precios.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Validación Biológica (KPI-3): 0.00 violaciones nutricionales (Restricciones NRC cumplidas).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Calidad de la IA (KPI-1 y 2): &gt;92% de respuestas técnicas con citas verificables (Cero alucinaciones operativas).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Éxito Económico (KPI-7): Reducción de costos consistente vs. la dieta empírica tradicional.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sp>
        <p:nvSpPr>
          <p:cNvPr id="10245" name="Marcador de número de diapositiva 1">
            <a:extLst>
              <a:ext uri="{FF2B5EF4-FFF2-40B4-BE49-F238E27FC236}">
                <a16:creationId xmlns:a16="http://schemas.microsoft.com/office/drawing/2014/main" id="{A2BF9D9B-E8F8-A56A-8561-8177AA0F6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F944D2F-E8F5-42B9-B702-7664187F24A0}" type="slidenum">
              <a:rPr lang="es-ES_tradnl" altLang="es-ES">
                <a:solidFill>
                  <a:srgbClr val="FFFFFF"/>
                </a:solidFill>
              </a:rPr>
              <a:pPr/>
              <a:t>7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A2393-09A2-0A67-B212-BF066F66A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79" y="1066021"/>
            <a:ext cx="5493550" cy="162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8296DA-9358-7FD1-08F9-9324E0ADD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301" y="3140968"/>
            <a:ext cx="5807182" cy="28156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65CAF80F-7CEF-BDE5-A349-FA552D9C2FBE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189C0FAF-C6A9-43A3-ABCD-39CEB2A3AE46}" type="slidenum">
              <a:rPr lang="es-ES_tradnl" altLang="es-ES" sz="1200">
                <a:solidFill>
                  <a:srgbClr val="FFFFFF"/>
                </a:solidFill>
              </a:rPr>
              <a:pPr algn="r" eaLnBrk="1"/>
              <a:t>8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640C20A-2BCC-AC52-EB3A-ADD8E5044CC7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Conclusiones</a:t>
            </a:r>
            <a:endParaRPr lang="es-ES_tradnl" altLang="es-ES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01AFA42-54E7-6F3E-ED09-85C368D8D462}"/>
              </a:ext>
            </a:extLst>
          </p:cNvPr>
          <p:cNvSpPr>
            <a:spLocks/>
          </p:cNvSpPr>
          <p:nvPr/>
        </p:nvSpPr>
        <p:spPr bwMode="auto">
          <a:xfrm>
            <a:off x="107504" y="980728"/>
            <a:ext cx="346323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Problema Resuelto: Democratización de la optimización matemática para el pequeño productor.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Precisión Científica: El cálculo determinista elimina el riesgo de la IA Generativa.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</p:txBody>
      </p:sp>
      <p:sp>
        <p:nvSpPr>
          <p:cNvPr id="11269" name="Marcador de número de diapositiva 1">
            <a:extLst>
              <a:ext uri="{FF2B5EF4-FFF2-40B4-BE49-F238E27FC236}">
                <a16:creationId xmlns:a16="http://schemas.microsoft.com/office/drawing/2014/main" id="{E1F8AEA2-71E9-584C-19AC-46BF9E470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631B08D-D42A-4FD6-9899-6E113286B163}" type="slidenum">
              <a:rPr lang="es-ES_tradnl" altLang="es-ES">
                <a:solidFill>
                  <a:srgbClr val="FFFFFF"/>
                </a:solidFill>
              </a:rPr>
              <a:pPr/>
              <a:t>8</a:t>
            </a:fld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C4D07-FEA3-549A-41B4-992A184EBB6B}"/>
              </a:ext>
            </a:extLst>
          </p:cNvPr>
          <p:cNvSpPr txBox="1"/>
          <p:nvPr/>
        </p:nvSpPr>
        <p:spPr>
          <a:xfrm>
            <a:off x="3848200" y="980728"/>
            <a:ext cx="53136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>
              <a:buClr>
                <a:srgbClr val="0098CD"/>
              </a:buClr>
              <a:buSzPct val="50000"/>
            </a:pPr>
            <a:r>
              <a:rPr lang="es-ES_tradnl" altLang="es-ES" dirty="0">
                <a:sym typeface="Arial Narrow" panose="020B0606020202030204" pitchFamily="34" charset="0"/>
              </a:rPr>
              <a:t>Trabajo Futuro: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Integración vía API con bolsas agrícolas.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dirty="0">
                <a:sym typeface="Arial Narrow" panose="020B0606020202030204" pitchFamily="34" charset="0"/>
              </a:rPr>
              <a:t>Edge AI (Modelos SLM para operar sin internet).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Expansión transversal a avicultura y porcicultura.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AB512-F6F0-A2B9-2C55-76310D77C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924944"/>
            <a:ext cx="7956376" cy="34098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316E149-CA04-A8E0-3EB5-20D8FD9D6D7E}"/>
              </a:ext>
            </a:extLst>
          </p:cNvPr>
          <p:cNvSpPr>
            <a:spLocks/>
          </p:cNvSpPr>
          <p:nvPr/>
        </p:nvSpPr>
        <p:spPr bwMode="auto">
          <a:xfrm>
            <a:off x="3922713" y="5881688"/>
            <a:ext cx="17049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non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200">
                <a:solidFill>
                  <a:srgbClr val="989898"/>
                </a:solidFill>
                <a:sym typeface="Arial Narrow" panose="020B0606020202030204" pitchFamily="34" charset="0"/>
              </a:rPr>
              <a:t>www.unir.net</a:t>
            </a:r>
            <a:endParaRPr lang="es-ES_tradnl" altLang="es-ES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pic>
        <p:nvPicPr>
          <p:cNvPr id="12291" name="Picture 1">
            <a:extLst>
              <a:ext uri="{FF2B5EF4-FFF2-40B4-BE49-F238E27FC236}">
                <a16:creationId xmlns:a16="http://schemas.microsoft.com/office/drawing/2014/main" id="{BA26861D-58FD-AC8E-AB9D-D06EF6EEF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484313"/>
            <a:ext cx="4454525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Default - 1_Quote slide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 - 1_Quote slide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000000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13" ma:contentTypeDescription="Crear nuevo documento." ma:contentTypeScope="" ma:versionID="feff0f29e077e72dd6fa6953df5d7371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9b4256d1cddb2683194a131f56fe33cb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4FDB34-1A9E-4DB8-B4E4-60C039870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D16EB9-01B6-4776-9665-B804093F677B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10B1355A-36E7-4AD5-952F-CBF38F156E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1764</Words>
  <Application>Microsoft Macintosh PowerPoint</Application>
  <PresentationFormat>On-screen Show (4:3)</PresentationFormat>
  <Paragraphs>127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</vt:lpstr>
      <vt:lpstr>Arial Narrow</vt:lpstr>
      <vt:lpstr>Avenir</vt:lpstr>
      <vt:lpstr>Unit</vt:lpstr>
      <vt:lpstr>Default</vt:lpstr>
      <vt:lpstr>Default - 1_Quote slide</vt:lpstr>
      <vt:lpstr>Sistema para Optimización Económica de Dietas Bovinas en Entornos de Datos Escaso (Caporal AI)     Trabajo de Innovación en 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asignatura</dc:title>
  <dc:creator>María Gómez Espinosa</dc:creator>
  <cp:lastModifiedBy>juan carlos avila resendiz</cp:lastModifiedBy>
  <cp:revision>23</cp:revision>
  <dcterms:modified xsi:type="dcterms:W3CDTF">2026-04-12T19:21:33Z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SharedWithUsers">
    <vt:lpwstr>Montserrat Boix Teruel;Cristina Jiménez Hernández</vt:lpwstr>
  </property>
  <property fmtid="{D5CDD505-2E9C-101B-9397-08002B2CF9AE}" pid="3" name="SharedWithUsers">
    <vt:lpwstr>1683;#Montserrat Boix Teruel;#2148;#Cristina Jiménez Hernández</vt:lpwstr>
  </property>
</Properties>
</file>