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100000" strictFirstAndLastChars="0" saveSubsetFonts="1" autoCompressPictures="0">
  <p:sldMasterIdLst>
    <p:sldMasterId id="2147483648" r:id="rId4"/>
    <p:sldMasterId id="2147483649" r:id="rId5"/>
  </p:sldMasterIdLst>
  <p:notesMasterIdLst>
    <p:notesMasterId r:id="rId15"/>
  </p:notesMasterIdLst>
  <p:handoutMasterIdLst>
    <p:handoutMasterId r:id="rId16"/>
  </p:handoutMasterIdLst>
  <p:sldIdLst>
    <p:sldId id="256" r:id="rId6"/>
    <p:sldId id="257" r:id="rId7"/>
    <p:sldId id="258" r:id="rId8"/>
    <p:sldId id="261" r:id="rId9"/>
    <p:sldId id="262" r:id="rId10"/>
    <p:sldId id="265" r:id="rId11"/>
    <p:sldId id="263" r:id="rId12"/>
    <p:sldId id="264" r:id="rId13"/>
    <p:sldId id="260" r:id="rId14"/>
  </p:sldIdLst>
  <p:sldSz cx="9144000" cy="6858000" type="screen4x3"/>
  <p:notesSz cx="6858000" cy="9144000"/>
  <p:defaultTextStyle>
    <a:defPPr>
      <a:defRPr lang="es-ES_tradnl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rgbClr val="535353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rgbClr val="535353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rgbClr val="535353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rgbClr val="535353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rgbClr val="535353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rgbClr val="535353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rgbClr val="535353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rgbClr val="535353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rgbClr val="535353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42"/>
    <p:restoredTop sz="83145" autoAdjust="0"/>
  </p:normalViewPr>
  <p:slideViewPr>
    <p:cSldViewPr>
      <p:cViewPr varScale="1">
        <p:scale>
          <a:sx n="128" d="100"/>
          <a:sy n="128" d="100"/>
        </p:scale>
        <p:origin x="540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3A0850F-5E31-7B7D-F2EB-ED79C3FFC1A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>
              <a:defRPr sz="1200"/>
            </a:lvl1pPr>
          </a:lstStyle>
          <a:p>
            <a:pPr>
              <a:defRPr/>
            </a:pPr>
            <a:endParaRPr lang="en-US" alt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CE2A16-49F1-EF3B-AA94-C68E0769F7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>
              <a:defRPr sz="1200"/>
            </a:lvl1pPr>
          </a:lstStyle>
          <a:p>
            <a:pPr>
              <a:defRPr/>
            </a:pPr>
            <a:fld id="{4F08F45D-03D4-4A96-815B-6B02B79F362B}" type="datetimeFigureOut">
              <a:rPr lang="en-US" altLang="es-ES"/>
              <a:pPr>
                <a:defRPr/>
              </a:pPr>
              <a:t>4/11/26</a:t>
            </a:fld>
            <a:endParaRPr lang="en-US" alt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5A1A3F-3D5E-D1F9-EA12-CF29B37CAC8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>
              <a:defRPr sz="1200"/>
            </a:lvl1pPr>
          </a:lstStyle>
          <a:p>
            <a:pPr>
              <a:defRPr/>
            </a:pPr>
            <a:endParaRPr lang="en-US" alt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577E62-94A0-DAB9-4A7C-F2B877B352F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>
              <a:defRPr sz="1200" smtClean="0"/>
            </a:lvl1pPr>
          </a:lstStyle>
          <a:p>
            <a:pPr>
              <a:defRPr/>
            </a:pPr>
            <a:fld id="{8333745D-3D85-42D7-B480-34A98251EE3F}" type="slidenum">
              <a:rPr lang="en-US" altLang="es-ES"/>
              <a:pPr>
                <a:defRPr/>
              </a:pPr>
              <a:t>‹#›</a:t>
            </a:fld>
            <a:endParaRPr lang="en-US" altLang="es-E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">
            <a:extLst>
              <a:ext uri="{FF2B5EF4-FFF2-40B4-BE49-F238E27FC236}">
                <a16:creationId xmlns:a16="http://schemas.microsoft.com/office/drawing/2014/main" id="{C8E90E0F-BD66-2851-6981-C0DCEAD43D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  <a:headEnd/>
                <a:tailEnd/>
              </a14:hiddenLine>
            </a:ext>
          </a:extLst>
        </p:spPr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BB537F3-B2BF-3A66-26C4-144CE90F0090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 cap="flat" cmpd="sng">
            <a:noFill/>
            <a:prstDash val="solid"/>
            <a:bevel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x-none" noProof="0">
                <a:sym typeface="Avenir Roman" charset="0"/>
              </a:rPr>
              <a:t>Click to edit Master text styles</a:t>
            </a:r>
          </a:p>
          <a:p>
            <a:pPr lvl="1"/>
            <a:r>
              <a:rPr lang="es-ES_tradnl" altLang="x-none" noProof="0">
                <a:sym typeface="Avenir Roman" charset="0"/>
              </a:rPr>
              <a:t>Second level</a:t>
            </a:r>
          </a:p>
          <a:p>
            <a:pPr lvl="2"/>
            <a:r>
              <a:rPr lang="es-ES_tradnl" altLang="x-none" noProof="0">
                <a:sym typeface="Avenir Roman" charset="0"/>
              </a:rPr>
              <a:t>Third level</a:t>
            </a:r>
          </a:p>
          <a:p>
            <a:pPr lvl="3"/>
            <a:r>
              <a:rPr lang="es-ES_tradnl" altLang="x-none" noProof="0">
                <a:sym typeface="Avenir Roman" charset="0"/>
              </a:rPr>
              <a:t>Fourth level</a:t>
            </a:r>
          </a:p>
          <a:p>
            <a:pPr lvl="4"/>
            <a:r>
              <a:rPr lang="es-ES_tradnl" altLang="x-none" noProof="0">
                <a:sym typeface="Avenir Roman" charset="0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lnSpc>
        <a:spcPct val="125000"/>
      </a:lnSpc>
      <a:spcBef>
        <a:spcPct val="0"/>
      </a:spcBef>
      <a:spcAft>
        <a:spcPct val="0"/>
      </a:spcAft>
      <a:defRPr sz="2400" kern="1200">
        <a:solidFill>
          <a:srgbClr val="000000"/>
        </a:solidFill>
        <a:latin typeface="Avenir" charset="0"/>
        <a:ea typeface="Avenir" charset="0"/>
        <a:cs typeface="Avenir" charset="0"/>
        <a:sym typeface="Avenir Roman" charset="0"/>
      </a:defRPr>
    </a:lvl1pPr>
    <a:lvl2pPr indent="228600" algn="l" defTabSz="457200" rtl="0" eaLnBrk="0" fontAlgn="base" hangingPunct="0">
      <a:lnSpc>
        <a:spcPct val="125000"/>
      </a:lnSpc>
      <a:spcBef>
        <a:spcPct val="0"/>
      </a:spcBef>
      <a:spcAft>
        <a:spcPct val="0"/>
      </a:spcAft>
      <a:defRPr sz="2400" kern="1200">
        <a:solidFill>
          <a:srgbClr val="000000"/>
        </a:solidFill>
        <a:latin typeface="Avenir" charset="0"/>
        <a:ea typeface="Avenir" charset="0"/>
        <a:cs typeface="Avenir" charset="0"/>
        <a:sym typeface="Avenir Roman" charset="0"/>
      </a:defRPr>
    </a:lvl2pPr>
    <a:lvl3pPr indent="457200" algn="l" defTabSz="457200" rtl="0" eaLnBrk="0" fontAlgn="base" hangingPunct="0">
      <a:lnSpc>
        <a:spcPct val="125000"/>
      </a:lnSpc>
      <a:spcBef>
        <a:spcPct val="0"/>
      </a:spcBef>
      <a:spcAft>
        <a:spcPct val="0"/>
      </a:spcAft>
      <a:defRPr sz="2400" kern="1200">
        <a:solidFill>
          <a:srgbClr val="000000"/>
        </a:solidFill>
        <a:latin typeface="Avenir" charset="0"/>
        <a:ea typeface="Avenir" charset="0"/>
        <a:cs typeface="Avenir" charset="0"/>
        <a:sym typeface="Avenir Roman" charset="0"/>
      </a:defRPr>
    </a:lvl3pPr>
    <a:lvl4pPr indent="685800" algn="l" defTabSz="457200" rtl="0" eaLnBrk="0" fontAlgn="base" hangingPunct="0">
      <a:lnSpc>
        <a:spcPct val="125000"/>
      </a:lnSpc>
      <a:spcBef>
        <a:spcPct val="0"/>
      </a:spcBef>
      <a:spcAft>
        <a:spcPct val="0"/>
      </a:spcAft>
      <a:defRPr sz="2400" kern="1200">
        <a:solidFill>
          <a:srgbClr val="000000"/>
        </a:solidFill>
        <a:latin typeface="Avenir" charset="0"/>
        <a:ea typeface="Avenir" charset="0"/>
        <a:cs typeface="Avenir" charset="0"/>
        <a:sym typeface="Avenir Roman" charset="0"/>
      </a:defRPr>
    </a:lvl4pPr>
    <a:lvl5pPr indent="914400" algn="l" defTabSz="457200" rtl="0" eaLnBrk="0" fontAlgn="base" hangingPunct="0">
      <a:lnSpc>
        <a:spcPct val="125000"/>
      </a:lnSpc>
      <a:spcBef>
        <a:spcPct val="0"/>
      </a:spcBef>
      <a:spcAft>
        <a:spcPct val="0"/>
      </a:spcAft>
      <a:defRPr sz="2400" kern="1200">
        <a:solidFill>
          <a:srgbClr val="000000"/>
        </a:solidFill>
        <a:latin typeface="Avenir" charset="0"/>
        <a:ea typeface="Avenir" charset="0"/>
        <a:cs typeface="Avenir" charset="0"/>
        <a:sym typeface="Avenir Roman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[P1] "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Bienvenidos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y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muchas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gracias al tribunal. Somos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el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Equipo 3005, y hoy les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presentamos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Caporal AI: un Sistema para la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Optimización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Económica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de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Dietas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Bovinas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."</a:t>
            </a:r>
            <a:b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</a:br>
            <a:b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</a:b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[P2] "Durante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los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próximos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minutos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vamos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a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demostrar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cómo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la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Inteligencia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Artificial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híbrida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puede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democratizar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la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zootecnia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de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precisión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para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los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ganaderos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mexicanos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."</a:t>
            </a:r>
            <a:b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</a:br>
            <a:b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</a:b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[P3] "Un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proyecto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construido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con rigor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científico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,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metodología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Scrum y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validado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con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datos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reales. Los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invitamos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a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conocerlo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."</a:t>
            </a:r>
            <a:b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</a:br>
            <a:b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</a:b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⏱ ~30 seg. | 💡 Reglas de Oro: No leer —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cámaras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encendidas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—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máx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. 10-15 min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en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total.</a:t>
            </a:r>
            <a:endParaRPr lang="en-US" dirty="0">
              <a:effectLst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6124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[P2] "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Seguiremos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la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estructura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oficial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de la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plantilla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.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Comenzamos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con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el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contexto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y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el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problema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, luego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los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objetivos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y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metodología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,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después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la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arquitectura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técnica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con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una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demostración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del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prototipo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, la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validación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científica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con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nuestros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KPIs, y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cerramos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con las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conclusiones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y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trabajo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futuro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."</a:t>
            </a:r>
            <a:b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</a:br>
            <a:b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</a:b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⏱ ~20 seg.</a:t>
            </a:r>
            <a:endParaRPr lang="en-US" dirty="0">
              <a:effectLst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67904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[P3] "El sector </a:t>
            </a:r>
            <a:r>
              <a:rPr lang="en-US" dirty="0" err="1"/>
              <a:t>ganadero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México </a:t>
            </a:r>
            <a:r>
              <a:rPr lang="en-US" dirty="0" err="1"/>
              <a:t>vive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crisis </a:t>
            </a:r>
            <a:r>
              <a:rPr lang="en-US" dirty="0" err="1"/>
              <a:t>silenciosa</a:t>
            </a:r>
            <a:r>
              <a:rPr lang="en-US" dirty="0"/>
              <a:t>: </a:t>
            </a:r>
            <a:r>
              <a:rPr lang="en-US" dirty="0" err="1"/>
              <a:t>el</a:t>
            </a:r>
            <a:r>
              <a:rPr lang="en-US" dirty="0"/>
              <a:t> productor </a:t>
            </a:r>
            <a:r>
              <a:rPr lang="en-US" dirty="0" err="1"/>
              <a:t>mediano</a:t>
            </a:r>
            <a:r>
              <a:rPr lang="en-US" dirty="0"/>
              <a:t> </a:t>
            </a:r>
            <a:r>
              <a:rPr lang="en-US" dirty="0" err="1"/>
              <a:t>alimenta</a:t>
            </a:r>
            <a:r>
              <a:rPr lang="en-US" dirty="0"/>
              <a:t> a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ganado</a:t>
            </a:r>
            <a:r>
              <a:rPr lang="en-US" dirty="0"/>
              <a:t> de forma </a:t>
            </a:r>
            <a:r>
              <a:rPr lang="en-US" dirty="0" err="1"/>
              <a:t>empírica</a:t>
            </a:r>
            <a:r>
              <a:rPr lang="en-US" dirty="0"/>
              <a:t>, </a:t>
            </a:r>
            <a:r>
              <a:rPr lang="en-US" dirty="0" err="1"/>
              <a:t>reacciona</a:t>
            </a:r>
            <a:r>
              <a:rPr lang="en-US" dirty="0"/>
              <a:t> </a:t>
            </a:r>
            <a:r>
              <a:rPr lang="en-US" dirty="0" err="1"/>
              <a:t>tarde</a:t>
            </a:r>
            <a:r>
              <a:rPr lang="en-US" dirty="0"/>
              <a:t> a la </a:t>
            </a:r>
            <a:r>
              <a:rPr lang="en-US" dirty="0" err="1"/>
              <a:t>inflación</a:t>
            </a:r>
            <a:r>
              <a:rPr lang="en-US" dirty="0"/>
              <a:t> del </a:t>
            </a:r>
            <a:r>
              <a:rPr lang="en-US" dirty="0" err="1"/>
              <a:t>maíz</a:t>
            </a:r>
            <a:r>
              <a:rPr lang="en-US" dirty="0"/>
              <a:t> y </a:t>
            </a:r>
            <a:r>
              <a:rPr lang="en-US" dirty="0" err="1"/>
              <a:t>pierde</a:t>
            </a:r>
            <a:r>
              <a:rPr lang="en-US" dirty="0"/>
              <a:t> dinero sin </a:t>
            </a:r>
            <a:r>
              <a:rPr lang="en-US" dirty="0" err="1"/>
              <a:t>saberlo</a:t>
            </a:r>
            <a:r>
              <a:rPr lang="en-US" dirty="0"/>
              <a:t>. </a:t>
            </a:r>
            <a:r>
              <a:rPr lang="en-US" dirty="0" err="1"/>
              <a:t>Pueden</a:t>
            </a:r>
            <a:r>
              <a:rPr lang="en-US" dirty="0"/>
              <a:t> </a:t>
            </a:r>
            <a:r>
              <a:rPr lang="en-US" dirty="0" err="1"/>
              <a:t>ver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tabla</a:t>
            </a:r>
            <a:r>
              <a:rPr lang="en-US" dirty="0"/>
              <a:t> de la </a:t>
            </a:r>
            <a:r>
              <a:rPr lang="en-US" dirty="0" err="1"/>
              <a:t>derecha</a:t>
            </a:r>
            <a:r>
              <a:rPr lang="en-US" dirty="0"/>
              <a:t> </a:t>
            </a:r>
            <a:r>
              <a:rPr lang="en-US" dirty="0" err="1"/>
              <a:t>cómo</a:t>
            </a:r>
            <a:r>
              <a:rPr lang="en-US" dirty="0"/>
              <a:t> </a:t>
            </a:r>
            <a:r>
              <a:rPr lang="en-US" dirty="0" err="1"/>
              <a:t>ninguna</a:t>
            </a:r>
            <a:r>
              <a:rPr lang="en-US" dirty="0"/>
              <a:t> </a:t>
            </a:r>
            <a:r>
              <a:rPr lang="en-US" dirty="0" err="1"/>
              <a:t>herramienta</a:t>
            </a:r>
            <a:r>
              <a:rPr lang="en-US" dirty="0"/>
              <a:t> </a:t>
            </a:r>
            <a:r>
              <a:rPr lang="en-US" dirty="0" err="1"/>
              <a:t>existente</a:t>
            </a:r>
            <a:r>
              <a:rPr lang="en-US" dirty="0"/>
              <a:t> </a:t>
            </a:r>
            <a:r>
              <a:rPr lang="en-US" dirty="0" err="1"/>
              <a:t>resuelve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tres</a:t>
            </a:r>
            <a:r>
              <a:rPr lang="en-US" dirty="0"/>
              <a:t> </a:t>
            </a:r>
            <a:r>
              <a:rPr lang="en-US" dirty="0" err="1"/>
              <a:t>problemas</a:t>
            </a:r>
            <a:r>
              <a:rPr lang="en-US" dirty="0"/>
              <a:t> a la </a:t>
            </a:r>
            <a:r>
              <a:rPr lang="en-US" dirty="0" err="1"/>
              <a:t>vez</a:t>
            </a:r>
            <a:r>
              <a:rPr lang="en-US" dirty="0"/>
              <a:t>."
[P1] "</a:t>
            </a:r>
            <a:r>
              <a:rPr lang="en-US" dirty="0" err="1"/>
              <a:t>Ganadero</a:t>
            </a:r>
            <a:r>
              <a:rPr lang="en-US" dirty="0"/>
              <a:t> SG es </a:t>
            </a:r>
            <a:r>
              <a:rPr lang="en-US" dirty="0" err="1"/>
              <a:t>accesible</a:t>
            </a:r>
            <a:r>
              <a:rPr lang="en-US" dirty="0"/>
              <a:t> </a:t>
            </a:r>
            <a:r>
              <a:rPr lang="en-US" dirty="0" err="1"/>
              <a:t>pero</a:t>
            </a:r>
            <a:r>
              <a:rPr lang="en-US" dirty="0"/>
              <a:t> no </a:t>
            </a:r>
            <a:r>
              <a:rPr lang="en-US" dirty="0" err="1"/>
              <a:t>optimiza</a:t>
            </a:r>
            <a:r>
              <a:rPr lang="en-US" dirty="0"/>
              <a:t> nada. NDS </a:t>
            </a:r>
            <a:r>
              <a:rPr lang="en-US" dirty="0" err="1"/>
              <a:t>optimiza</a:t>
            </a:r>
            <a:r>
              <a:rPr lang="en-US" dirty="0"/>
              <a:t>, </a:t>
            </a:r>
            <a:r>
              <a:rPr lang="en-US" dirty="0" err="1"/>
              <a:t>pero</a:t>
            </a:r>
            <a:r>
              <a:rPr lang="en-US" dirty="0"/>
              <a:t> es </a:t>
            </a:r>
            <a:r>
              <a:rPr lang="en-US" dirty="0" err="1"/>
              <a:t>inaccesible</a:t>
            </a:r>
            <a:r>
              <a:rPr lang="en-US" dirty="0"/>
              <a:t> </a:t>
            </a:r>
            <a:r>
              <a:rPr lang="en-US" dirty="0" err="1"/>
              <a:t>técnica</a:t>
            </a:r>
            <a:r>
              <a:rPr lang="en-US" dirty="0"/>
              <a:t> y </a:t>
            </a:r>
            <a:r>
              <a:rPr lang="en-US" dirty="0" err="1"/>
              <a:t>económicamente</a:t>
            </a:r>
            <a:r>
              <a:rPr lang="en-US" dirty="0"/>
              <a:t>. Caporal AI es la </a:t>
            </a:r>
            <a:r>
              <a:rPr lang="en-US" dirty="0" err="1"/>
              <a:t>única</a:t>
            </a:r>
            <a:r>
              <a:rPr lang="en-US" dirty="0"/>
              <a:t> </a:t>
            </a:r>
            <a:r>
              <a:rPr lang="en-US" dirty="0" err="1"/>
              <a:t>opción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cumple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tres</a:t>
            </a:r>
            <a:r>
              <a:rPr lang="en-US" dirty="0"/>
              <a:t>: </a:t>
            </a:r>
            <a:r>
              <a:rPr lang="en-US" dirty="0" err="1"/>
              <a:t>optimiza</a:t>
            </a:r>
            <a:r>
              <a:rPr lang="en-US" dirty="0"/>
              <a:t> </a:t>
            </a:r>
            <a:r>
              <a:rPr lang="en-US" dirty="0" err="1"/>
              <a:t>costos</a:t>
            </a:r>
            <a:r>
              <a:rPr lang="en-US" dirty="0"/>
              <a:t>, </a:t>
            </a:r>
            <a:r>
              <a:rPr lang="en-US" dirty="0" err="1"/>
              <a:t>habla</a:t>
            </a:r>
            <a:r>
              <a:rPr lang="en-US" dirty="0"/>
              <a:t> </a:t>
            </a:r>
            <a:r>
              <a:rPr lang="en-US" dirty="0" err="1"/>
              <a:t>lenguaje</a:t>
            </a:r>
            <a:r>
              <a:rPr lang="en-US" dirty="0"/>
              <a:t> natural con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ganadero</a:t>
            </a:r>
            <a:r>
              <a:rPr lang="en-US" dirty="0"/>
              <a:t>, y </a:t>
            </a:r>
            <a:r>
              <a:rPr lang="en-US" dirty="0" err="1"/>
              <a:t>garantiza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estándar</a:t>
            </a:r>
            <a:r>
              <a:rPr lang="en-US" dirty="0"/>
              <a:t> </a:t>
            </a:r>
            <a:r>
              <a:rPr lang="en-US" dirty="0" err="1"/>
              <a:t>biológico</a:t>
            </a:r>
            <a:r>
              <a:rPr lang="en-US" dirty="0"/>
              <a:t> NRC."
[P2] "En </a:t>
            </a:r>
            <a:r>
              <a:rPr lang="en-US" dirty="0" err="1"/>
              <a:t>pocas</a:t>
            </a:r>
            <a:r>
              <a:rPr lang="en-US" dirty="0"/>
              <a:t> palabras: es un </a:t>
            </a:r>
            <a:r>
              <a:rPr lang="en-US" dirty="0" err="1"/>
              <a:t>agente</a:t>
            </a:r>
            <a:r>
              <a:rPr lang="en-US" dirty="0"/>
              <a:t> </a:t>
            </a:r>
            <a:r>
              <a:rPr lang="en-US" dirty="0" err="1"/>
              <a:t>prescriptivo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le dice al </a:t>
            </a:r>
            <a:r>
              <a:rPr lang="en-US" dirty="0" err="1"/>
              <a:t>ganadero</a:t>
            </a:r>
            <a:r>
              <a:rPr lang="en-US" dirty="0"/>
              <a:t> </a:t>
            </a:r>
            <a:r>
              <a:rPr lang="en-US" dirty="0" err="1"/>
              <a:t>qué</a:t>
            </a:r>
            <a:r>
              <a:rPr lang="en-US" dirty="0"/>
              <a:t> </a:t>
            </a:r>
            <a:r>
              <a:rPr lang="en-US" dirty="0" err="1"/>
              <a:t>comprar</a:t>
            </a:r>
            <a:r>
              <a:rPr lang="en-US" dirty="0"/>
              <a:t> hoy para </a:t>
            </a:r>
            <a:r>
              <a:rPr lang="en-US" dirty="0" err="1"/>
              <a:t>ahorrar</a:t>
            </a:r>
            <a:r>
              <a:rPr lang="en-US" dirty="0"/>
              <a:t> dinero, </a:t>
            </a:r>
            <a:r>
              <a:rPr lang="en-US" dirty="0" err="1"/>
              <a:t>comunicándose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español</a:t>
            </a:r>
            <a:r>
              <a:rPr lang="en-US" dirty="0"/>
              <a:t> natural."
⏱ ~1:30 min.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163660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[P1] "Nuestro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objetivo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principal es claro y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medible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: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reducir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entre 5% y 10%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el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costo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diario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de la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dieta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, sin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violar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jamás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las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restricciones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biológicas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del National Research Council. Si no se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cumple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ese guardrail,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el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sistema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no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entrega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ninguna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recomendación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."</a:t>
            </a:r>
            <a:b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</a:br>
            <a:b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</a:b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[P3] "Para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validar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que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lo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que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construimos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realmente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funciona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,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adoptamos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el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ciclo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Lean Startup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que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ven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en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el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diagrama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circular: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Construir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el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prototipo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,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Medir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con 7 KPIs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estrictos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, y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Aprender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para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iterar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. Esto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nos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dio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una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validación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objetiva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en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cada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sprint."</a:t>
            </a:r>
            <a:b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</a:br>
            <a:b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</a:b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[P2] "Y para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organizarnos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,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trabajamos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7 Sprints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semanales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bajo Scrum, con backlog,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historias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de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usuario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, y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definición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de Done para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cada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entregable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. La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combinación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Scrum + Lean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nos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mantuvo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alineados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durante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todo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el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desarrollo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."</a:t>
            </a:r>
            <a:b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</a:br>
            <a:b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</a:b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⏱ ~1:30 min.</a:t>
            </a:r>
            <a:endParaRPr lang="en-US" dirty="0">
              <a:effectLst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7326263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ES" dirty="0"/>
              <a:t>[P2] "El diagrama de la derecha muestra nuestra Arquitectura Hexagonal. El hexágono azul central es </a:t>
            </a:r>
            <a:r>
              <a:rPr lang="es-ES" dirty="0" err="1"/>
              <a:t>NestJS</a:t>
            </a:r>
            <a:r>
              <a:rPr lang="es-ES" dirty="0"/>
              <a:t> — el orquestador que conecta todos los servicios sin que ninguno dependa directamente del otro." </a:t>
            </a:r>
          </a:p>
          <a:p>
            <a:pPr marL="0" marR="0" lvl="0" indent="0" algn="l" defTabSz="4572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s-ES" dirty="0"/>
          </a:p>
          <a:p>
            <a:pPr marL="0" marR="0" lvl="0" indent="0" algn="l" defTabSz="4572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ES" dirty="0"/>
              <a:t>[P1] "La clave está en el Motor </a:t>
            </a:r>
            <a:r>
              <a:rPr lang="es-ES" dirty="0" err="1"/>
              <a:t>Solver</a:t>
            </a:r>
            <a:r>
              <a:rPr lang="es-ES" dirty="0"/>
              <a:t>: el hexágono naranja es Python con </a:t>
            </a:r>
            <a:r>
              <a:rPr lang="es-ES" dirty="0" err="1"/>
              <a:t>SciPy</a:t>
            </a:r>
            <a:r>
              <a:rPr lang="es-ES" dirty="0"/>
              <a:t> corriendo el algoritmo Simplex. Los modelos de lenguaje como </a:t>
            </a:r>
            <a:r>
              <a:rPr lang="es-ES" dirty="0" err="1"/>
              <a:t>ChatGPT</a:t>
            </a:r>
            <a:r>
              <a:rPr lang="es-ES" dirty="0"/>
              <a:t> alucinan, lo cual sería mortal en nutrición animal. Por eso </a:t>
            </a:r>
            <a:r>
              <a:rPr lang="es-ES" dirty="0" err="1"/>
              <a:t>LangChain</a:t>
            </a:r>
            <a:r>
              <a:rPr lang="es-ES" dirty="0"/>
              <a:t> — el morado — solo entiende al ganadero y traduce su pregunta, pero el número de la ración SIEMPRE lo calcula el Simplex determinista." </a:t>
            </a:r>
          </a:p>
          <a:p>
            <a:pPr marL="0" marR="0" lvl="0" indent="0" algn="l" defTabSz="4572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s-ES" dirty="0"/>
          </a:p>
          <a:p>
            <a:pPr marL="0" marR="0" lvl="0" indent="0" algn="l" defTabSz="4572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ES" dirty="0"/>
              <a:t>[P3] "Y el hexágono verde es el </a:t>
            </a:r>
            <a:r>
              <a:rPr lang="es-ES" dirty="0" err="1"/>
              <a:t>Guardrail</a:t>
            </a:r>
            <a:r>
              <a:rPr lang="es-ES" dirty="0"/>
              <a:t> NRC: antes de entregar cualquier resultado, el sistema verifica que todas las restricciones nutricionales del </a:t>
            </a:r>
            <a:r>
              <a:rPr lang="es-ES" dirty="0" err="1"/>
              <a:t>National</a:t>
            </a:r>
            <a:r>
              <a:rPr lang="es-ES" dirty="0"/>
              <a:t> </a:t>
            </a:r>
            <a:r>
              <a:rPr lang="es-ES" dirty="0" err="1"/>
              <a:t>Research</a:t>
            </a:r>
            <a:r>
              <a:rPr lang="es-ES" dirty="0"/>
              <a:t> Council estén cumplidas. Si no se cumplen, el resultado se bloquea. Cero riesgos biológicos." ⏱ ~1:30 min.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19663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2CCF5-EBB0-72AF-A567-90AD28B38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8F680A-1BC1-D759-EB87-3D89F16086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0123C0-7DF8-F359-B9FA-BCB03F4211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s-ES" dirty="0"/>
              <a:t>[P3] "Llegó el momento de ver la herramienta en acción. El diagrama muestra los tres módulos integrados del prototipo."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E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s-ES" dirty="0"/>
              <a:t>[P1] "El Módulo 1 — Gestión Operativa — permite al productor registrar digitalmente cada lote y el peso de su ganado desde el celular, sin papel. Con esa información el sistema establece el punto de partida para la optimización."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E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s-ES" dirty="0"/>
              <a:t>[P2] "El Módulo 2 — Optimización Dinámica — es el corazón del proyecto: en cuanto el usuario actualiza el precio del maíz, el </a:t>
            </a:r>
            <a:r>
              <a:rPr lang="es-ES" dirty="0" err="1"/>
              <a:t>Solver</a:t>
            </a:r>
            <a:r>
              <a:rPr lang="es-ES" dirty="0"/>
              <a:t> Simplex recalcula en menos de 5 minutos la dieta más económica posible, sin comprometer la nutrición."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E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s-ES" dirty="0"/>
              <a:t>[P3] "Y el Módulo 3 — </a:t>
            </a:r>
            <a:r>
              <a:rPr lang="es-ES" dirty="0" err="1"/>
              <a:t>Decision</a:t>
            </a:r>
            <a:r>
              <a:rPr lang="es-ES" dirty="0"/>
              <a:t> </a:t>
            </a:r>
            <a:r>
              <a:rPr lang="es-ES" dirty="0" err="1"/>
              <a:t>Copilot</a:t>
            </a:r>
            <a:r>
              <a:rPr lang="es-ES" dirty="0"/>
              <a:t> — permite al ganadero hacer preguntas en español. El sistema responde únicamente con citas del corpus NRC verificadas. Nunca inventa nada. (Aquí mostrar demo en vivo o video del </a:t>
            </a:r>
            <a:r>
              <a:rPr lang="es-ES" dirty="0" err="1"/>
              <a:t>dashboard</a:t>
            </a:r>
            <a:r>
              <a:rPr lang="es-ES" dirty="0"/>
              <a:t> en pantalla.)"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E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s-ES" dirty="0"/>
              <a:t>⏱ ~1:30 min.</a:t>
            </a:r>
          </a:p>
        </p:txBody>
      </p:sp>
    </p:spTree>
    <p:extLst>
      <p:ext uri="{BB962C8B-B14F-4D97-AF65-F5344CB8AC3E}">
        <p14:creationId xmlns:p14="http://schemas.microsoft.com/office/powerpoint/2010/main" val="6581423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[P1] "Para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someter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nuestra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propuesta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al rigor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científico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,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diseñamos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un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experimento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de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backtesting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de 90 días: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inyectamos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los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datos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históricos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reales de la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inflación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de granos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en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México y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simulamos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cómo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habría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respondido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Caporal AI versus un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ganadero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que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sigue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su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práctica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empírica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tradicional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."</a:t>
            </a:r>
            <a:b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</a:br>
            <a:b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</a:b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[P2] "Los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tres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KPIs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críticos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que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ven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en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las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tarjetas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superiores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del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gráfico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resumen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el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resultado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. El primero: cero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violaciones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a las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restricciones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nutricionales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del NRC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en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todos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los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escenarios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— la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solución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es 100%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biológicamente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segura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. El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segundo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: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más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del 92% de las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respuestas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del chatbot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incluyen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citas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verificables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—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el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sistema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nunca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alucina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una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recomendación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."</a:t>
            </a:r>
            <a:b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</a:br>
            <a:b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</a:b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[P3] "Y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el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más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importante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para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el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ganadero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: la barra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azul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de Caporal AI es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consistentemente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más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baja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que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la gris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en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todos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los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meses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simulados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, lo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que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confirma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la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reducción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del 5 al 10%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en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el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costo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diario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. Caporal AI es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económicamente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viable y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biológicamente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seguro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al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mismo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tiempo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."</a:t>
            </a:r>
            <a:b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</a:br>
            <a:b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</a:b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⏱ ~1:30 min.</a:t>
            </a:r>
            <a:endParaRPr lang="en-US" dirty="0">
              <a:effectLst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86015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**Notas del Presentador:** *"En conclusión, Caporal AI trasciende el software de registro y se posiciona como una herramienta prescriptiva que cuida el bolsillo del ganadero. Hacia el futuro, el proyecto tiene un claro camino de escalabilidad: planeamos conectar el sistema a bolsas de valores agrícolas para actualizar precios en automático, y exploraremos tecnologías de Edge AI, permitiendo que el motor matemático corra en los celulares de las rancherías sin necesidad de internet. Muchas gracias por su atención, estamos a su disposición para cualquier pregunta."*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E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**Sugerencia Visual:** Iconos de escalabilidad: Una antena/nube (</a:t>
            </a:r>
            <a:r>
              <a:rPr lang="es-ES" dirty="0" err="1"/>
              <a:t>APIs</a:t>
            </a:r>
            <a:r>
              <a:rPr lang="es-ES" dirty="0"/>
              <a:t>), un celular (Edge AI) y un icono de granja (Expansión transversal).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s-ES" dirty="0"/>
              <a:t>### 💡 Reglas de Oro para la grabación (Según Clase S04):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ES" dirty="0"/>
              <a:t>1. **Practiquen para no exceder los 10 minutos cronometrados.**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ES" dirty="0"/>
              <a:t>2. **Repártanse equitativamente las diapositivas; todos deben hablar.**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ES" dirty="0"/>
              <a:t>3. **Usen OBS Studio o </a:t>
            </a:r>
            <a:r>
              <a:rPr lang="es-ES" dirty="0" err="1"/>
              <a:t>Teams</a:t>
            </a:r>
            <a:r>
              <a:rPr lang="es-ES" dirty="0"/>
              <a:t>/Zoom.** Compartan pantalla con sus **cámaras encendidas** en todo momento.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ES" dirty="0"/>
              <a:t>4. **NO LEAN.** El texto de la PPT es de apoyo; el guion es para que lo estudien, lo hagan suyo y lo expliquen con naturalidad. La rúbrica prohíbe terminantemente leer mecánicamente.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ES" dirty="0"/>
          </a:p>
          <a:p>
            <a:pPr marL="0" marR="0" lvl="0" indent="0" algn="l" defTabSz="4572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ES" sz="2400" b="1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----------------------------------------------------------------------------------------------------------------------------------------------------------------------------------------------</a:t>
            </a:r>
            <a:endParaRPr lang="en-US" dirty="0">
              <a:effectLst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s-ES" dirty="0"/>
          </a:p>
          <a:p>
            <a:pPr marL="0" marR="0" lvl="0" indent="0" algn="l" defTabSz="4572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[P2] "En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conclusión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, Caporal AI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trasciende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el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software de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registro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y se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posiciona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como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una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herramienta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prescriptiva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que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cuida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el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bolsillo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del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ganadero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sin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comprometer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la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salud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del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ganado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.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Logramos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los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dos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objetivos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que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parecían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incompatibles: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ahorrar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dinero y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garantizar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la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seguridad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biológica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."</a:t>
            </a:r>
            <a:b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</a:br>
            <a:b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</a:b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[P1] "Hacia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el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futuro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,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el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roadmap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que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ven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en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el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diagrama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tiene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tres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pasos claros: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conectar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el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sistema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a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bolsas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de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valores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agrícolas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para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que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los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precios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se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actualicen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automáticamente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;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llevar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el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motor de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cómputo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al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dispositivo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del productor con Edge AI para zonas sin internet; y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aplicar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el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mismo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modelo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a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avicultura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y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porcicultura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."</a:t>
            </a:r>
            <a:b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</a:br>
            <a:b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</a:b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[P3] "El motor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matemático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y la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arquitectura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que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construimos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son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reutilizables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para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cualquier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especie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productiva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. Caporal AI es,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en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esencia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,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una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plataforma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de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optimización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nutricional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con IA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conversacional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.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Muchas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gracias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por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su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atención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,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estamos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a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su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disposición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para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cualquier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pregunta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."</a:t>
            </a:r>
            <a:b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</a:br>
            <a:b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</a:b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⏱ ~1:00 min. | 💡 Reglas de Oro (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recordatorio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): No leer,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cámaras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 </a:t>
            </a:r>
            <a:r>
              <a:rPr lang="en-US" sz="2400" kern="1200" dirty="0" err="1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encendidas</a:t>
            </a:r>
            <a:r>
              <a:rPr lang="en-US" sz="2400" kern="1200" dirty="0">
                <a:solidFill>
                  <a:srgbClr val="000000"/>
                </a:solidFill>
                <a:effectLst/>
                <a:latin typeface="Avenir" charset="0"/>
                <a:ea typeface="Avenir" charset="0"/>
                <a:cs typeface="Avenir" charset="0"/>
                <a:sym typeface="Avenir Roman" charset="0"/>
              </a:rPr>
              <a:t>, ≤10-15 min total.</a:t>
            </a:r>
            <a:endParaRPr lang="en-US" dirty="0">
              <a:effectLst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15901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_tradnl"/>
              <a:t>Haga clic para modificar el estilo de subtítulo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49183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692903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811916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3461311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4271203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</p:spTree>
    <p:extLst>
      <p:ext uri="{BB962C8B-B14F-4D97-AF65-F5344CB8AC3E}">
        <p14:creationId xmlns:p14="http://schemas.microsoft.com/office/powerpoint/2010/main" val="3128486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1437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 vert="horz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927606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_tradnl" noProof="0">
              <a:sym typeface="Arial" charset="0"/>
            </a:endParaRP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939580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3960265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858000" y="1600200"/>
            <a:ext cx="2286000" cy="4525963"/>
          </a:xfrm>
        </p:spPr>
        <p:txBody>
          <a:bodyPr vert="eaVert"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0" y="1600200"/>
            <a:ext cx="6705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660753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 vert="horz"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_tradnl"/>
              <a:t>Haga clic para modificar el estilo de subtítulo del patrón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BC97BEC-C7C9-BB5A-EDED-E6B48E17A3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18B997-67B0-4933-9FBB-5898B4B14D7F}" type="slidenum">
              <a:rPr lang="es-ES_tradnl" altLang="es-ES"/>
              <a:pPr>
                <a:defRPr/>
              </a:pPr>
              <a:t>‹#›</a:t>
            </a:fld>
            <a:endParaRPr lang="es-ES_tradnl" altLang="es-ES"/>
          </a:p>
        </p:txBody>
      </p:sp>
    </p:spTree>
    <p:extLst>
      <p:ext uri="{BB962C8B-B14F-4D97-AF65-F5344CB8AC3E}">
        <p14:creationId xmlns:p14="http://schemas.microsoft.com/office/powerpoint/2010/main" val="22683764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3EDD3D3-4911-CC8B-0E6E-FF89BF9F99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B90437-C89A-4F86-9C3F-53CCC0E1A127}" type="slidenum">
              <a:rPr lang="es-ES_tradnl" altLang="es-ES"/>
              <a:pPr>
                <a:defRPr/>
              </a:pPr>
              <a:t>‹#›</a:t>
            </a:fld>
            <a:endParaRPr lang="es-ES_tradnl" altLang="es-ES"/>
          </a:p>
        </p:txBody>
      </p:sp>
    </p:spTree>
    <p:extLst>
      <p:ext uri="{BB962C8B-B14F-4D97-AF65-F5344CB8AC3E}">
        <p14:creationId xmlns:p14="http://schemas.microsoft.com/office/powerpoint/2010/main" val="7458294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vert="horz" anchor="t"/>
          <a:lstStyle>
            <a:lvl1pPr algn="l">
              <a:defRPr sz="4000" b="1" cap="all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DF5D46B-2589-7EDF-AFAD-7DDDDDCF6E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61BA16-5CD5-4455-9DF7-D747FE23BEF5}" type="slidenum">
              <a:rPr lang="es-ES_tradnl" altLang="es-ES"/>
              <a:pPr>
                <a:defRPr/>
              </a:pPr>
              <a:t>‹#›</a:t>
            </a:fld>
            <a:endParaRPr lang="es-ES_tradnl" altLang="es-ES"/>
          </a:p>
        </p:txBody>
      </p:sp>
    </p:spTree>
    <p:extLst>
      <p:ext uri="{BB962C8B-B14F-4D97-AF65-F5344CB8AC3E}">
        <p14:creationId xmlns:p14="http://schemas.microsoft.com/office/powerpoint/2010/main" val="12878635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E5AFC6F-2B92-598C-8287-061F301E16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B5FBE0-12FA-4CFC-AAA6-D2EDAB884E1A}" type="slidenum">
              <a:rPr lang="es-ES_tradnl" altLang="es-ES"/>
              <a:pPr>
                <a:defRPr/>
              </a:pPr>
              <a:t>‹#›</a:t>
            </a:fld>
            <a:endParaRPr lang="es-ES_tradnl" altLang="es-ES"/>
          </a:p>
        </p:txBody>
      </p:sp>
    </p:spTree>
    <p:extLst>
      <p:ext uri="{BB962C8B-B14F-4D97-AF65-F5344CB8AC3E}">
        <p14:creationId xmlns:p14="http://schemas.microsoft.com/office/powerpoint/2010/main" val="27400974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7B3D36-2026-F622-1665-E8BF944FD0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F7D05E-C194-4444-9DF5-AC0AE221B558}" type="slidenum">
              <a:rPr lang="es-ES_tradnl" altLang="es-ES"/>
              <a:pPr>
                <a:defRPr/>
              </a:pPr>
              <a:t>‹#›</a:t>
            </a:fld>
            <a:endParaRPr lang="es-ES_tradnl" altLang="es-ES"/>
          </a:p>
        </p:txBody>
      </p:sp>
    </p:spTree>
    <p:extLst>
      <p:ext uri="{BB962C8B-B14F-4D97-AF65-F5344CB8AC3E}">
        <p14:creationId xmlns:p14="http://schemas.microsoft.com/office/powerpoint/2010/main" val="1429441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BF1014E5-7389-C66D-8C47-27770068BB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F47615-10AE-444D-B1E7-A912194595CE}" type="slidenum">
              <a:rPr lang="es-ES_tradnl" altLang="es-ES"/>
              <a:pPr>
                <a:defRPr/>
              </a:pPr>
              <a:t>‹#›</a:t>
            </a:fld>
            <a:endParaRPr lang="es-ES_tradnl" altLang="es-ES"/>
          </a:p>
        </p:txBody>
      </p:sp>
    </p:spTree>
    <p:extLst>
      <p:ext uri="{BB962C8B-B14F-4D97-AF65-F5344CB8AC3E}">
        <p14:creationId xmlns:p14="http://schemas.microsoft.com/office/powerpoint/2010/main" val="31485015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0B02B5F6-47CF-CED2-DFDE-81809EB55F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428B9C-6E99-449A-A6A2-304F7D45901C}" type="slidenum">
              <a:rPr lang="es-ES_tradnl" altLang="es-ES"/>
              <a:pPr>
                <a:defRPr/>
              </a:pPr>
              <a:t>‹#›</a:t>
            </a:fld>
            <a:endParaRPr lang="es-ES_tradnl" altLang="es-ES"/>
          </a:p>
        </p:txBody>
      </p:sp>
    </p:spTree>
    <p:extLst>
      <p:ext uri="{BB962C8B-B14F-4D97-AF65-F5344CB8AC3E}">
        <p14:creationId xmlns:p14="http://schemas.microsoft.com/office/powerpoint/2010/main" val="5390443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vert="horz"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 vert="horz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5ED577B-AD06-96A7-4170-B2ABAA62BC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C12A44-0F04-44F1-A23D-36773C77D453}" type="slidenum">
              <a:rPr lang="es-ES_tradnl" altLang="es-ES"/>
              <a:pPr>
                <a:defRPr/>
              </a:pPr>
              <a:t>‹#›</a:t>
            </a:fld>
            <a:endParaRPr lang="es-ES_tradnl" altLang="es-ES"/>
          </a:p>
        </p:txBody>
      </p:sp>
    </p:spTree>
    <p:extLst>
      <p:ext uri="{BB962C8B-B14F-4D97-AF65-F5344CB8AC3E}">
        <p14:creationId xmlns:p14="http://schemas.microsoft.com/office/powerpoint/2010/main" val="3224937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vert="horz"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_tradnl" noProof="0">
              <a:sym typeface="Arial" charset="0"/>
            </a:endParaRP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DEB7059-6678-384A-3EA3-E570A4633C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730367-E7DB-4CFB-AAB4-E67AEAA2CE09}" type="slidenum">
              <a:rPr lang="es-ES_tradnl" altLang="es-ES"/>
              <a:pPr>
                <a:defRPr/>
              </a:pPr>
              <a:t>‹#›</a:t>
            </a:fld>
            <a:endParaRPr lang="es-ES_tradnl" altLang="es-ES"/>
          </a:p>
        </p:txBody>
      </p:sp>
    </p:spTree>
    <p:extLst>
      <p:ext uri="{BB962C8B-B14F-4D97-AF65-F5344CB8AC3E}">
        <p14:creationId xmlns:p14="http://schemas.microsoft.com/office/powerpoint/2010/main" val="34765812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5D6EB88-23F4-7C56-0151-28106D521E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2D4719-C7F3-492E-9AF3-E4A51152EF88}" type="slidenum">
              <a:rPr lang="es-ES_tradnl" altLang="es-ES"/>
              <a:pPr>
                <a:defRPr/>
              </a:pPr>
              <a:t>‹#›</a:t>
            </a:fld>
            <a:endParaRPr lang="es-ES_tradnl" altLang="es-ES"/>
          </a:p>
        </p:txBody>
      </p:sp>
    </p:spTree>
    <p:extLst>
      <p:ext uri="{BB962C8B-B14F-4D97-AF65-F5344CB8AC3E}">
        <p14:creationId xmlns:p14="http://schemas.microsoft.com/office/powerpoint/2010/main" val="14852420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785599A-BD51-33BE-C6AA-F62466A865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116F08-8A41-4EFB-B343-851DEF99609A}" type="slidenum">
              <a:rPr lang="es-ES_tradnl" altLang="es-ES"/>
              <a:pPr>
                <a:defRPr/>
              </a:pPr>
              <a:t>‹#›</a:t>
            </a:fld>
            <a:endParaRPr lang="es-ES_tradnl" altLang="es-ES"/>
          </a:p>
        </p:txBody>
      </p:sp>
    </p:spTree>
    <p:extLst>
      <p:ext uri="{BB962C8B-B14F-4D97-AF65-F5344CB8AC3E}">
        <p14:creationId xmlns:p14="http://schemas.microsoft.com/office/powerpoint/2010/main" val="4260523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>
            <a:extLst>
              <a:ext uri="{FF2B5EF4-FFF2-40B4-BE49-F238E27FC236}">
                <a16:creationId xmlns:a16="http://schemas.microsoft.com/office/drawing/2014/main" id="{E6881766-938A-B164-D09B-DE7192D62A4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0" y="2957513"/>
            <a:ext cx="9144000" cy="614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altLang="es-ES">
                <a:sym typeface="Arial Narrow" panose="020B0606020202030204" pitchFamily="34" charset="0"/>
              </a:rPr>
              <a:t>Click to edit Master title style</a:t>
            </a:r>
          </a:p>
        </p:txBody>
      </p:sp>
      <p:pic>
        <p:nvPicPr>
          <p:cNvPr id="1027" name="Picture 2" descr="logoblanco.png">
            <a:extLst>
              <a:ext uri="{FF2B5EF4-FFF2-40B4-BE49-F238E27FC236}">
                <a16:creationId xmlns:a16="http://schemas.microsoft.com/office/drawing/2014/main" id="{C0555D94-5BA2-CB6D-9A52-D6CEE51EE07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5538" y="3106738"/>
            <a:ext cx="1222375" cy="388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+mj-lt"/>
          <a:ea typeface="+mj-ea"/>
          <a:cs typeface="+mj-cs"/>
          <a:sym typeface="Arial Narrow" panose="020B0606020202030204" pitchFamily="34" charset="0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Arial Narrow" charset="0"/>
          <a:ea typeface="Arial Narrow" charset="0"/>
          <a:cs typeface="Arial Narrow" charset="0"/>
          <a:sym typeface="Arial Narrow" panose="020B0606020202030204" pitchFamily="34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Arial Narrow" charset="0"/>
          <a:ea typeface="Arial Narrow" charset="0"/>
          <a:cs typeface="Arial Narrow" charset="0"/>
          <a:sym typeface="Arial Narrow" panose="020B0606020202030204" pitchFamily="34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Arial Narrow" charset="0"/>
          <a:ea typeface="Arial Narrow" charset="0"/>
          <a:cs typeface="Arial Narrow" charset="0"/>
          <a:sym typeface="Arial Narrow" panose="020B0606020202030204" pitchFamily="34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Arial Narrow" charset="0"/>
          <a:ea typeface="Arial Narrow" charset="0"/>
          <a:cs typeface="Arial Narrow" charset="0"/>
          <a:sym typeface="Arial Narrow" panose="020B0606020202030204" pitchFamily="34" charset="0"/>
        </a:defRPr>
      </a:lvl5pPr>
      <a:lvl6pPr marL="457200" algn="l" defTabSz="457200" rtl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Arial Narrow" charset="0"/>
          <a:ea typeface="Arial Narrow" charset="0"/>
          <a:cs typeface="Arial Narrow" charset="0"/>
          <a:sym typeface="Arial Narrow" charset="0"/>
        </a:defRPr>
      </a:lvl6pPr>
      <a:lvl7pPr marL="914400" algn="l" defTabSz="457200" rtl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Arial Narrow" charset="0"/>
          <a:ea typeface="Arial Narrow" charset="0"/>
          <a:cs typeface="Arial Narrow" charset="0"/>
          <a:sym typeface="Arial Narrow" charset="0"/>
        </a:defRPr>
      </a:lvl7pPr>
      <a:lvl8pPr marL="1371600" algn="l" defTabSz="457200" rtl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Arial Narrow" charset="0"/>
          <a:ea typeface="Arial Narrow" charset="0"/>
          <a:cs typeface="Arial Narrow" charset="0"/>
          <a:sym typeface="Arial Narrow" charset="0"/>
        </a:defRPr>
      </a:lvl8pPr>
      <a:lvl9pPr marL="1828800" algn="l" defTabSz="457200" rtl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Arial Narrow" charset="0"/>
          <a:ea typeface="Arial Narrow" charset="0"/>
          <a:cs typeface="Arial Narrow" charset="0"/>
          <a:sym typeface="Arial Narrow" charset="0"/>
        </a:defRPr>
      </a:lvl9pPr>
    </p:titleStyle>
    <p:bodyStyle>
      <a:lvl1pPr marL="342900" indent="-342900" algn="l" defTabSz="457200" rtl="0" eaLnBrk="0" fontAlgn="base" hangingPunct="0">
        <a:spcBef>
          <a:spcPts val="400"/>
        </a:spcBef>
        <a:spcAft>
          <a:spcPct val="0"/>
        </a:spcAft>
        <a:buSzPct val="100000"/>
        <a:buFont typeface="Arial" panose="020B0604020202020204" pitchFamily="34" charset="0"/>
        <a:buChar char="•"/>
        <a:defRPr sz="2000">
          <a:solidFill>
            <a:srgbClr val="666666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742950" indent="-285750" algn="l" defTabSz="457200" rtl="0" eaLnBrk="0" fontAlgn="base" hangingPunct="0">
        <a:spcBef>
          <a:spcPts val="400"/>
        </a:spcBef>
        <a:spcAft>
          <a:spcPct val="0"/>
        </a:spcAft>
        <a:buSzPct val="100000"/>
        <a:buFont typeface="Arial" panose="020B0604020202020204" pitchFamily="34" charset="0"/>
        <a:buChar char="–"/>
        <a:defRPr sz="2000">
          <a:solidFill>
            <a:srgbClr val="666666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143000" indent="-228600" algn="l" defTabSz="457200" rtl="0" eaLnBrk="0" fontAlgn="base" hangingPunct="0">
        <a:spcBef>
          <a:spcPts val="400"/>
        </a:spcBef>
        <a:spcAft>
          <a:spcPct val="0"/>
        </a:spcAft>
        <a:buSzPct val="100000"/>
        <a:buFont typeface="Arial" panose="020B0604020202020204" pitchFamily="34" charset="0"/>
        <a:buChar char="•"/>
        <a:defRPr sz="2000">
          <a:solidFill>
            <a:srgbClr val="666666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600200" indent="-228600" algn="l" defTabSz="457200" rtl="0" eaLnBrk="0" fontAlgn="base" hangingPunct="0">
        <a:spcBef>
          <a:spcPts val="400"/>
        </a:spcBef>
        <a:spcAft>
          <a:spcPct val="0"/>
        </a:spcAft>
        <a:buSzPct val="100000"/>
        <a:buFont typeface="Arial" panose="020B0604020202020204" pitchFamily="34" charset="0"/>
        <a:buChar char="–"/>
        <a:defRPr sz="2000">
          <a:solidFill>
            <a:srgbClr val="666666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2057400" indent="-228600" algn="l" defTabSz="457200" rtl="0" eaLnBrk="0" fontAlgn="base" hangingPunct="0">
        <a:spcBef>
          <a:spcPts val="400"/>
        </a:spcBef>
        <a:spcAft>
          <a:spcPct val="0"/>
        </a:spcAft>
        <a:buSzPct val="100000"/>
        <a:buFont typeface="Arial" panose="020B0604020202020204" pitchFamily="34" charset="0"/>
        <a:buChar char="»"/>
        <a:defRPr sz="2000">
          <a:solidFill>
            <a:srgbClr val="666666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457200" rtl="0" fontAlgn="base" hangingPunct="0">
        <a:spcBef>
          <a:spcPts val="400"/>
        </a:spcBef>
        <a:spcAft>
          <a:spcPct val="0"/>
        </a:spcAft>
        <a:buSzPct val="100000"/>
        <a:buFont typeface="Arial" charset="0"/>
        <a:buChar char="»"/>
        <a:defRPr sz="2000">
          <a:solidFill>
            <a:srgbClr val="666666"/>
          </a:solidFill>
          <a:latin typeface="+mn-lt"/>
          <a:ea typeface="+mn-ea"/>
          <a:cs typeface="+mn-cs"/>
          <a:sym typeface="Arial" charset="0"/>
        </a:defRPr>
      </a:lvl6pPr>
      <a:lvl7pPr marL="2971800" indent="-228600" algn="l" defTabSz="457200" rtl="0" fontAlgn="base" hangingPunct="0">
        <a:spcBef>
          <a:spcPts val="400"/>
        </a:spcBef>
        <a:spcAft>
          <a:spcPct val="0"/>
        </a:spcAft>
        <a:buSzPct val="100000"/>
        <a:buFont typeface="Arial" charset="0"/>
        <a:buChar char="»"/>
        <a:defRPr sz="2000">
          <a:solidFill>
            <a:srgbClr val="666666"/>
          </a:solidFill>
          <a:latin typeface="+mn-lt"/>
          <a:ea typeface="+mn-ea"/>
          <a:cs typeface="+mn-cs"/>
          <a:sym typeface="Arial" charset="0"/>
        </a:defRPr>
      </a:lvl7pPr>
      <a:lvl8pPr marL="3429000" indent="-228600" algn="l" defTabSz="457200" rtl="0" fontAlgn="base" hangingPunct="0">
        <a:spcBef>
          <a:spcPts val="400"/>
        </a:spcBef>
        <a:spcAft>
          <a:spcPct val="0"/>
        </a:spcAft>
        <a:buSzPct val="100000"/>
        <a:buFont typeface="Arial" charset="0"/>
        <a:buChar char="»"/>
        <a:defRPr sz="2000">
          <a:solidFill>
            <a:srgbClr val="666666"/>
          </a:solidFill>
          <a:latin typeface="+mn-lt"/>
          <a:ea typeface="+mn-ea"/>
          <a:cs typeface="+mn-cs"/>
          <a:sym typeface="Arial" charset="0"/>
        </a:defRPr>
      </a:lvl8pPr>
      <a:lvl9pPr marL="3886200" indent="-228600" algn="l" defTabSz="457200" rtl="0" fontAlgn="base" hangingPunct="0">
        <a:spcBef>
          <a:spcPts val="400"/>
        </a:spcBef>
        <a:spcAft>
          <a:spcPct val="0"/>
        </a:spcAft>
        <a:buSzPct val="100000"/>
        <a:buFont typeface="Arial" charset="0"/>
        <a:buChar char="»"/>
        <a:defRPr sz="2000">
          <a:solidFill>
            <a:srgbClr val="666666"/>
          </a:solidFill>
          <a:latin typeface="+mn-lt"/>
          <a:ea typeface="+mn-ea"/>
          <a:cs typeface="+mn-cs"/>
          <a:sym typeface="Arial" charset="0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1">
            <a:extLst>
              <a:ext uri="{FF2B5EF4-FFF2-40B4-BE49-F238E27FC236}">
                <a16:creationId xmlns:a16="http://schemas.microsoft.com/office/drawing/2014/main" id="{247157AE-0B66-F11B-BD37-7D2A304E2E32}"/>
              </a:ext>
            </a:extLst>
          </p:cNvPr>
          <p:cNvGrpSpPr>
            <a:grpSpLocks/>
          </p:cNvGrpSpPr>
          <p:nvPr/>
        </p:nvGrpSpPr>
        <p:grpSpPr bwMode="auto">
          <a:xfrm>
            <a:off x="0" y="6402388"/>
            <a:ext cx="9150350" cy="463550"/>
            <a:chOff x="0" y="0"/>
            <a:chExt cx="9151698" cy="464252"/>
          </a:xfrm>
        </p:grpSpPr>
        <p:sp>
          <p:nvSpPr>
            <p:cNvPr id="2" name="Rectangle 2">
              <a:extLst>
                <a:ext uri="{FF2B5EF4-FFF2-40B4-BE49-F238E27FC236}">
                  <a16:creationId xmlns:a16="http://schemas.microsoft.com/office/drawing/2014/main" id="{BF2EC0A8-9E77-8D10-7AB9-380BB9EA9FE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9151698" cy="464252"/>
            </a:xfrm>
            <a:prstGeom prst="rect">
              <a:avLst/>
            </a:prstGeom>
            <a:solidFill>
              <a:srgbClr val="0098CD"/>
            </a:solidFill>
            <a:ln w="12700" cap="flat" cmpd="sng">
              <a:noFill/>
              <a:prstDash val="solid"/>
              <a:miter lim="0"/>
              <a:headEnd type="none" w="med" len="med"/>
              <a:tailEnd type="none" w="med" len="med"/>
            </a:ln>
            <a:effectLst/>
          </p:spPr>
          <p:txBody>
            <a:bodyPr lIns="0" tIns="0" rIns="0" bIns="0" anchor="ctr"/>
            <a:lstStyle>
              <a:lvl1pPr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37931725" indent="-37474525"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1143000" indent="-228600"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1600200" indent="-228600"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2057400" indent="-228600"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rgbClr val="535353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9pPr>
            </a:lstStyle>
            <a:p>
              <a:pPr algn="ctr" eaLnBrk="1">
                <a:defRPr/>
              </a:pPr>
              <a:endParaRPr lang="es-ES" altLang="es-ES">
                <a:solidFill>
                  <a:srgbClr val="FFFFFF"/>
                </a:solidFill>
              </a:endParaRPr>
            </a:p>
          </p:txBody>
        </p:sp>
        <p:sp>
          <p:nvSpPr>
            <p:cNvPr id="3" name="Line 3">
              <a:extLst>
                <a:ext uri="{FF2B5EF4-FFF2-40B4-BE49-F238E27FC236}">
                  <a16:creationId xmlns:a16="http://schemas.microsoft.com/office/drawing/2014/main" id="{75650778-FC80-1134-391A-618214F1E5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453095" y="174889"/>
              <a:ext cx="1588" cy="136732"/>
            </a:xfrm>
            <a:prstGeom prst="line">
              <a:avLst/>
            </a:prstGeom>
            <a:noFill/>
            <a:ln w="952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</p:grpSp>
      <p:sp>
        <p:nvSpPr>
          <p:cNvPr id="2054" name="Rectangle 6">
            <a:extLst>
              <a:ext uri="{FF2B5EF4-FFF2-40B4-BE49-F238E27FC236}">
                <a16:creationId xmlns:a16="http://schemas.microsoft.com/office/drawing/2014/main" id="{DC12314C-BED9-1005-C0E6-EC2FD1177F9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 bwMode="auto">
          <a:xfrm>
            <a:off x="8485188" y="6559550"/>
            <a:ext cx="273050" cy="173038"/>
          </a:xfrm>
          <a:prstGeom prst="rect">
            <a:avLst/>
          </a:prstGeom>
          <a:noFill/>
          <a:ln w="12700" cap="flat" cmpd="sng">
            <a:noFill/>
            <a:prstDash val="solid"/>
            <a:miter lim="0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 eaLnBrk="1">
              <a:defRPr sz="1200"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3442075F-3417-4FC6-BF5C-9CF38CC98857}" type="slidenum">
              <a:rPr lang="es-ES_tradnl" altLang="es-ES"/>
              <a:pPr>
                <a:defRPr/>
              </a:pPr>
              <a:t>‹#›</a:t>
            </a:fld>
            <a:endParaRPr lang="es-ES_tradnl" altLang="es-ES"/>
          </a:p>
        </p:txBody>
      </p:sp>
      <p:pic>
        <p:nvPicPr>
          <p:cNvPr id="2052" name="Picture 3">
            <a:extLst>
              <a:ext uri="{FF2B5EF4-FFF2-40B4-BE49-F238E27FC236}">
                <a16:creationId xmlns:a16="http://schemas.microsoft.com/office/drawing/2014/main" id="{26000AC0-6AB3-DD55-8427-E2414EC45AE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6402388"/>
            <a:ext cx="1673225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+mj-lt"/>
          <a:ea typeface="+mj-ea"/>
          <a:cs typeface="+mj-cs"/>
          <a:sym typeface="Arial Narrow" panose="020B0606020202030204" pitchFamily="34" charset="0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Arial Narrow" charset="0"/>
          <a:ea typeface="Arial Narrow" charset="0"/>
          <a:cs typeface="Arial Narrow" charset="0"/>
          <a:sym typeface="Arial Narrow" panose="020B0606020202030204" pitchFamily="34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Arial Narrow" charset="0"/>
          <a:ea typeface="Arial Narrow" charset="0"/>
          <a:cs typeface="Arial Narrow" charset="0"/>
          <a:sym typeface="Arial Narrow" panose="020B0606020202030204" pitchFamily="34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Arial Narrow" charset="0"/>
          <a:ea typeface="Arial Narrow" charset="0"/>
          <a:cs typeface="Arial Narrow" charset="0"/>
          <a:sym typeface="Arial Narrow" panose="020B0606020202030204" pitchFamily="34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Arial Narrow" charset="0"/>
          <a:ea typeface="Arial Narrow" charset="0"/>
          <a:cs typeface="Arial Narrow" charset="0"/>
          <a:sym typeface="Arial Narrow" panose="020B0606020202030204" pitchFamily="34" charset="0"/>
        </a:defRPr>
      </a:lvl5pPr>
      <a:lvl6pPr marL="457200" algn="l" defTabSz="457200" rtl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Arial Narrow" charset="0"/>
          <a:ea typeface="Arial Narrow" charset="0"/>
          <a:cs typeface="Arial Narrow" charset="0"/>
          <a:sym typeface="Arial Narrow" charset="0"/>
        </a:defRPr>
      </a:lvl6pPr>
      <a:lvl7pPr marL="914400" algn="l" defTabSz="457200" rtl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Arial Narrow" charset="0"/>
          <a:ea typeface="Arial Narrow" charset="0"/>
          <a:cs typeface="Arial Narrow" charset="0"/>
          <a:sym typeface="Arial Narrow" charset="0"/>
        </a:defRPr>
      </a:lvl7pPr>
      <a:lvl8pPr marL="1371600" algn="l" defTabSz="457200" rtl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Arial Narrow" charset="0"/>
          <a:ea typeface="Arial Narrow" charset="0"/>
          <a:cs typeface="Arial Narrow" charset="0"/>
          <a:sym typeface="Arial Narrow" charset="0"/>
        </a:defRPr>
      </a:lvl8pPr>
      <a:lvl9pPr marL="1828800" algn="l" defTabSz="457200" rtl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Arial Narrow" charset="0"/>
          <a:ea typeface="Arial Narrow" charset="0"/>
          <a:cs typeface="Arial Narrow" charset="0"/>
          <a:sym typeface="Arial Narrow" charset="0"/>
        </a:defRPr>
      </a:lvl9pPr>
    </p:titleStyle>
    <p:bodyStyle>
      <a:lvl1pPr marL="342900" indent="-342900" algn="l" defTabSz="457200" rtl="0" eaLnBrk="0" fontAlgn="base" hangingPunct="0">
        <a:spcBef>
          <a:spcPts val="400"/>
        </a:spcBef>
        <a:spcAft>
          <a:spcPct val="0"/>
        </a:spcAft>
        <a:buSzPct val="100000"/>
        <a:buFont typeface="Arial" panose="020B0604020202020204" pitchFamily="34" charset="0"/>
        <a:buChar char="•"/>
        <a:defRPr sz="2000">
          <a:solidFill>
            <a:srgbClr val="666666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742950" indent="-285750" algn="l" defTabSz="457200" rtl="0" eaLnBrk="0" fontAlgn="base" hangingPunct="0">
        <a:spcBef>
          <a:spcPts val="400"/>
        </a:spcBef>
        <a:spcAft>
          <a:spcPct val="0"/>
        </a:spcAft>
        <a:buSzPct val="100000"/>
        <a:buFont typeface="Arial" panose="020B0604020202020204" pitchFamily="34" charset="0"/>
        <a:buChar char="–"/>
        <a:defRPr sz="2000">
          <a:solidFill>
            <a:srgbClr val="666666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143000" indent="-228600" algn="l" defTabSz="457200" rtl="0" eaLnBrk="0" fontAlgn="base" hangingPunct="0">
        <a:spcBef>
          <a:spcPts val="400"/>
        </a:spcBef>
        <a:spcAft>
          <a:spcPct val="0"/>
        </a:spcAft>
        <a:buSzPct val="100000"/>
        <a:buFont typeface="Arial" panose="020B0604020202020204" pitchFamily="34" charset="0"/>
        <a:buChar char="•"/>
        <a:defRPr sz="2000">
          <a:solidFill>
            <a:srgbClr val="666666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600200" indent="-228600" algn="l" defTabSz="457200" rtl="0" eaLnBrk="0" fontAlgn="base" hangingPunct="0">
        <a:spcBef>
          <a:spcPts val="400"/>
        </a:spcBef>
        <a:spcAft>
          <a:spcPct val="0"/>
        </a:spcAft>
        <a:buSzPct val="100000"/>
        <a:buFont typeface="Arial" panose="020B0604020202020204" pitchFamily="34" charset="0"/>
        <a:buChar char="–"/>
        <a:defRPr sz="2000">
          <a:solidFill>
            <a:srgbClr val="666666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2057400" indent="-228600" algn="l" defTabSz="457200" rtl="0" eaLnBrk="0" fontAlgn="base" hangingPunct="0">
        <a:spcBef>
          <a:spcPts val="400"/>
        </a:spcBef>
        <a:spcAft>
          <a:spcPct val="0"/>
        </a:spcAft>
        <a:buSzPct val="100000"/>
        <a:buFont typeface="Arial" panose="020B0604020202020204" pitchFamily="34" charset="0"/>
        <a:buChar char="»"/>
        <a:defRPr sz="2000">
          <a:solidFill>
            <a:srgbClr val="666666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457200" rtl="0" fontAlgn="base" hangingPunct="0">
        <a:spcBef>
          <a:spcPts val="400"/>
        </a:spcBef>
        <a:spcAft>
          <a:spcPct val="0"/>
        </a:spcAft>
        <a:buSzPct val="100000"/>
        <a:buFont typeface="Arial" charset="0"/>
        <a:buChar char="»"/>
        <a:defRPr sz="2000">
          <a:solidFill>
            <a:srgbClr val="666666"/>
          </a:solidFill>
          <a:latin typeface="+mn-lt"/>
          <a:ea typeface="+mn-ea"/>
          <a:cs typeface="+mn-cs"/>
          <a:sym typeface="Arial" charset="0"/>
        </a:defRPr>
      </a:lvl6pPr>
      <a:lvl7pPr marL="2971800" indent="-228600" algn="l" defTabSz="457200" rtl="0" fontAlgn="base" hangingPunct="0">
        <a:spcBef>
          <a:spcPts val="400"/>
        </a:spcBef>
        <a:spcAft>
          <a:spcPct val="0"/>
        </a:spcAft>
        <a:buSzPct val="100000"/>
        <a:buFont typeface="Arial" charset="0"/>
        <a:buChar char="»"/>
        <a:defRPr sz="2000">
          <a:solidFill>
            <a:srgbClr val="666666"/>
          </a:solidFill>
          <a:latin typeface="+mn-lt"/>
          <a:ea typeface="+mn-ea"/>
          <a:cs typeface="+mn-cs"/>
          <a:sym typeface="Arial" charset="0"/>
        </a:defRPr>
      </a:lvl7pPr>
      <a:lvl8pPr marL="3429000" indent="-228600" algn="l" defTabSz="457200" rtl="0" fontAlgn="base" hangingPunct="0">
        <a:spcBef>
          <a:spcPts val="400"/>
        </a:spcBef>
        <a:spcAft>
          <a:spcPct val="0"/>
        </a:spcAft>
        <a:buSzPct val="100000"/>
        <a:buFont typeface="Arial" charset="0"/>
        <a:buChar char="»"/>
        <a:defRPr sz="2000">
          <a:solidFill>
            <a:srgbClr val="666666"/>
          </a:solidFill>
          <a:latin typeface="+mn-lt"/>
          <a:ea typeface="+mn-ea"/>
          <a:cs typeface="+mn-cs"/>
          <a:sym typeface="Arial" charset="0"/>
        </a:defRPr>
      </a:lvl8pPr>
      <a:lvl9pPr marL="3886200" indent="-228600" algn="l" defTabSz="457200" rtl="0" fontAlgn="base" hangingPunct="0">
        <a:spcBef>
          <a:spcPts val="400"/>
        </a:spcBef>
        <a:spcAft>
          <a:spcPct val="0"/>
        </a:spcAft>
        <a:buSzPct val="100000"/>
        <a:buFont typeface="Arial" charset="0"/>
        <a:buChar char="»"/>
        <a:defRPr sz="2000">
          <a:solidFill>
            <a:srgbClr val="666666"/>
          </a:solidFill>
          <a:latin typeface="+mn-lt"/>
          <a:ea typeface="+mn-ea"/>
          <a:cs typeface="+mn-cs"/>
          <a:sym typeface="Arial" charset="0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>
            <a:extLst>
              <a:ext uri="{FF2B5EF4-FFF2-40B4-BE49-F238E27FC236}">
                <a16:creationId xmlns:a16="http://schemas.microsoft.com/office/drawing/2014/main" id="{366C0D6B-F09F-1A2B-C6F0-20B382F931C3}"/>
              </a:ext>
            </a:extLst>
          </p:cNvPr>
          <p:cNvSpPr>
            <a:spLocks/>
          </p:cNvSpPr>
          <p:nvPr/>
        </p:nvSpPr>
        <p:spPr bwMode="auto">
          <a:xfrm>
            <a:off x="0" y="5611813"/>
            <a:ext cx="9144000" cy="133350"/>
          </a:xfrm>
          <a:prstGeom prst="rect">
            <a:avLst/>
          </a:prstGeom>
          <a:solidFill>
            <a:srgbClr val="0098CD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/>
            <a:endParaRPr lang="es-ES" altLang="es-ES">
              <a:solidFill>
                <a:srgbClr val="0098CD"/>
              </a:solidFill>
            </a:endParaRPr>
          </a:p>
        </p:txBody>
      </p:sp>
      <p:sp>
        <p:nvSpPr>
          <p:cNvPr id="5123" name="Rectangle 6">
            <a:extLst>
              <a:ext uri="{FF2B5EF4-FFF2-40B4-BE49-F238E27FC236}">
                <a16:creationId xmlns:a16="http://schemas.microsoft.com/office/drawing/2014/main" id="{BAC376B0-EA17-E59A-640A-2349995C3E1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33400" y="228600"/>
            <a:ext cx="8988425" cy="495300"/>
          </a:xfrm>
        </p:spPr>
        <p:txBody>
          <a:bodyPr anchor="t"/>
          <a:lstStyle/>
          <a:p>
            <a:pPr eaLnBrk="1">
              <a:lnSpc>
                <a:spcPct val="70000"/>
              </a:lnSpc>
            </a:pPr>
            <a:r>
              <a:rPr lang="es-ES" altLang="es-ES" sz="2400" dirty="0">
                <a:solidFill>
                  <a:srgbClr val="0098CD"/>
                </a:solidFill>
                <a:latin typeface="Arial" panose="020B0604020202020204" pitchFamily="34" charset="0"/>
              </a:rPr>
              <a:t>Sistema para Optimización Económica de Dietas Bovinas en Entornos de Datos Escaso (Caporal AI)</a:t>
            </a:r>
            <a:br>
              <a:rPr lang="es-ES" altLang="es-ES" sz="2400" dirty="0">
                <a:solidFill>
                  <a:srgbClr val="0098CD"/>
                </a:solidFill>
                <a:latin typeface="Arial" panose="020B0604020202020204" pitchFamily="34" charset="0"/>
              </a:rPr>
            </a:br>
            <a:br>
              <a:rPr lang="es-ES" altLang="es-ES" sz="2400" dirty="0">
                <a:solidFill>
                  <a:srgbClr val="0098CD"/>
                </a:solidFill>
                <a:latin typeface="Arial" panose="020B0604020202020204" pitchFamily="34" charset="0"/>
              </a:rPr>
            </a:br>
            <a:br>
              <a:rPr lang="es-ES" altLang="es-ES" sz="2400" dirty="0">
                <a:solidFill>
                  <a:srgbClr val="0098CD"/>
                </a:solidFill>
                <a:latin typeface="Arial" panose="020B0604020202020204" pitchFamily="34" charset="0"/>
              </a:rPr>
            </a:br>
            <a:br>
              <a:rPr lang="es-ES" altLang="es-ES" sz="2400" dirty="0">
                <a:solidFill>
                  <a:srgbClr val="0098CD"/>
                </a:solidFill>
                <a:latin typeface="Arial" panose="020B0604020202020204" pitchFamily="34" charset="0"/>
              </a:rPr>
            </a:br>
            <a:br>
              <a:rPr lang="es-ES" altLang="es-ES" sz="2400" dirty="0">
                <a:solidFill>
                  <a:srgbClr val="0098CD"/>
                </a:solidFill>
                <a:latin typeface="Arial" panose="020B0604020202020204" pitchFamily="34" charset="0"/>
              </a:rPr>
            </a:br>
            <a:r>
              <a:rPr lang="es-ES" altLang="es-ES" sz="2400" dirty="0">
                <a:solidFill>
                  <a:srgbClr val="0098CD"/>
                </a:solidFill>
                <a:latin typeface="Arial" panose="020B0604020202020204" pitchFamily="34" charset="0"/>
              </a:rPr>
              <a:t>Trabajo de Innovación en IA</a:t>
            </a:r>
            <a:endParaRPr lang="es-ES_tradnl" altLang="es-ES" sz="1800" dirty="0">
              <a:solidFill>
                <a:srgbClr val="0098CD"/>
              </a:solidFill>
              <a:latin typeface="Arial" panose="020B0604020202020204" pitchFamily="34" charset="0"/>
            </a:endParaRPr>
          </a:p>
        </p:txBody>
      </p:sp>
      <p:sp>
        <p:nvSpPr>
          <p:cNvPr id="5124" name="Rectangle 7">
            <a:extLst>
              <a:ext uri="{FF2B5EF4-FFF2-40B4-BE49-F238E27FC236}">
                <a16:creationId xmlns:a16="http://schemas.microsoft.com/office/drawing/2014/main" id="{84A374D2-79C0-2E52-5A8C-124E7C92FE06}"/>
              </a:ext>
            </a:extLst>
          </p:cNvPr>
          <p:cNvSpPr>
            <a:spLocks/>
          </p:cNvSpPr>
          <p:nvPr/>
        </p:nvSpPr>
        <p:spPr bwMode="auto">
          <a:xfrm>
            <a:off x="-381000" y="4610100"/>
            <a:ext cx="8986838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350838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 defTabSz="350838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 defTabSz="350838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 defTabSz="350838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 defTabSz="350838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350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350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350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35083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r" eaLnBrk="1">
              <a:lnSpc>
                <a:spcPct val="70000"/>
              </a:lnSpc>
            </a:pPr>
            <a:r>
              <a:rPr lang="es-ES_tradnl" altLang="es-ES" sz="3000" dirty="0">
                <a:solidFill>
                  <a:srgbClr val="000000"/>
                </a:solidFill>
                <a:sym typeface="Arial Narrow" panose="020B0606020202030204" pitchFamily="34" charset="0"/>
              </a:rPr>
              <a:t>Caporal AI</a:t>
            </a:r>
          </a:p>
        </p:txBody>
      </p:sp>
      <p:sp>
        <p:nvSpPr>
          <p:cNvPr id="5125" name="Rectangle 8">
            <a:extLst>
              <a:ext uri="{FF2B5EF4-FFF2-40B4-BE49-F238E27FC236}">
                <a16:creationId xmlns:a16="http://schemas.microsoft.com/office/drawing/2014/main" id="{7117B49C-83B5-56BE-AAB6-E9C7815770E2}"/>
              </a:ext>
            </a:extLst>
          </p:cNvPr>
          <p:cNvSpPr>
            <a:spLocks/>
          </p:cNvSpPr>
          <p:nvPr/>
        </p:nvSpPr>
        <p:spPr bwMode="auto">
          <a:xfrm>
            <a:off x="554038" y="611188"/>
            <a:ext cx="5289550" cy="65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>
              <a:lnSpc>
                <a:spcPct val="70000"/>
              </a:lnSpc>
            </a:pPr>
            <a:endParaRPr lang="es-ES_tradnl" altLang="es-ES" dirty="0">
              <a:solidFill>
                <a:srgbClr val="0098CD"/>
              </a:solidFill>
              <a:sym typeface="Arial Narrow" panose="020B0606020202030204" pitchFamily="34" charset="0"/>
            </a:endParaRPr>
          </a:p>
          <a:p>
            <a:pPr eaLnBrk="1">
              <a:lnSpc>
                <a:spcPct val="70000"/>
              </a:lnSpc>
            </a:pPr>
            <a:endParaRPr lang="es-ES_tradnl" altLang="es-ES" dirty="0">
              <a:solidFill>
                <a:srgbClr val="0098CD"/>
              </a:solidFill>
              <a:sym typeface="Arial Narrow" panose="020B0606020202030204" pitchFamily="34" charset="0"/>
            </a:endParaRPr>
          </a:p>
          <a:p>
            <a:pPr eaLnBrk="1">
              <a:lnSpc>
                <a:spcPct val="70000"/>
              </a:lnSpc>
            </a:pPr>
            <a:endParaRPr lang="es-ES_tradnl" altLang="es-ES" dirty="0">
              <a:solidFill>
                <a:srgbClr val="0098CD"/>
              </a:solidFill>
              <a:sym typeface="Arial Narrow" panose="020B0606020202030204" pitchFamily="34" charset="0"/>
            </a:endParaRPr>
          </a:p>
          <a:p>
            <a:pPr eaLnBrk="1">
              <a:lnSpc>
                <a:spcPct val="70000"/>
              </a:lnSpc>
            </a:pPr>
            <a:endParaRPr lang="es-ES_tradnl" altLang="es-ES" dirty="0">
              <a:solidFill>
                <a:srgbClr val="0098CD"/>
              </a:solidFill>
              <a:sym typeface="Arial Narrow" panose="020B0606020202030204" pitchFamily="34" charset="0"/>
            </a:endParaRPr>
          </a:p>
          <a:p>
            <a:pPr eaLnBrk="1">
              <a:lnSpc>
                <a:spcPct val="70000"/>
              </a:lnSpc>
            </a:pPr>
            <a:endParaRPr lang="es-ES_tradnl" altLang="es-ES" dirty="0">
              <a:solidFill>
                <a:srgbClr val="0098CD"/>
              </a:solidFill>
              <a:sym typeface="Arial Narrow" panose="020B0606020202030204" pitchFamily="34" charset="0"/>
            </a:endParaRPr>
          </a:p>
          <a:p>
            <a:pPr eaLnBrk="1">
              <a:lnSpc>
                <a:spcPct val="70000"/>
              </a:lnSpc>
            </a:pPr>
            <a:endParaRPr lang="es-ES_tradnl" altLang="es-ES" dirty="0">
              <a:solidFill>
                <a:srgbClr val="0098CD"/>
              </a:solidFill>
              <a:sym typeface="Arial Narrow" panose="020B0606020202030204" pitchFamily="34" charset="0"/>
            </a:endParaRPr>
          </a:p>
          <a:p>
            <a:pPr eaLnBrk="1">
              <a:lnSpc>
                <a:spcPct val="70000"/>
              </a:lnSpc>
            </a:pPr>
            <a:endParaRPr lang="es-ES_tradnl" altLang="es-ES" dirty="0">
              <a:solidFill>
                <a:srgbClr val="0098CD"/>
              </a:solidFill>
              <a:sym typeface="Arial Narrow" panose="020B0606020202030204" pitchFamily="34" charset="0"/>
            </a:endParaRPr>
          </a:p>
          <a:p>
            <a:pPr eaLnBrk="1">
              <a:lnSpc>
                <a:spcPct val="70000"/>
              </a:lnSpc>
            </a:pPr>
            <a:endParaRPr lang="es-ES_tradnl" altLang="es-ES" dirty="0">
              <a:solidFill>
                <a:srgbClr val="0098CD"/>
              </a:solidFill>
              <a:sym typeface="Arial Narrow" panose="020B0606020202030204" pitchFamily="34" charset="0"/>
            </a:endParaRPr>
          </a:p>
          <a:p>
            <a:pPr eaLnBrk="1">
              <a:lnSpc>
                <a:spcPct val="70000"/>
              </a:lnSpc>
            </a:pPr>
            <a:endParaRPr lang="es-ES_tradnl" altLang="es-ES" dirty="0">
              <a:solidFill>
                <a:srgbClr val="0098CD"/>
              </a:solidFill>
              <a:sym typeface="Arial Narrow" panose="020B0606020202030204" pitchFamily="34" charset="0"/>
            </a:endParaRPr>
          </a:p>
          <a:p>
            <a:pPr eaLnBrk="1">
              <a:lnSpc>
                <a:spcPct val="70000"/>
              </a:lnSpc>
            </a:pPr>
            <a:endParaRPr lang="es-ES_tradnl" altLang="es-ES" dirty="0">
              <a:solidFill>
                <a:srgbClr val="0098CD"/>
              </a:solidFill>
              <a:sym typeface="Arial Narrow" panose="020B0606020202030204" pitchFamily="34" charset="0"/>
            </a:endParaRPr>
          </a:p>
          <a:p>
            <a:pPr eaLnBrk="1">
              <a:lnSpc>
                <a:spcPct val="70000"/>
              </a:lnSpc>
            </a:pPr>
            <a:r>
              <a:rPr lang="es-ES_tradnl" altLang="es-ES" dirty="0">
                <a:solidFill>
                  <a:srgbClr val="0098CD"/>
                </a:solidFill>
                <a:sym typeface="Arial Narrow" panose="020B0606020202030204" pitchFamily="34" charset="0"/>
              </a:rPr>
              <a:t>Juan Carlos Ávila Reséndiz</a:t>
            </a:r>
          </a:p>
          <a:p>
            <a:pPr eaLnBrk="1">
              <a:lnSpc>
                <a:spcPct val="70000"/>
              </a:lnSpc>
            </a:pPr>
            <a:endParaRPr lang="es-ES_tradnl" altLang="es-ES" dirty="0">
              <a:solidFill>
                <a:srgbClr val="0098CD"/>
              </a:solidFill>
              <a:sym typeface="Arial Narrow" panose="020B0606020202030204" pitchFamily="34" charset="0"/>
            </a:endParaRPr>
          </a:p>
          <a:p>
            <a:pPr eaLnBrk="1">
              <a:lnSpc>
                <a:spcPct val="70000"/>
              </a:lnSpc>
            </a:pPr>
            <a:r>
              <a:rPr lang="es-ES_tradnl" altLang="es-ES" dirty="0">
                <a:solidFill>
                  <a:srgbClr val="0098CD"/>
                </a:solidFill>
                <a:sym typeface="Arial Narrow" panose="020B0606020202030204" pitchFamily="34" charset="0"/>
              </a:rPr>
              <a:t>Axel Jonathan Trujillo Olvera</a:t>
            </a:r>
          </a:p>
          <a:p>
            <a:pPr eaLnBrk="1">
              <a:lnSpc>
                <a:spcPct val="70000"/>
              </a:lnSpc>
            </a:pPr>
            <a:endParaRPr lang="es-ES_tradnl" altLang="es-ES" dirty="0">
              <a:solidFill>
                <a:srgbClr val="0098CD"/>
              </a:solidFill>
              <a:sym typeface="Arial Narrow" panose="020B0606020202030204" pitchFamily="34" charset="0"/>
            </a:endParaRPr>
          </a:p>
          <a:p>
            <a:pPr eaLnBrk="1">
              <a:lnSpc>
                <a:spcPct val="70000"/>
              </a:lnSpc>
            </a:pPr>
            <a:r>
              <a:rPr lang="es-ES_tradnl" altLang="es-ES" dirty="0">
                <a:solidFill>
                  <a:srgbClr val="0098CD"/>
                </a:solidFill>
                <a:sym typeface="Arial Narrow" panose="020B0606020202030204" pitchFamily="34" charset="0"/>
              </a:rPr>
              <a:t>Leopoldo Edgardo Lara Hernández</a:t>
            </a:r>
          </a:p>
        </p:txBody>
      </p:sp>
      <p:pic>
        <p:nvPicPr>
          <p:cNvPr id="5126" name="Picture 1">
            <a:extLst>
              <a:ext uri="{FF2B5EF4-FFF2-40B4-BE49-F238E27FC236}">
                <a16:creationId xmlns:a16="http://schemas.microsoft.com/office/drawing/2014/main" id="{7FB584AD-D2A3-849D-C8B9-A34795A8DC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5949950"/>
            <a:ext cx="2497138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7" name="Rectangle 2">
            <a:extLst>
              <a:ext uri="{FF2B5EF4-FFF2-40B4-BE49-F238E27FC236}">
                <a16:creationId xmlns:a16="http://schemas.microsoft.com/office/drawing/2014/main" id="{96F2F192-EB02-3366-3125-2CB42F2DB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163" y="6154738"/>
            <a:ext cx="3168650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r"/>
            <a:r>
              <a:rPr lang="en-US" altLang="es-ES" sz="1300">
                <a:solidFill>
                  <a:srgbClr val="0098CD"/>
                </a:solidFill>
                <a:latin typeface="Unit"/>
              </a:rPr>
              <a:t>Universidad Internacional de La Rioja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>
            <a:extLst>
              <a:ext uri="{FF2B5EF4-FFF2-40B4-BE49-F238E27FC236}">
                <a16:creationId xmlns:a16="http://schemas.microsoft.com/office/drawing/2014/main" id="{D842DF98-6135-1F83-FAD9-1F7EF32D5534}"/>
              </a:ext>
            </a:extLst>
          </p:cNvPr>
          <p:cNvSpPr>
            <a:spLocks/>
          </p:cNvSpPr>
          <p:nvPr/>
        </p:nvSpPr>
        <p:spPr bwMode="auto">
          <a:xfrm>
            <a:off x="8485188" y="6559550"/>
            <a:ext cx="2730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r" eaLnBrk="1"/>
            <a:fld id="{7A379EF5-15A7-4F6F-9825-4A9C31A036E5}" type="slidenum">
              <a:rPr lang="es-ES_tradnl" altLang="es-ES" sz="1200">
                <a:solidFill>
                  <a:srgbClr val="FFFFFF"/>
                </a:solidFill>
              </a:rPr>
              <a:pPr algn="r" eaLnBrk="1"/>
              <a:t>2</a:t>
            </a:fld>
            <a:endParaRPr lang="es-ES_tradnl" altLang="es-ES">
              <a:solidFill>
                <a:srgbClr val="000000"/>
              </a:solidFill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E1C48B04-89CA-3A1B-F073-850D40D5327A}"/>
              </a:ext>
            </a:extLst>
          </p:cNvPr>
          <p:cNvSpPr>
            <a:spLocks/>
          </p:cNvSpPr>
          <p:nvPr/>
        </p:nvSpPr>
        <p:spPr bwMode="auto">
          <a:xfrm>
            <a:off x="419100" y="255588"/>
            <a:ext cx="56149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lIns="45720" rIns="45720">
            <a:spAutoFit/>
          </a:bodyPr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/>
            <a:r>
              <a:rPr lang="es-ES_tradnl" altLang="es-ES" sz="2800">
                <a:solidFill>
                  <a:srgbClr val="0098CD"/>
                </a:solidFill>
                <a:latin typeface="Arial " charset="0"/>
                <a:sym typeface="Arial Narrow" panose="020B0606020202030204" pitchFamily="34" charset="0"/>
              </a:rPr>
              <a:t>Índice</a:t>
            </a:r>
            <a:endParaRPr lang="es-ES_tradnl" altLang="es-ES">
              <a:solidFill>
                <a:srgbClr val="000000"/>
              </a:solidFill>
              <a:latin typeface="Arial " charset="0"/>
              <a:sym typeface="Arial Narrow" panose="020B0606020202030204" pitchFamily="34" charset="0"/>
            </a:endParaRPr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156C6D0B-2929-F05F-7E34-166A8681F09B}"/>
              </a:ext>
            </a:extLst>
          </p:cNvPr>
          <p:cNvSpPr>
            <a:spLocks/>
          </p:cNvSpPr>
          <p:nvPr/>
        </p:nvSpPr>
        <p:spPr bwMode="auto">
          <a:xfrm>
            <a:off x="512763" y="1358900"/>
            <a:ext cx="7997825" cy="2805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lIns="45720" rIns="45720">
            <a:spAutoFit/>
          </a:bodyPr>
          <a:lstStyle>
            <a:lvl1pPr marL="373063" indent="-373063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>
              <a:lnSpc>
                <a:spcPct val="150000"/>
              </a:lnSpc>
              <a:buClr>
                <a:srgbClr val="0098CD"/>
              </a:buClr>
              <a:buSzPct val="50000"/>
              <a:buFont typeface="Arial Narrow" panose="020B0606020202030204" pitchFamily="34" charset="0"/>
              <a:buChar char="►"/>
            </a:pPr>
            <a:r>
              <a:rPr lang="es-ES_tradnl" altLang="es-ES" sz="2000">
                <a:solidFill>
                  <a:srgbClr val="0098CD"/>
                </a:solidFill>
                <a:latin typeface="Arial " charset="0"/>
                <a:sym typeface="Arial Narrow" panose="020B0606020202030204" pitchFamily="34" charset="0"/>
              </a:rPr>
              <a:t>Introducción</a:t>
            </a:r>
          </a:p>
          <a:p>
            <a:pPr eaLnBrk="1">
              <a:lnSpc>
                <a:spcPct val="150000"/>
              </a:lnSpc>
              <a:buClr>
                <a:srgbClr val="0098CD"/>
              </a:buClr>
              <a:buSzPct val="50000"/>
              <a:buFont typeface="Arial Narrow" panose="020B0606020202030204" pitchFamily="34" charset="0"/>
              <a:buChar char="►"/>
            </a:pPr>
            <a:r>
              <a:rPr lang="es-ES_tradnl" altLang="es-ES" sz="2000">
                <a:solidFill>
                  <a:srgbClr val="0098CD"/>
                </a:solidFill>
                <a:latin typeface="Arial " charset="0"/>
                <a:sym typeface="Arial Narrow" panose="020B0606020202030204" pitchFamily="34" charset="0"/>
              </a:rPr>
              <a:t>Objetivos</a:t>
            </a:r>
          </a:p>
          <a:p>
            <a:pPr eaLnBrk="1">
              <a:lnSpc>
                <a:spcPct val="150000"/>
              </a:lnSpc>
              <a:buClr>
                <a:srgbClr val="0098CD"/>
              </a:buClr>
              <a:buSzPct val="50000"/>
              <a:buFont typeface="Arial Narrow" panose="020B0606020202030204" pitchFamily="34" charset="0"/>
              <a:buChar char="►"/>
            </a:pPr>
            <a:r>
              <a:rPr lang="es-ES_tradnl" altLang="es-ES" sz="2000">
                <a:solidFill>
                  <a:srgbClr val="0098CD"/>
                </a:solidFill>
                <a:latin typeface="Arial " charset="0"/>
                <a:sym typeface="Arial Narrow" panose="020B0606020202030204" pitchFamily="34" charset="0"/>
              </a:rPr>
              <a:t>Desarrollo de la Propuesta</a:t>
            </a:r>
          </a:p>
          <a:p>
            <a:pPr eaLnBrk="1">
              <a:lnSpc>
                <a:spcPct val="150000"/>
              </a:lnSpc>
              <a:buClr>
                <a:srgbClr val="0098CD"/>
              </a:buClr>
              <a:buSzPct val="50000"/>
              <a:buFont typeface="Arial Narrow" panose="020B0606020202030204" pitchFamily="34" charset="0"/>
              <a:buChar char="►"/>
            </a:pPr>
            <a:r>
              <a:rPr lang="es-ES_tradnl" altLang="es-ES" sz="2000">
                <a:solidFill>
                  <a:srgbClr val="0098CD"/>
                </a:solidFill>
                <a:latin typeface="Arial " charset="0"/>
                <a:sym typeface="Arial Narrow" panose="020B0606020202030204" pitchFamily="34" charset="0"/>
              </a:rPr>
              <a:t>Evaluación </a:t>
            </a:r>
          </a:p>
          <a:p>
            <a:pPr eaLnBrk="1">
              <a:lnSpc>
                <a:spcPct val="150000"/>
              </a:lnSpc>
              <a:buClr>
                <a:srgbClr val="0098CD"/>
              </a:buClr>
              <a:buSzPct val="50000"/>
              <a:buFont typeface="Arial Narrow" panose="020B0606020202030204" pitchFamily="34" charset="0"/>
              <a:buChar char="►"/>
            </a:pPr>
            <a:r>
              <a:rPr lang="es-ES_tradnl" altLang="es-ES" sz="2000">
                <a:solidFill>
                  <a:srgbClr val="0098CD"/>
                </a:solidFill>
                <a:latin typeface="Arial " charset="0"/>
                <a:sym typeface="Arial Narrow" panose="020B0606020202030204" pitchFamily="34" charset="0"/>
              </a:rPr>
              <a:t>Conclusiones</a:t>
            </a:r>
          </a:p>
          <a:p>
            <a:pPr eaLnBrk="1">
              <a:lnSpc>
                <a:spcPct val="150000"/>
              </a:lnSpc>
              <a:buClr>
                <a:srgbClr val="0098CD"/>
              </a:buClr>
              <a:buSzPct val="50000"/>
              <a:buFont typeface="Arial Narrow" panose="020B0606020202030204" pitchFamily="34" charset="0"/>
              <a:buChar char="►"/>
            </a:pPr>
            <a:endParaRPr lang="es-ES_tradnl" altLang="es-ES" sz="2000">
              <a:solidFill>
                <a:srgbClr val="0098CD"/>
              </a:solidFill>
              <a:latin typeface="Arial " charset="0"/>
              <a:sym typeface="Arial Narrow" panose="020B0606020202030204" pitchFamily="34" charset="0"/>
            </a:endParaRPr>
          </a:p>
        </p:txBody>
      </p:sp>
      <p:sp>
        <p:nvSpPr>
          <p:cNvPr id="6149" name="Marcador de número de diapositiva 1">
            <a:extLst>
              <a:ext uri="{FF2B5EF4-FFF2-40B4-BE49-F238E27FC236}">
                <a16:creationId xmlns:a16="http://schemas.microsoft.com/office/drawing/2014/main" id="{2209AB4E-791B-2815-4E31-5EF859630D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A9332509-EC46-440F-8F41-D88258C67108}" type="slidenum">
              <a:rPr lang="es-ES_tradnl" altLang="es-ES">
                <a:solidFill>
                  <a:srgbClr val="FFFFFF"/>
                </a:solidFill>
              </a:rPr>
              <a:pPr/>
              <a:t>2</a:t>
            </a:fld>
            <a:endParaRPr lang="es-ES_tradnl" altLang="es-ES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">
            <a:extLst>
              <a:ext uri="{FF2B5EF4-FFF2-40B4-BE49-F238E27FC236}">
                <a16:creationId xmlns:a16="http://schemas.microsoft.com/office/drawing/2014/main" id="{8783B260-C581-3FB2-CEC7-6918EBD32755}"/>
              </a:ext>
            </a:extLst>
          </p:cNvPr>
          <p:cNvSpPr>
            <a:spLocks/>
          </p:cNvSpPr>
          <p:nvPr/>
        </p:nvSpPr>
        <p:spPr bwMode="auto">
          <a:xfrm>
            <a:off x="8485188" y="6559550"/>
            <a:ext cx="2730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r" eaLnBrk="1"/>
            <a:fld id="{B33C9D29-9B7C-4A28-A075-684355D77B2A}" type="slidenum">
              <a:rPr lang="es-ES_tradnl" altLang="es-ES" sz="1200" smtClean="0">
                <a:solidFill>
                  <a:srgbClr val="FFFFFF"/>
                </a:solidFill>
              </a:rPr>
              <a:pPr algn="r" eaLnBrk="1"/>
              <a:t>3</a:t>
            </a:fld>
            <a:endParaRPr lang="es-ES_tradnl" altLang="es-ES">
              <a:solidFill>
                <a:srgbClr val="000000"/>
              </a:solidFill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6E833A89-B77F-6ADF-DD2F-C7AC1AF23C41}"/>
              </a:ext>
            </a:extLst>
          </p:cNvPr>
          <p:cNvSpPr>
            <a:spLocks/>
          </p:cNvSpPr>
          <p:nvPr/>
        </p:nvSpPr>
        <p:spPr bwMode="auto">
          <a:xfrm>
            <a:off x="446088" y="303213"/>
            <a:ext cx="56149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lIns="45720" rIns="45720">
            <a:spAutoFit/>
          </a:bodyPr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/>
            <a:r>
              <a:rPr lang="es-ES_tradnl" altLang="es-ES" sz="2800" dirty="0">
                <a:solidFill>
                  <a:srgbClr val="0098CD"/>
                </a:solidFill>
                <a:latin typeface="Arial " charset="0"/>
                <a:sym typeface="Arial Narrow" panose="020B0606020202030204" pitchFamily="34" charset="0"/>
              </a:rPr>
              <a:t>Introducción</a:t>
            </a:r>
            <a:endParaRPr lang="es-ES_tradnl" altLang="es-ES" dirty="0">
              <a:solidFill>
                <a:srgbClr val="000000"/>
              </a:solidFill>
              <a:sym typeface="Arial Narrow" panose="020B0606020202030204" pitchFamily="34" charset="0"/>
            </a:endParaRP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48C598B4-17F0-77F7-6C3A-A63A316B2E7C}"/>
              </a:ext>
            </a:extLst>
          </p:cNvPr>
          <p:cNvSpPr>
            <a:spLocks/>
          </p:cNvSpPr>
          <p:nvPr/>
        </p:nvSpPr>
        <p:spPr bwMode="auto">
          <a:xfrm>
            <a:off x="114400" y="1074509"/>
            <a:ext cx="3960440" cy="4708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wrap="square" lIns="45720" rIns="45720">
            <a:spAutoFit/>
          </a:bodyPr>
          <a:lstStyle>
            <a:lvl1pPr marL="2286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>
              <a:buClr>
                <a:srgbClr val="0098CD"/>
              </a:buClr>
              <a:buSzPct val="50000"/>
              <a:buFont typeface="Arial Narrow" panose="020B0606020202030204" pitchFamily="34" charset="0"/>
              <a:buChar char="►"/>
            </a:pPr>
            <a:r>
              <a:rPr lang="es-ES" altLang="es-ES" sz="2000" dirty="0">
                <a:sym typeface="Arial Narrow" panose="020B0606020202030204" pitchFamily="34" charset="0"/>
              </a:rPr>
              <a:t>El Problema: Volatilidad de precios en granos y acceso nulo a zootecnia de precisión para pequeños/medianos productores (50-500 cabezas).</a:t>
            </a:r>
          </a:p>
          <a:p>
            <a:pPr marL="0" indent="0" eaLnBrk="1">
              <a:buClr>
                <a:srgbClr val="0098CD"/>
              </a:buClr>
              <a:buSzPct val="50000"/>
            </a:pPr>
            <a:endParaRPr lang="es-ES_tradnl" altLang="es-ES" sz="2000" dirty="0">
              <a:solidFill>
                <a:srgbClr val="0098CD"/>
              </a:solidFill>
              <a:sym typeface="Arial Narrow" panose="020B0606020202030204" pitchFamily="34" charset="0"/>
            </a:endParaRPr>
          </a:p>
          <a:p>
            <a:pPr eaLnBrk="1">
              <a:buClr>
                <a:srgbClr val="0098CD"/>
              </a:buClr>
              <a:buSzPct val="50000"/>
              <a:buFont typeface="Arial Narrow" panose="020B0606020202030204" pitchFamily="34" charset="0"/>
              <a:buChar char="►"/>
            </a:pPr>
            <a:r>
              <a:rPr lang="es-ES" altLang="es-ES" sz="2000" dirty="0">
                <a:sym typeface="Arial Narrow" panose="020B0606020202030204" pitchFamily="34" charset="0"/>
              </a:rPr>
              <a:t>La Solución: </a:t>
            </a:r>
            <a:r>
              <a:rPr lang="es-ES" altLang="es-ES" sz="2000" b="1" dirty="0">
                <a:sym typeface="Arial Narrow" panose="020B0606020202030204" pitchFamily="34" charset="0"/>
              </a:rPr>
              <a:t>Caporal AI </a:t>
            </a:r>
            <a:r>
              <a:rPr lang="es-ES" altLang="es-ES" sz="2000" dirty="0">
                <a:sym typeface="Arial Narrow" panose="020B0606020202030204" pitchFamily="34" charset="0"/>
              </a:rPr>
              <a:t>(Inteligencia Artificial Híbrida: Optimización + Lenguaje Natural).</a:t>
            </a:r>
          </a:p>
          <a:p>
            <a:pPr marL="0" indent="0" eaLnBrk="1">
              <a:buClr>
                <a:srgbClr val="0098CD"/>
              </a:buClr>
              <a:buSzPct val="50000"/>
            </a:pPr>
            <a:endParaRPr lang="es-ES_tradnl" altLang="es-ES" sz="2000" dirty="0">
              <a:sym typeface="Arial Narrow" panose="020B0606020202030204" pitchFamily="34" charset="0"/>
            </a:endParaRPr>
          </a:p>
          <a:p>
            <a:pPr eaLnBrk="1">
              <a:buClr>
                <a:srgbClr val="0098CD"/>
              </a:buClr>
              <a:buSzPct val="50000"/>
              <a:buFont typeface="Arial Narrow" panose="020B0606020202030204" pitchFamily="34" charset="0"/>
              <a:buChar char="►"/>
            </a:pPr>
            <a:r>
              <a:rPr lang="es-ES" altLang="es-ES" sz="2000" dirty="0">
                <a:sym typeface="Arial Narrow" panose="020B0606020202030204" pitchFamily="34" charset="0"/>
              </a:rPr>
              <a:t>Comparativa: Supera el registro pasivo (Ganadero SG) y la inaccesibilidad técnica/financiera (NDS).</a:t>
            </a:r>
            <a:endParaRPr lang="es-ES_tradnl" altLang="es-ES" sz="2000" dirty="0">
              <a:sym typeface="Arial Narrow" panose="020B0606020202030204" pitchFamily="34" charset="0"/>
            </a:endParaRPr>
          </a:p>
        </p:txBody>
      </p:sp>
      <p:sp>
        <p:nvSpPr>
          <p:cNvPr id="7173" name="Marcador de número de diapositiva 1">
            <a:extLst>
              <a:ext uri="{FF2B5EF4-FFF2-40B4-BE49-F238E27FC236}">
                <a16:creationId xmlns:a16="http://schemas.microsoft.com/office/drawing/2014/main" id="{A9F52ADC-FE3C-7E19-3F75-D7391C7491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DA261441-3D6B-4E99-BD9C-CD35B58EA5A0}" type="slidenum">
              <a:rPr lang="es-ES_tradnl" altLang="es-ES" smtClean="0">
                <a:solidFill>
                  <a:srgbClr val="FFFFFF"/>
                </a:solidFill>
              </a:rPr>
              <a:pPr/>
              <a:t>3</a:t>
            </a:fld>
            <a:endParaRPr lang="es-ES_tradnl" altLang="es-ES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BB5066-0517-43BA-14E1-EC7A74A3D4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0851" y="1469499"/>
            <a:ext cx="4898749" cy="3918999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9D592EB3-BD17-7F75-A47F-CFCA38BB57C6}"/>
              </a:ext>
            </a:extLst>
          </p:cNvPr>
          <p:cNvSpPr>
            <a:spLocks/>
          </p:cNvSpPr>
          <p:nvPr/>
        </p:nvSpPr>
        <p:spPr bwMode="auto">
          <a:xfrm>
            <a:off x="8485188" y="6559550"/>
            <a:ext cx="2730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r" eaLnBrk="1"/>
            <a:fld id="{764664F6-C129-4022-8AA1-B6904A510EFF}" type="slidenum">
              <a:rPr lang="es-ES_tradnl" altLang="es-ES" sz="1200">
                <a:solidFill>
                  <a:srgbClr val="FFFFFF"/>
                </a:solidFill>
              </a:rPr>
              <a:pPr algn="r" eaLnBrk="1"/>
              <a:t>4</a:t>
            </a:fld>
            <a:endParaRPr lang="es-ES_tradnl" altLang="es-ES">
              <a:solidFill>
                <a:srgbClr val="000000"/>
              </a:solidFill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7BDB8CFE-A636-0A1C-AF67-58A7662840B6}"/>
              </a:ext>
            </a:extLst>
          </p:cNvPr>
          <p:cNvSpPr>
            <a:spLocks/>
          </p:cNvSpPr>
          <p:nvPr/>
        </p:nvSpPr>
        <p:spPr bwMode="auto">
          <a:xfrm>
            <a:off x="446088" y="303213"/>
            <a:ext cx="56149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lIns="45720" rIns="45720">
            <a:spAutoFit/>
          </a:bodyPr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/>
            <a:r>
              <a:rPr lang="es-ES_tradnl" altLang="es-ES" sz="2800" dirty="0">
                <a:solidFill>
                  <a:srgbClr val="0098CD"/>
                </a:solidFill>
                <a:latin typeface="Arial " charset="0"/>
                <a:sym typeface="Arial Narrow" panose="020B0606020202030204" pitchFamily="34" charset="0"/>
              </a:rPr>
              <a:t>Objetivos y Metodología</a:t>
            </a:r>
            <a:endParaRPr lang="es-ES_tradnl" altLang="es-ES" dirty="0">
              <a:solidFill>
                <a:srgbClr val="000000"/>
              </a:solidFill>
              <a:sym typeface="Arial Narrow" panose="020B0606020202030204" pitchFamily="34" charset="0"/>
            </a:endParaRP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5900D477-6580-7AEE-ADC7-95DCCC9BF8A0}"/>
              </a:ext>
            </a:extLst>
          </p:cNvPr>
          <p:cNvSpPr>
            <a:spLocks/>
          </p:cNvSpPr>
          <p:nvPr/>
        </p:nvSpPr>
        <p:spPr bwMode="auto">
          <a:xfrm>
            <a:off x="179512" y="1001713"/>
            <a:ext cx="8784976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wrap="square" lIns="45720" rIns="45720">
            <a:spAutoFit/>
          </a:bodyPr>
          <a:lstStyle>
            <a:lvl1pPr marL="2286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>
              <a:buClr>
                <a:srgbClr val="0098CD"/>
              </a:buClr>
              <a:buSzPct val="50000"/>
              <a:buFont typeface="Arial Narrow" panose="020B0606020202030204" pitchFamily="34" charset="0"/>
              <a:buChar char="►"/>
            </a:pPr>
            <a:r>
              <a:rPr lang="es-ES" altLang="es-ES" dirty="0">
                <a:sym typeface="Arial Narrow" panose="020B0606020202030204" pitchFamily="34" charset="0"/>
              </a:rPr>
              <a:t>Objetivo Principal: Reducir costos operativos entre 5% y 10% manteniendo estándares biológicos NRC.</a:t>
            </a:r>
          </a:p>
          <a:p>
            <a:pPr marL="0" indent="0" eaLnBrk="1">
              <a:buClr>
                <a:srgbClr val="0098CD"/>
              </a:buClr>
              <a:buSzPct val="50000"/>
            </a:pPr>
            <a:endParaRPr lang="es-ES_tradnl" altLang="es-ES" dirty="0">
              <a:solidFill>
                <a:srgbClr val="0098CD"/>
              </a:solidFill>
              <a:sym typeface="Arial Narrow" panose="020B0606020202030204" pitchFamily="34" charset="0"/>
            </a:endParaRPr>
          </a:p>
          <a:p>
            <a:pPr eaLnBrk="1">
              <a:buClr>
                <a:srgbClr val="0098CD"/>
              </a:buClr>
              <a:buSzPct val="50000"/>
              <a:buFont typeface="Arial Narrow" panose="020B0606020202030204" pitchFamily="34" charset="0"/>
              <a:buChar char="►"/>
            </a:pPr>
            <a:r>
              <a:rPr lang="pt-BR" altLang="es-ES" dirty="0">
                <a:sym typeface="Arial Narrow" panose="020B0606020202030204" pitchFamily="34" charset="0"/>
              </a:rPr>
              <a:t>Objetivos Específicos: Motor matemático determinista (Simplex) e Interfaz de IA (RAG) en Arquitectura Hexagonal.</a:t>
            </a:r>
          </a:p>
          <a:p>
            <a:pPr eaLnBrk="1">
              <a:buClr>
                <a:srgbClr val="0098CD"/>
              </a:buClr>
              <a:buSzPct val="50000"/>
              <a:buFont typeface="Arial Narrow" panose="020B0606020202030204" pitchFamily="34" charset="0"/>
              <a:buChar char="►"/>
            </a:pPr>
            <a:endParaRPr lang="pt-BR" altLang="es-ES" dirty="0">
              <a:sym typeface="Arial Narrow" panose="020B0606020202030204" pitchFamily="34" charset="0"/>
            </a:endParaRPr>
          </a:p>
          <a:p>
            <a:pPr eaLnBrk="1">
              <a:buClr>
                <a:srgbClr val="0098CD"/>
              </a:buClr>
              <a:buSzPct val="50000"/>
              <a:buFont typeface="Arial Narrow" panose="020B0606020202030204" pitchFamily="34" charset="0"/>
              <a:buChar char="►"/>
            </a:pPr>
            <a:r>
              <a:rPr lang="es-ES" altLang="es-ES" dirty="0">
                <a:sym typeface="Arial Narrow" panose="020B0606020202030204" pitchFamily="34" charset="0"/>
              </a:rPr>
              <a:t>Metodología: Gestión con SCRUM (7 </a:t>
            </a:r>
            <a:r>
              <a:rPr lang="es-ES" altLang="es-ES" dirty="0" err="1">
                <a:sym typeface="Arial Narrow" panose="020B0606020202030204" pitchFamily="34" charset="0"/>
              </a:rPr>
              <a:t>Sprints</a:t>
            </a:r>
            <a:r>
              <a:rPr lang="es-ES" altLang="es-ES" dirty="0">
                <a:sym typeface="Arial Narrow" panose="020B0606020202030204" pitchFamily="34" charset="0"/>
              </a:rPr>
              <a:t>) y métricas LEAN Startup (Construir-Medir-Aprender).</a:t>
            </a:r>
            <a:endParaRPr lang="es-ES_tradnl" altLang="es-ES" dirty="0">
              <a:sym typeface="Arial Narrow" panose="020B0606020202030204" pitchFamily="34" charset="0"/>
            </a:endParaRPr>
          </a:p>
        </p:txBody>
      </p:sp>
      <p:sp>
        <p:nvSpPr>
          <p:cNvPr id="8197" name="Marcador de número de diapositiva 1">
            <a:extLst>
              <a:ext uri="{FF2B5EF4-FFF2-40B4-BE49-F238E27FC236}">
                <a16:creationId xmlns:a16="http://schemas.microsoft.com/office/drawing/2014/main" id="{9C845B5E-AE98-CC28-8628-AF21544B57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7A1708ED-1102-4D17-AF32-80B5C386E2B7}" type="slidenum">
              <a:rPr lang="es-ES_tradnl" altLang="es-ES">
                <a:solidFill>
                  <a:srgbClr val="FFFFFF"/>
                </a:solidFill>
              </a:rPr>
              <a:pPr/>
              <a:t>4</a:t>
            </a:fld>
            <a:endParaRPr lang="es-ES_tradnl" altLang="es-ES">
              <a:solidFill>
                <a:srgbClr val="FFFF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BFFAC3-1002-1B9F-703E-97091B67C0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342" b="90000" l="10000" r="90000">
                        <a14:foregroundMark x1="32262" y1="6974" x2="68095" y2="7763"/>
                        <a14:foregroundMark x1="33333" y1="4079" x2="46190" y2="7105"/>
                        <a14:foregroundMark x1="46190" y1="7105" x2="65476" y2="6184"/>
                        <a14:foregroundMark x1="63214" y1="4342" x2="57262" y2="5658"/>
                        <a14:foregroundMark x1="40476" y1="51184" x2="49762" y2="51842"/>
                        <a14:foregroundMark x1="49762" y1="51842" x2="52619" y2="58684"/>
                        <a14:foregroundMark x1="55238" y1="57763" x2="38452" y2="56711"/>
                        <a14:foregroundMark x1="43214" y1="52368" x2="55595" y2="5236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5762" y="3209594"/>
            <a:ext cx="4032448" cy="36484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020D28-9EFE-40A8-648A-E4B0FF31ED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1475" y="3140968"/>
            <a:ext cx="2879748" cy="3218542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">
            <a:extLst>
              <a:ext uri="{FF2B5EF4-FFF2-40B4-BE49-F238E27FC236}">
                <a16:creationId xmlns:a16="http://schemas.microsoft.com/office/drawing/2014/main" id="{14C79CC2-D63D-455C-8943-DC2C7ECDFB16}"/>
              </a:ext>
            </a:extLst>
          </p:cNvPr>
          <p:cNvSpPr>
            <a:spLocks/>
          </p:cNvSpPr>
          <p:nvPr/>
        </p:nvSpPr>
        <p:spPr bwMode="auto">
          <a:xfrm>
            <a:off x="8485188" y="6559550"/>
            <a:ext cx="2730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r" eaLnBrk="1"/>
            <a:fld id="{9F1CC0D0-3C68-4580-9284-6730E02FF79F}" type="slidenum">
              <a:rPr lang="es-ES_tradnl" altLang="es-ES" sz="1200">
                <a:solidFill>
                  <a:srgbClr val="FFFFFF"/>
                </a:solidFill>
              </a:rPr>
              <a:pPr algn="r" eaLnBrk="1"/>
              <a:t>5</a:t>
            </a:fld>
            <a:endParaRPr lang="es-ES_tradnl" altLang="es-ES">
              <a:solidFill>
                <a:srgbClr val="000000"/>
              </a:solidFill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3F1E56B4-0CAD-5873-72C6-E391A6323B22}"/>
              </a:ext>
            </a:extLst>
          </p:cNvPr>
          <p:cNvSpPr>
            <a:spLocks/>
          </p:cNvSpPr>
          <p:nvPr/>
        </p:nvSpPr>
        <p:spPr bwMode="auto">
          <a:xfrm>
            <a:off x="446088" y="303213"/>
            <a:ext cx="5614987" cy="1231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lIns="45720" rIns="45720">
            <a:spAutoFit/>
          </a:bodyPr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/>
            <a:r>
              <a:rPr lang="es-ES" altLang="es-ES" sz="2800" dirty="0">
                <a:solidFill>
                  <a:srgbClr val="0098CD"/>
                </a:solidFill>
                <a:latin typeface="Arial " charset="0"/>
                <a:sym typeface="Arial Narrow" panose="020B0606020202030204" pitchFamily="34" charset="0"/>
              </a:rPr>
              <a:t>Desarrollo de la Propuesta: Arquitectura</a:t>
            </a:r>
          </a:p>
          <a:p>
            <a:pPr eaLnBrk="1"/>
            <a:endParaRPr lang="es-ES_tradnl" altLang="es-ES" dirty="0">
              <a:solidFill>
                <a:srgbClr val="000000"/>
              </a:solidFill>
              <a:sym typeface="Arial Narrow" panose="020B0606020202030204" pitchFamily="34" charset="0"/>
            </a:endParaRPr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DA6C3F57-5438-78F1-24BF-5A8E1DAC645E}"/>
              </a:ext>
            </a:extLst>
          </p:cNvPr>
          <p:cNvSpPr>
            <a:spLocks/>
          </p:cNvSpPr>
          <p:nvPr/>
        </p:nvSpPr>
        <p:spPr bwMode="auto">
          <a:xfrm>
            <a:off x="251520" y="2204864"/>
            <a:ext cx="5479453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wrap="square" lIns="45720" rIns="45720">
            <a:spAutoFit/>
          </a:bodyPr>
          <a:lstStyle>
            <a:lvl1pPr marL="2286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>
              <a:buClr>
                <a:srgbClr val="0098CD"/>
              </a:buClr>
              <a:buSzPct val="50000"/>
              <a:buFont typeface="Arial Narrow" panose="020B0606020202030204" pitchFamily="34" charset="0"/>
              <a:buChar char="►"/>
            </a:pPr>
            <a:r>
              <a:rPr lang="es-ES_tradnl" altLang="es-ES" sz="2000" dirty="0">
                <a:sym typeface="Arial Narrow" panose="020B0606020202030204" pitchFamily="34" charset="0"/>
              </a:rPr>
              <a:t>Arquitectura Hexagonal</a:t>
            </a:r>
            <a:endParaRPr lang="es-ES_tradnl" altLang="es-ES" sz="2000" dirty="0">
              <a:solidFill>
                <a:srgbClr val="0098CD"/>
              </a:solidFill>
              <a:sym typeface="Arial Narrow" panose="020B0606020202030204" pitchFamily="34" charset="0"/>
            </a:endParaRPr>
          </a:p>
          <a:p>
            <a:pPr eaLnBrk="1">
              <a:buClr>
                <a:srgbClr val="0098CD"/>
              </a:buClr>
              <a:buSzPct val="50000"/>
              <a:buFont typeface="Arial Narrow" panose="020B0606020202030204" pitchFamily="34" charset="0"/>
              <a:buChar char="►"/>
            </a:pPr>
            <a:r>
              <a:rPr lang="es-ES" altLang="es-ES" sz="2000" dirty="0">
                <a:sym typeface="Arial Narrow" panose="020B0606020202030204" pitchFamily="34" charset="0"/>
              </a:rPr>
              <a:t>Motor de Optimización (</a:t>
            </a:r>
            <a:r>
              <a:rPr lang="es-ES" altLang="es-ES" sz="2000" dirty="0" err="1">
                <a:sym typeface="Arial Narrow" panose="020B0606020202030204" pitchFamily="34" charset="0"/>
              </a:rPr>
              <a:t>Solver</a:t>
            </a:r>
            <a:r>
              <a:rPr lang="es-ES" altLang="es-ES" sz="2000" dirty="0">
                <a:sym typeface="Arial Narrow" panose="020B0606020202030204" pitchFamily="34" charset="0"/>
              </a:rPr>
              <a:t>)</a:t>
            </a:r>
          </a:p>
          <a:p>
            <a:pPr eaLnBrk="1">
              <a:buClr>
                <a:srgbClr val="0098CD"/>
              </a:buClr>
              <a:buSzPct val="50000"/>
              <a:buFont typeface="Arial Narrow" panose="020B0606020202030204" pitchFamily="34" charset="0"/>
              <a:buChar char="►"/>
            </a:pPr>
            <a:r>
              <a:rPr lang="es-ES" altLang="es-ES" sz="2000" dirty="0">
                <a:sym typeface="Arial Narrow" panose="020B0606020202030204" pitchFamily="34" charset="0"/>
              </a:rPr>
              <a:t>Orquestador RAG (</a:t>
            </a:r>
            <a:r>
              <a:rPr lang="es-ES" altLang="es-ES" sz="2000" dirty="0" err="1">
                <a:sym typeface="Arial Narrow" panose="020B0606020202030204" pitchFamily="34" charset="0"/>
              </a:rPr>
              <a:t>LangChain</a:t>
            </a:r>
            <a:r>
              <a:rPr lang="es-ES" altLang="es-ES" sz="2000" dirty="0">
                <a:sym typeface="Arial Narrow" panose="020B0606020202030204" pitchFamily="34" charset="0"/>
              </a:rPr>
              <a:t>)</a:t>
            </a:r>
          </a:p>
          <a:p>
            <a:pPr eaLnBrk="1">
              <a:buClr>
                <a:srgbClr val="0098CD"/>
              </a:buClr>
              <a:buSzPct val="50000"/>
              <a:buFont typeface="Arial Narrow" panose="020B0606020202030204" pitchFamily="34" charset="0"/>
              <a:buChar char="►"/>
            </a:pPr>
            <a:r>
              <a:rPr lang="es-ES" altLang="es-ES" sz="2000" dirty="0" err="1">
                <a:sym typeface="Arial Narrow" panose="020B0606020202030204" pitchFamily="34" charset="0"/>
              </a:rPr>
              <a:t>Guardrail</a:t>
            </a:r>
            <a:r>
              <a:rPr lang="es-ES" altLang="es-ES" sz="2000" dirty="0">
                <a:sym typeface="Arial Narrow" panose="020B0606020202030204" pitchFamily="34" charset="0"/>
              </a:rPr>
              <a:t> NRC</a:t>
            </a:r>
            <a:endParaRPr lang="es-ES_tradnl" altLang="es-ES" sz="2000" dirty="0">
              <a:sym typeface="Arial Narrow" panose="020B0606020202030204" pitchFamily="34" charset="0"/>
            </a:endParaRPr>
          </a:p>
        </p:txBody>
      </p:sp>
      <p:sp>
        <p:nvSpPr>
          <p:cNvPr id="9221" name="Marcador de número de diapositiva 1">
            <a:extLst>
              <a:ext uri="{FF2B5EF4-FFF2-40B4-BE49-F238E27FC236}">
                <a16:creationId xmlns:a16="http://schemas.microsoft.com/office/drawing/2014/main" id="{FD083962-6E9B-9AAF-46D7-A6F31681D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58686564-1021-4E50-A8CB-A563BA9F6AC5}" type="slidenum">
              <a:rPr lang="es-ES_tradnl" altLang="es-ES">
                <a:solidFill>
                  <a:srgbClr val="FFFFFF"/>
                </a:solidFill>
              </a:rPr>
              <a:pPr/>
              <a:t>5</a:t>
            </a:fld>
            <a:endParaRPr lang="es-ES_tradnl" altLang="es-ES">
              <a:solidFill>
                <a:srgbClr val="FFFF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2094F4-EC66-3BD9-EFED-9F7B7C929C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7303" y="125412"/>
            <a:ext cx="6647544" cy="621037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6823D-9EFD-17A8-7B62-8BDE1F743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">
            <a:extLst>
              <a:ext uri="{FF2B5EF4-FFF2-40B4-BE49-F238E27FC236}">
                <a16:creationId xmlns:a16="http://schemas.microsoft.com/office/drawing/2014/main" id="{31B94F6F-6025-06CD-D297-863FA6B4A24C}"/>
              </a:ext>
            </a:extLst>
          </p:cNvPr>
          <p:cNvSpPr>
            <a:spLocks/>
          </p:cNvSpPr>
          <p:nvPr/>
        </p:nvSpPr>
        <p:spPr bwMode="auto">
          <a:xfrm>
            <a:off x="8485188" y="6559550"/>
            <a:ext cx="2730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r" eaLnBrk="1"/>
            <a:fld id="{9F1CC0D0-3C68-4580-9284-6730E02FF79F}" type="slidenum">
              <a:rPr lang="es-ES_tradnl" altLang="es-ES" sz="1200">
                <a:solidFill>
                  <a:srgbClr val="FFFFFF"/>
                </a:solidFill>
              </a:rPr>
              <a:pPr algn="r" eaLnBrk="1"/>
              <a:t>6</a:t>
            </a:fld>
            <a:endParaRPr lang="es-ES_tradnl" altLang="es-ES">
              <a:solidFill>
                <a:srgbClr val="000000"/>
              </a:solidFill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7D0C3D4C-9048-B100-4128-858CBA5488E6}"/>
              </a:ext>
            </a:extLst>
          </p:cNvPr>
          <p:cNvSpPr>
            <a:spLocks/>
          </p:cNvSpPr>
          <p:nvPr/>
        </p:nvSpPr>
        <p:spPr bwMode="auto">
          <a:xfrm>
            <a:off x="446088" y="303213"/>
            <a:ext cx="5614987" cy="1231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lIns="45720" rIns="45720">
            <a:spAutoFit/>
          </a:bodyPr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/>
            <a:r>
              <a:rPr lang="es-ES" altLang="es-ES" sz="2800" dirty="0">
                <a:solidFill>
                  <a:srgbClr val="0098CD"/>
                </a:solidFill>
                <a:latin typeface="Arial " charset="0"/>
                <a:sym typeface="Arial Narrow" panose="020B0606020202030204" pitchFamily="34" charset="0"/>
              </a:rPr>
              <a:t>Desarrollo de la Propuesta: El Prototipo Funcional (Demo)</a:t>
            </a:r>
          </a:p>
          <a:p>
            <a:pPr eaLnBrk="1"/>
            <a:endParaRPr lang="es-ES_tradnl" altLang="es-ES" dirty="0">
              <a:solidFill>
                <a:srgbClr val="000000"/>
              </a:solidFill>
              <a:sym typeface="Arial Narrow" panose="020B0606020202030204" pitchFamily="34" charset="0"/>
            </a:endParaRPr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9A33DF00-74EC-E790-DA34-A3F061E4F983}"/>
              </a:ext>
            </a:extLst>
          </p:cNvPr>
          <p:cNvSpPr>
            <a:spLocks/>
          </p:cNvSpPr>
          <p:nvPr/>
        </p:nvSpPr>
        <p:spPr bwMode="auto">
          <a:xfrm>
            <a:off x="6041603" y="303213"/>
            <a:ext cx="367240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wrap="square" lIns="45720" rIns="45720">
            <a:spAutoFit/>
          </a:bodyPr>
          <a:lstStyle>
            <a:lvl1pPr marL="2286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>
              <a:buClr>
                <a:srgbClr val="0098CD"/>
              </a:buClr>
              <a:buSzPct val="50000"/>
              <a:buFont typeface="Arial Narrow" panose="020B0606020202030204" pitchFamily="34" charset="0"/>
              <a:buChar char="►"/>
            </a:pPr>
            <a:r>
              <a:rPr lang="es-ES" altLang="es-ES" sz="2000" dirty="0">
                <a:sym typeface="Arial Narrow" panose="020B0606020202030204" pitchFamily="34" charset="0"/>
              </a:rPr>
              <a:t>Gestión Operativa.</a:t>
            </a:r>
          </a:p>
          <a:p>
            <a:pPr eaLnBrk="1">
              <a:buClr>
                <a:srgbClr val="0098CD"/>
              </a:buClr>
              <a:buSzPct val="50000"/>
              <a:buFont typeface="Arial Narrow" panose="020B0606020202030204" pitchFamily="34" charset="0"/>
              <a:buChar char="►"/>
            </a:pPr>
            <a:r>
              <a:rPr lang="es-ES" altLang="es-ES" sz="2000" dirty="0">
                <a:sym typeface="Arial Narrow" panose="020B0606020202030204" pitchFamily="34" charset="0"/>
              </a:rPr>
              <a:t>Optimización Dinámica.</a:t>
            </a:r>
          </a:p>
          <a:p>
            <a:pPr eaLnBrk="1">
              <a:buClr>
                <a:srgbClr val="0098CD"/>
              </a:buClr>
              <a:buSzPct val="50000"/>
              <a:buFont typeface="Arial Narrow" panose="020B0606020202030204" pitchFamily="34" charset="0"/>
              <a:buChar char="►"/>
            </a:pPr>
            <a:r>
              <a:rPr lang="es-ES" altLang="es-ES" sz="2000" dirty="0" err="1">
                <a:sym typeface="Arial Narrow" panose="020B0606020202030204" pitchFamily="34" charset="0"/>
              </a:rPr>
              <a:t>Decision</a:t>
            </a:r>
            <a:r>
              <a:rPr lang="es-ES" altLang="es-ES" sz="2000" dirty="0">
                <a:sym typeface="Arial Narrow" panose="020B0606020202030204" pitchFamily="34" charset="0"/>
              </a:rPr>
              <a:t> </a:t>
            </a:r>
            <a:r>
              <a:rPr lang="es-ES" altLang="es-ES" sz="2000" dirty="0" err="1">
                <a:sym typeface="Arial Narrow" panose="020B0606020202030204" pitchFamily="34" charset="0"/>
              </a:rPr>
              <a:t>Copilot</a:t>
            </a:r>
            <a:r>
              <a:rPr lang="es-ES" altLang="es-ES" sz="2000" dirty="0">
                <a:sym typeface="Arial Narrow" panose="020B0606020202030204" pitchFamily="34" charset="0"/>
              </a:rPr>
              <a:t>.</a:t>
            </a:r>
          </a:p>
        </p:txBody>
      </p:sp>
      <p:sp>
        <p:nvSpPr>
          <p:cNvPr id="9221" name="Marcador de número de diapositiva 1">
            <a:extLst>
              <a:ext uri="{FF2B5EF4-FFF2-40B4-BE49-F238E27FC236}">
                <a16:creationId xmlns:a16="http://schemas.microsoft.com/office/drawing/2014/main" id="{4B880D82-4790-3E2F-5932-517ADD6DAE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58686564-1021-4E50-A8CB-A563BA9F6AC5}" type="slidenum">
              <a:rPr lang="es-ES_tradnl" altLang="es-ES">
                <a:solidFill>
                  <a:srgbClr val="FFFFFF"/>
                </a:solidFill>
              </a:rPr>
              <a:pPr/>
              <a:t>6</a:t>
            </a:fld>
            <a:endParaRPr lang="es-ES_tradnl" altLang="es-ES">
              <a:solidFill>
                <a:srgbClr val="FFFF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67E8E1-A1C5-6ABC-6456-FD1B59166D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642040"/>
            <a:ext cx="8434710" cy="4733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09990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">
            <a:extLst>
              <a:ext uri="{FF2B5EF4-FFF2-40B4-BE49-F238E27FC236}">
                <a16:creationId xmlns:a16="http://schemas.microsoft.com/office/drawing/2014/main" id="{14613F77-12BD-D1A4-94F5-8C067DAC4CBB}"/>
              </a:ext>
            </a:extLst>
          </p:cNvPr>
          <p:cNvSpPr>
            <a:spLocks/>
          </p:cNvSpPr>
          <p:nvPr/>
        </p:nvSpPr>
        <p:spPr bwMode="auto">
          <a:xfrm>
            <a:off x="8485188" y="6559550"/>
            <a:ext cx="2730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r" eaLnBrk="1"/>
            <a:fld id="{9017084D-3020-44DA-8389-0AAB1CAD9096}" type="slidenum">
              <a:rPr lang="es-ES_tradnl" altLang="es-ES" sz="1200">
                <a:solidFill>
                  <a:srgbClr val="FFFFFF"/>
                </a:solidFill>
              </a:rPr>
              <a:pPr algn="r" eaLnBrk="1"/>
              <a:t>7</a:t>
            </a:fld>
            <a:endParaRPr lang="es-ES_tradnl" altLang="es-ES">
              <a:solidFill>
                <a:srgbClr val="000000"/>
              </a:solidFill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759988DB-B1CE-192C-D42E-B68B17258A7D}"/>
              </a:ext>
            </a:extLst>
          </p:cNvPr>
          <p:cNvSpPr>
            <a:spLocks/>
          </p:cNvSpPr>
          <p:nvPr/>
        </p:nvSpPr>
        <p:spPr bwMode="auto">
          <a:xfrm>
            <a:off x="446088" y="303213"/>
            <a:ext cx="56149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lIns="45720" rIns="45720">
            <a:spAutoFit/>
          </a:bodyPr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/>
            <a:r>
              <a:rPr lang="es-ES_tradnl" altLang="es-ES" sz="2800" dirty="0">
                <a:solidFill>
                  <a:srgbClr val="0098CD"/>
                </a:solidFill>
                <a:latin typeface="Arial " charset="0"/>
                <a:sym typeface="Arial Narrow" panose="020B0606020202030204" pitchFamily="34" charset="0"/>
              </a:rPr>
              <a:t>Evaluación y Validación</a:t>
            </a:r>
            <a:endParaRPr lang="es-ES_tradnl" altLang="es-ES" dirty="0">
              <a:solidFill>
                <a:srgbClr val="000000"/>
              </a:solidFill>
              <a:sym typeface="Arial Narrow" panose="020B0606020202030204" pitchFamily="34" charset="0"/>
            </a:endParaRP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27970A69-9BE3-7DF5-BD54-75B3BBDB593F}"/>
              </a:ext>
            </a:extLst>
          </p:cNvPr>
          <p:cNvSpPr>
            <a:spLocks/>
          </p:cNvSpPr>
          <p:nvPr/>
        </p:nvSpPr>
        <p:spPr bwMode="auto">
          <a:xfrm>
            <a:off x="49064" y="764704"/>
            <a:ext cx="3240360" cy="5632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wrap="square" lIns="45720" rIns="45720">
            <a:spAutoFit/>
          </a:bodyPr>
          <a:lstStyle>
            <a:lvl1pPr marL="2286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>
              <a:buClr>
                <a:srgbClr val="0098CD"/>
              </a:buClr>
              <a:buSzPct val="50000"/>
              <a:buFont typeface="Arial Narrow" panose="020B0606020202030204" pitchFamily="34" charset="0"/>
              <a:buChar char="►"/>
            </a:pPr>
            <a:r>
              <a:rPr lang="es-ES" altLang="es-ES" dirty="0" err="1">
                <a:sym typeface="Arial Narrow" panose="020B0606020202030204" pitchFamily="34" charset="0"/>
              </a:rPr>
              <a:t>Backtesting</a:t>
            </a:r>
            <a:r>
              <a:rPr lang="es-ES" altLang="es-ES" dirty="0">
                <a:sym typeface="Arial Narrow" panose="020B0606020202030204" pitchFamily="34" charset="0"/>
              </a:rPr>
              <a:t> Histórico: Simulación retrospectiva a 90 días con inyección de volatilidad de precios.</a:t>
            </a:r>
          </a:p>
          <a:p>
            <a:pPr marL="0" indent="0" eaLnBrk="1">
              <a:buClr>
                <a:srgbClr val="0098CD"/>
              </a:buClr>
              <a:buSzPct val="50000"/>
            </a:pPr>
            <a:endParaRPr lang="es-ES_tradnl" altLang="es-ES" dirty="0">
              <a:solidFill>
                <a:srgbClr val="0098CD"/>
              </a:solidFill>
              <a:sym typeface="Arial Narrow" panose="020B0606020202030204" pitchFamily="34" charset="0"/>
            </a:endParaRPr>
          </a:p>
          <a:p>
            <a:pPr eaLnBrk="1">
              <a:buClr>
                <a:srgbClr val="0098CD"/>
              </a:buClr>
              <a:buSzPct val="50000"/>
              <a:buFont typeface="Arial Narrow" panose="020B0606020202030204" pitchFamily="34" charset="0"/>
              <a:buChar char="►"/>
            </a:pPr>
            <a:r>
              <a:rPr lang="es-ES" altLang="es-ES" dirty="0">
                <a:sym typeface="Arial Narrow" panose="020B0606020202030204" pitchFamily="34" charset="0"/>
              </a:rPr>
              <a:t>Validación Biológica (KPI-3): 0.00 violaciones nutricionales (Restricciones NRC cumplidas).</a:t>
            </a:r>
          </a:p>
          <a:p>
            <a:pPr eaLnBrk="1">
              <a:buClr>
                <a:srgbClr val="0098CD"/>
              </a:buClr>
              <a:buSzPct val="50000"/>
              <a:buFont typeface="Arial Narrow" panose="020B0606020202030204" pitchFamily="34" charset="0"/>
              <a:buChar char="►"/>
            </a:pPr>
            <a:endParaRPr lang="es-ES" altLang="es-ES" dirty="0">
              <a:sym typeface="Arial Narrow" panose="020B0606020202030204" pitchFamily="34" charset="0"/>
            </a:endParaRPr>
          </a:p>
          <a:p>
            <a:pPr eaLnBrk="1">
              <a:buClr>
                <a:srgbClr val="0098CD"/>
              </a:buClr>
              <a:buSzPct val="50000"/>
              <a:buFont typeface="Arial Narrow" panose="020B0606020202030204" pitchFamily="34" charset="0"/>
              <a:buChar char="►"/>
            </a:pPr>
            <a:r>
              <a:rPr lang="es-ES" altLang="es-ES" dirty="0">
                <a:sym typeface="Arial Narrow" panose="020B0606020202030204" pitchFamily="34" charset="0"/>
              </a:rPr>
              <a:t>Calidad de la IA (KPI-1 y 2): &gt;92% de respuestas técnicas con citas verificables (Cero alucinaciones operativas).</a:t>
            </a:r>
          </a:p>
          <a:p>
            <a:pPr eaLnBrk="1">
              <a:buClr>
                <a:srgbClr val="0098CD"/>
              </a:buClr>
              <a:buSzPct val="50000"/>
              <a:buFont typeface="Arial Narrow" panose="020B0606020202030204" pitchFamily="34" charset="0"/>
              <a:buChar char="►"/>
            </a:pPr>
            <a:endParaRPr lang="es-ES" altLang="es-ES" dirty="0">
              <a:sym typeface="Arial Narrow" panose="020B0606020202030204" pitchFamily="34" charset="0"/>
            </a:endParaRPr>
          </a:p>
          <a:p>
            <a:pPr eaLnBrk="1">
              <a:buClr>
                <a:srgbClr val="0098CD"/>
              </a:buClr>
              <a:buSzPct val="50000"/>
              <a:buFont typeface="Arial Narrow" panose="020B0606020202030204" pitchFamily="34" charset="0"/>
              <a:buChar char="►"/>
            </a:pPr>
            <a:r>
              <a:rPr lang="es-ES" altLang="es-ES" dirty="0">
                <a:sym typeface="Arial Narrow" panose="020B0606020202030204" pitchFamily="34" charset="0"/>
              </a:rPr>
              <a:t>Éxito Económico (KPI-7): Reducción de costos consistente vs. la dieta empírica tradicional.</a:t>
            </a:r>
            <a:endParaRPr lang="es-ES_tradnl" altLang="es-ES" dirty="0">
              <a:sym typeface="Arial Narrow" panose="020B0606020202030204" pitchFamily="34" charset="0"/>
            </a:endParaRPr>
          </a:p>
        </p:txBody>
      </p:sp>
      <p:sp>
        <p:nvSpPr>
          <p:cNvPr id="10245" name="Marcador de número de diapositiva 1">
            <a:extLst>
              <a:ext uri="{FF2B5EF4-FFF2-40B4-BE49-F238E27FC236}">
                <a16:creationId xmlns:a16="http://schemas.microsoft.com/office/drawing/2014/main" id="{A2BF9D9B-E8F8-A56A-8561-8177AA0F61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AF944D2F-E8F5-42B9-B702-7664187F24A0}" type="slidenum">
              <a:rPr lang="es-ES_tradnl" altLang="es-ES">
                <a:solidFill>
                  <a:srgbClr val="FFFFFF"/>
                </a:solidFill>
              </a:rPr>
              <a:pPr/>
              <a:t>7</a:t>
            </a:fld>
            <a:endParaRPr lang="es-ES_tradnl" altLang="es-ES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CA2393-09A2-0A67-B212-BF066F66A4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8879" y="1066021"/>
            <a:ext cx="5493550" cy="16230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8296DA-9358-7FD1-08F9-9324E0ADD5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7301" y="3140968"/>
            <a:ext cx="5807182" cy="2815604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">
            <a:extLst>
              <a:ext uri="{FF2B5EF4-FFF2-40B4-BE49-F238E27FC236}">
                <a16:creationId xmlns:a16="http://schemas.microsoft.com/office/drawing/2014/main" id="{65CAF80F-7CEF-BDE5-A349-FA552D9C2FBE}"/>
              </a:ext>
            </a:extLst>
          </p:cNvPr>
          <p:cNvSpPr>
            <a:spLocks/>
          </p:cNvSpPr>
          <p:nvPr/>
        </p:nvSpPr>
        <p:spPr bwMode="auto">
          <a:xfrm>
            <a:off x="8485188" y="6559550"/>
            <a:ext cx="273050" cy="17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r" eaLnBrk="1"/>
            <a:fld id="{189C0FAF-C6A9-43A3-ABCD-39CEB2A3AE46}" type="slidenum">
              <a:rPr lang="es-ES_tradnl" altLang="es-ES" sz="1200">
                <a:solidFill>
                  <a:srgbClr val="FFFFFF"/>
                </a:solidFill>
              </a:rPr>
              <a:pPr algn="r" eaLnBrk="1"/>
              <a:t>8</a:t>
            </a:fld>
            <a:endParaRPr lang="es-ES_tradnl" altLang="es-ES">
              <a:solidFill>
                <a:srgbClr val="000000"/>
              </a:solidFill>
            </a:endParaRP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1640C20A-2BCC-AC52-EB3A-ADD8E5044CC7}"/>
              </a:ext>
            </a:extLst>
          </p:cNvPr>
          <p:cNvSpPr>
            <a:spLocks/>
          </p:cNvSpPr>
          <p:nvPr/>
        </p:nvSpPr>
        <p:spPr bwMode="auto">
          <a:xfrm>
            <a:off x="446088" y="303213"/>
            <a:ext cx="56149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lIns="45720" rIns="45720">
            <a:spAutoFit/>
          </a:bodyPr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/>
            <a:r>
              <a:rPr lang="es-ES_tradnl" altLang="es-ES" sz="2800">
                <a:solidFill>
                  <a:srgbClr val="0098CD"/>
                </a:solidFill>
                <a:latin typeface="Arial " charset="0"/>
                <a:sym typeface="Arial Narrow" panose="020B0606020202030204" pitchFamily="34" charset="0"/>
              </a:rPr>
              <a:t>Conclusiones</a:t>
            </a:r>
            <a:endParaRPr lang="es-ES_tradnl" altLang="es-ES">
              <a:solidFill>
                <a:srgbClr val="000000"/>
              </a:solidFill>
              <a:sym typeface="Arial Narrow" panose="020B0606020202030204" pitchFamily="34" charset="0"/>
            </a:endParaRPr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901AFA42-54E7-6F3E-ED09-85C368D8D462}"/>
              </a:ext>
            </a:extLst>
          </p:cNvPr>
          <p:cNvSpPr>
            <a:spLocks/>
          </p:cNvSpPr>
          <p:nvPr/>
        </p:nvSpPr>
        <p:spPr bwMode="auto">
          <a:xfrm>
            <a:off x="107504" y="980728"/>
            <a:ext cx="3463230" cy="2585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wrap="square" lIns="45720" rIns="45720">
            <a:spAutoFit/>
          </a:bodyPr>
          <a:lstStyle>
            <a:lvl1pPr marL="2286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>
              <a:buClr>
                <a:srgbClr val="0098CD"/>
              </a:buClr>
              <a:buSzPct val="50000"/>
              <a:buFont typeface="Arial Narrow" panose="020B0606020202030204" pitchFamily="34" charset="0"/>
              <a:buChar char="►"/>
            </a:pPr>
            <a:r>
              <a:rPr lang="es-ES" altLang="es-ES" dirty="0">
                <a:sym typeface="Arial Narrow" panose="020B0606020202030204" pitchFamily="34" charset="0"/>
              </a:rPr>
              <a:t>Problema Resuelto: Democratización de la optimización matemática para el pequeño productor.</a:t>
            </a:r>
          </a:p>
          <a:p>
            <a:pPr eaLnBrk="1">
              <a:buClr>
                <a:srgbClr val="0098CD"/>
              </a:buClr>
              <a:buSzPct val="50000"/>
              <a:buFont typeface="Arial Narrow" panose="020B0606020202030204" pitchFamily="34" charset="0"/>
              <a:buChar char="►"/>
            </a:pPr>
            <a:endParaRPr lang="es-ES_tradnl" altLang="es-ES" dirty="0">
              <a:solidFill>
                <a:srgbClr val="0098CD"/>
              </a:solidFill>
              <a:sym typeface="Arial Narrow" panose="020B0606020202030204" pitchFamily="34" charset="0"/>
            </a:endParaRPr>
          </a:p>
          <a:p>
            <a:pPr eaLnBrk="1">
              <a:buClr>
                <a:srgbClr val="0098CD"/>
              </a:buClr>
              <a:buSzPct val="50000"/>
              <a:buFont typeface="Arial Narrow" panose="020B0606020202030204" pitchFamily="34" charset="0"/>
              <a:buChar char="►"/>
            </a:pPr>
            <a:r>
              <a:rPr lang="es-ES" altLang="es-ES" dirty="0">
                <a:sym typeface="Arial Narrow" panose="020B0606020202030204" pitchFamily="34" charset="0"/>
              </a:rPr>
              <a:t>Precisión Científica: El cálculo determinista elimina el riesgo de la IA Generativa.</a:t>
            </a:r>
          </a:p>
          <a:p>
            <a:pPr eaLnBrk="1">
              <a:buClr>
                <a:srgbClr val="0098CD"/>
              </a:buClr>
              <a:buSzPct val="50000"/>
              <a:buFont typeface="Arial Narrow" panose="020B0606020202030204" pitchFamily="34" charset="0"/>
              <a:buChar char="►"/>
            </a:pPr>
            <a:endParaRPr lang="es-ES" altLang="es-ES" dirty="0">
              <a:sym typeface="Arial Narrow" panose="020B0606020202030204" pitchFamily="34" charset="0"/>
            </a:endParaRPr>
          </a:p>
        </p:txBody>
      </p:sp>
      <p:sp>
        <p:nvSpPr>
          <p:cNvPr id="11269" name="Marcador de número de diapositiva 1">
            <a:extLst>
              <a:ext uri="{FF2B5EF4-FFF2-40B4-BE49-F238E27FC236}">
                <a16:creationId xmlns:a16="http://schemas.microsoft.com/office/drawing/2014/main" id="{E1F8AEA2-71E9-584C-19AC-46BF9E470E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fld id="{1631B08D-D42A-4FD6-9899-6E113286B163}" type="slidenum">
              <a:rPr lang="es-ES_tradnl" altLang="es-ES">
                <a:solidFill>
                  <a:srgbClr val="FFFFFF"/>
                </a:solidFill>
              </a:rPr>
              <a:pPr/>
              <a:t>8</a:t>
            </a:fld>
            <a:endParaRPr lang="es-ES_tradnl" altLang="es-ES">
              <a:solidFill>
                <a:srgbClr val="FFFF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CC4D07-FEA3-549A-41B4-992A184EBB6B}"/>
              </a:ext>
            </a:extLst>
          </p:cNvPr>
          <p:cNvSpPr txBox="1"/>
          <p:nvPr/>
        </p:nvSpPr>
        <p:spPr>
          <a:xfrm>
            <a:off x="3848200" y="980728"/>
            <a:ext cx="531368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>
              <a:buClr>
                <a:srgbClr val="0098CD"/>
              </a:buClr>
              <a:buSzPct val="50000"/>
            </a:pPr>
            <a:r>
              <a:rPr lang="es-ES_tradnl" altLang="es-ES" dirty="0">
                <a:sym typeface="Arial Narrow" panose="020B0606020202030204" pitchFamily="34" charset="0"/>
              </a:rPr>
              <a:t>Trabajo Futuro:</a:t>
            </a:r>
          </a:p>
          <a:p>
            <a:pPr marL="0" indent="0" eaLnBrk="1">
              <a:buClr>
                <a:srgbClr val="0098CD"/>
              </a:buClr>
              <a:buSzPct val="50000"/>
            </a:pPr>
            <a:endParaRPr lang="es-ES_tradnl" altLang="es-ES" dirty="0">
              <a:sym typeface="Arial Narrow" panose="020B0606020202030204" pitchFamily="34" charset="0"/>
            </a:endParaRPr>
          </a:p>
          <a:p>
            <a:pPr eaLnBrk="1">
              <a:buClr>
                <a:srgbClr val="0098CD"/>
              </a:buClr>
              <a:buSzPct val="50000"/>
              <a:buFont typeface="Arial Narrow" panose="020B0606020202030204" pitchFamily="34" charset="0"/>
              <a:buChar char="►"/>
            </a:pPr>
            <a:r>
              <a:rPr lang="es-ES" altLang="es-ES" dirty="0">
                <a:sym typeface="Arial Narrow" panose="020B0606020202030204" pitchFamily="34" charset="0"/>
              </a:rPr>
              <a:t>Integración vía API con bolsas agrícolas.</a:t>
            </a:r>
          </a:p>
          <a:p>
            <a:pPr marL="0" indent="0" eaLnBrk="1">
              <a:buClr>
                <a:srgbClr val="0098CD"/>
              </a:buClr>
              <a:buSzPct val="50000"/>
            </a:pPr>
            <a:endParaRPr lang="es-ES" altLang="es-ES" dirty="0">
              <a:sym typeface="Arial Narrow" panose="020B0606020202030204" pitchFamily="34" charset="0"/>
            </a:endParaRPr>
          </a:p>
          <a:p>
            <a:pPr eaLnBrk="1">
              <a:buClr>
                <a:srgbClr val="0098CD"/>
              </a:buClr>
              <a:buSzPct val="50000"/>
              <a:buFont typeface="Arial Narrow" panose="020B0606020202030204" pitchFamily="34" charset="0"/>
              <a:buChar char="►"/>
            </a:pPr>
            <a:r>
              <a:rPr lang="es-ES_tradnl" altLang="es-ES" dirty="0">
                <a:sym typeface="Arial Narrow" panose="020B0606020202030204" pitchFamily="34" charset="0"/>
              </a:rPr>
              <a:t>Edge AI (Modelos SLM para operar sin internet).</a:t>
            </a:r>
          </a:p>
          <a:p>
            <a:pPr marL="0" indent="0" eaLnBrk="1">
              <a:buClr>
                <a:srgbClr val="0098CD"/>
              </a:buClr>
              <a:buSzPct val="50000"/>
            </a:pPr>
            <a:endParaRPr lang="es-ES_tradnl" altLang="es-ES" dirty="0">
              <a:sym typeface="Arial Narrow" panose="020B0606020202030204" pitchFamily="34" charset="0"/>
            </a:endParaRPr>
          </a:p>
          <a:p>
            <a:pPr eaLnBrk="1">
              <a:buClr>
                <a:srgbClr val="0098CD"/>
              </a:buClr>
              <a:buSzPct val="50000"/>
              <a:buFont typeface="Arial Narrow" panose="020B0606020202030204" pitchFamily="34" charset="0"/>
              <a:buChar char="►"/>
            </a:pPr>
            <a:r>
              <a:rPr lang="es-ES" altLang="es-ES" dirty="0">
                <a:sym typeface="Arial Narrow" panose="020B0606020202030204" pitchFamily="34" charset="0"/>
              </a:rPr>
              <a:t>Expansión transversal a avicultura y porcicultura.</a:t>
            </a:r>
            <a:endParaRPr lang="es-ES_tradnl" altLang="es-ES" dirty="0">
              <a:sym typeface="Arial Narrow" panose="020B0606020202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6AB512-F6F0-A2B9-2C55-76310D77C5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2924944"/>
            <a:ext cx="7956376" cy="340987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B316E149-CA04-A8E0-3EB5-20D8FD9D6D7E}"/>
              </a:ext>
            </a:extLst>
          </p:cNvPr>
          <p:cNvSpPr>
            <a:spLocks/>
          </p:cNvSpPr>
          <p:nvPr/>
        </p:nvSpPr>
        <p:spPr bwMode="auto">
          <a:xfrm>
            <a:off x="3922713" y="5881688"/>
            <a:ext cx="1704975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</a:extLst>
        </p:spPr>
        <p:txBody>
          <a:bodyPr wrap="none" lIns="45720" rIns="45720">
            <a:spAutoFit/>
          </a:bodyPr>
          <a:lstStyle>
            <a:lvl1pPr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37931725" indent="-37474525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535353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/>
            <a:r>
              <a:rPr lang="es-ES_tradnl" altLang="es-ES" sz="2200">
                <a:solidFill>
                  <a:srgbClr val="989898"/>
                </a:solidFill>
                <a:sym typeface="Arial Narrow" panose="020B0606020202030204" pitchFamily="34" charset="0"/>
              </a:rPr>
              <a:t>www.unir.net</a:t>
            </a:r>
            <a:endParaRPr lang="es-ES_tradnl" altLang="es-ES">
              <a:solidFill>
                <a:srgbClr val="000000"/>
              </a:solidFill>
              <a:sym typeface="Arial Narrow" panose="020B0606020202030204" pitchFamily="34" charset="0"/>
            </a:endParaRPr>
          </a:p>
        </p:txBody>
      </p:sp>
      <p:pic>
        <p:nvPicPr>
          <p:cNvPr id="12291" name="Picture 1">
            <a:extLst>
              <a:ext uri="{FF2B5EF4-FFF2-40B4-BE49-F238E27FC236}">
                <a16:creationId xmlns:a16="http://schemas.microsoft.com/office/drawing/2014/main" id="{BA26861D-58FD-AC8E-AB9D-D06EF6EEFE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9500" y="1484313"/>
            <a:ext cx="4454525" cy="307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Default">
  <a:themeElements>
    <a:clrScheme name="">
      <a:dk1>
        <a:srgbClr val="535353"/>
      </a:dk1>
      <a:lt1>
        <a:srgbClr val="FFFFFF"/>
      </a:lt1>
      <a:dk2>
        <a:srgbClr val="A7A7A7"/>
      </a:dk2>
      <a:lt2>
        <a:srgbClr val="535353"/>
      </a:lt2>
      <a:accent1>
        <a:srgbClr val="0F7EC5"/>
      </a:accent1>
      <a:accent2>
        <a:srgbClr val="11A1FF"/>
      </a:accent2>
      <a:accent3>
        <a:srgbClr val="FFFFFF"/>
      </a:accent3>
      <a:accent4>
        <a:srgbClr val="464646"/>
      </a:accent4>
      <a:accent5>
        <a:srgbClr val="AAC0DF"/>
      </a:accent5>
      <a:accent6>
        <a:srgbClr val="0E91E7"/>
      </a:accent6>
      <a:hlink>
        <a:srgbClr val="0000FF"/>
      </a:hlink>
      <a:folHlink>
        <a:srgbClr val="FF00FF"/>
      </a:folHlink>
    </a:clrScheme>
    <a:fontScheme name="Default">
      <a:majorFont>
        <a:latin typeface="Arial Narrow"/>
        <a:ea typeface="Arial Narrow"/>
        <a:cs typeface="Arial Narrow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25400" cap="flat" cmpd="sng" algn="ctr">
          <a:solidFill>
            <a:srgbClr val="0F7EC5"/>
          </a:solidFill>
          <a:prstDash val="solid"/>
          <a:bevel/>
          <a:headEnd type="none" w="med" len="med"/>
          <a:tailEnd type="none" w="med" len="med"/>
        </a:ln>
        <a:effectLst/>
      </a:spPr>
      <a:bodyPr vert="horz" wrap="square" lIns="45720" tIns="45720" rIns="45720" bIns="45720" numCol="1" anchor="ctr" anchorCtr="0" compatLnSpc="1">
        <a:prstTxWarp prst="textNoShape">
          <a:avLst/>
        </a:prstTxWarp>
        <a:spAutoFit/>
      </a:bodyPr>
      <a:lstStyle>
        <a:defPPr marL="0" marR="0" indent="0" algn="l" defTabSz="4572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_tradnl" sz="1800" b="0" i="0" u="none" strike="noStrike" cap="none" normalizeH="0" baseline="0">
            <a:ln>
              <a:noFill/>
            </a:ln>
            <a:solidFill>
              <a:srgbClr val="535353"/>
            </a:solidFill>
            <a:effectLst/>
            <a:latin typeface="Arial" charset="0"/>
            <a:ea typeface="Arial" charset="0"/>
            <a:cs typeface="Arial" charset="0"/>
            <a:sym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25400" cap="flat" cmpd="sng" algn="ctr">
          <a:solidFill>
            <a:srgbClr val="0F7EC5"/>
          </a:solidFill>
          <a:prstDash val="solid"/>
          <a:bevel/>
          <a:headEnd type="none" w="med" len="med"/>
          <a:tailEnd type="none" w="med" len="med"/>
        </a:ln>
        <a:effectLst/>
      </a:spPr>
      <a:bodyPr vert="horz" wrap="square" lIns="45720" tIns="45720" rIns="45720" bIns="45720" numCol="1" anchor="ctr" anchorCtr="0" compatLnSpc="1">
        <a:prstTxWarp prst="textNoShape">
          <a:avLst/>
        </a:prstTxWarp>
        <a:spAutoFit/>
      </a:bodyPr>
      <a:lstStyle>
        <a:defPPr marL="0" marR="0" indent="0" algn="l" defTabSz="4572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_tradnl" sz="1800" b="0" i="0" u="none" strike="noStrike" cap="none" normalizeH="0" baseline="0">
            <a:ln>
              <a:noFill/>
            </a:ln>
            <a:solidFill>
              <a:srgbClr val="535353"/>
            </a:solidFill>
            <a:effectLst/>
            <a:latin typeface="Arial" charset="0"/>
            <a:ea typeface="Arial" charset="0"/>
            <a:cs typeface="Arial" charset="0"/>
            <a:sym typeface="Arial" charset="0"/>
          </a:defRPr>
        </a:defPPr>
      </a:lstStyle>
    </a:lnDef>
  </a:objectDefaults>
  <a:extraClrSchemeLst/>
</a:theme>
</file>

<file path=ppt/theme/theme2.xml><?xml version="1.0" encoding="utf-8"?>
<a:theme xmlns:a="http://schemas.openxmlformats.org/drawingml/2006/main" name="Default - 1_Quote slide">
  <a:themeElements>
    <a:clrScheme name="">
      <a:dk1>
        <a:srgbClr val="535353"/>
      </a:dk1>
      <a:lt1>
        <a:srgbClr val="FFFFFF"/>
      </a:lt1>
      <a:dk2>
        <a:srgbClr val="A7A7A7"/>
      </a:dk2>
      <a:lt2>
        <a:srgbClr val="535353"/>
      </a:lt2>
      <a:accent1>
        <a:srgbClr val="0F7EC5"/>
      </a:accent1>
      <a:accent2>
        <a:srgbClr val="11A1FF"/>
      </a:accent2>
      <a:accent3>
        <a:srgbClr val="FFFFFF"/>
      </a:accent3>
      <a:accent4>
        <a:srgbClr val="464646"/>
      </a:accent4>
      <a:accent5>
        <a:srgbClr val="AAC0DF"/>
      </a:accent5>
      <a:accent6>
        <a:srgbClr val="0E91E7"/>
      </a:accent6>
      <a:hlink>
        <a:srgbClr val="0000FF"/>
      </a:hlink>
      <a:folHlink>
        <a:srgbClr val="FF00FF"/>
      </a:folHlink>
    </a:clrScheme>
    <a:fontScheme name="Default - 1_Quote slide">
      <a:majorFont>
        <a:latin typeface="Arial Narrow"/>
        <a:ea typeface="Arial Narrow"/>
        <a:cs typeface="Arial Narrow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25400" cap="flat" cmpd="sng" algn="ctr">
          <a:solidFill>
            <a:srgbClr val="0F7EC5"/>
          </a:solidFill>
          <a:prstDash val="solid"/>
          <a:bevel/>
          <a:headEnd type="none" w="med" len="med"/>
          <a:tailEnd type="none" w="med" len="med"/>
        </a:ln>
        <a:effectLst/>
      </a:spPr>
      <a:bodyPr vert="horz" wrap="square" lIns="45720" tIns="45720" rIns="45720" bIns="45720" numCol="1" anchor="ctr" anchorCtr="0" compatLnSpc="1">
        <a:prstTxWarp prst="textNoShape">
          <a:avLst/>
        </a:prstTxWarp>
        <a:spAutoFit/>
      </a:bodyPr>
      <a:lstStyle>
        <a:defPPr marL="0" marR="0" indent="0" algn="l" defTabSz="4572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_tradnl" sz="1800" b="0" i="0" u="none" strike="noStrike" cap="none" normalizeH="0" baseline="0">
            <a:ln>
              <a:noFill/>
            </a:ln>
            <a:solidFill>
              <a:srgbClr val="535353"/>
            </a:solidFill>
            <a:effectLst/>
            <a:latin typeface="Arial" charset="0"/>
            <a:ea typeface="Arial" charset="0"/>
            <a:cs typeface="Arial" charset="0"/>
            <a:sym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25400" cap="flat" cmpd="sng" algn="ctr">
          <a:solidFill>
            <a:srgbClr val="0F7EC5"/>
          </a:solidFill>
          <a:prstDash val="solid"/>
          <a:bevel/>
          <a:headEnd type="none" w="med" len="med"/>
          <a:tailEnd type="none" w="med" len="med"/>
        </a:ln>
        <a:effectLst/>
      </a:spPr>
      <a:bodyPr vert="horz" wrap="square" lIns="45720" tIns="45720" rIns="45720" bIns="45720" numCol="1" anchor="ctr" anchorCtr="0" compatLnSpc="1">
        <a:prstTxWarp prst="textNoShape">
          <a:avLst/>
        </a:prstTxWarp>
        <a:spAutoFit/>
      </a:bodyPr>
      <a:lstStyle>
        <a:defPPr marL="0" marR="0" indent="0" algn="l" defTabSz="4572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_tradnl" sz="1800" b="0" i="0" u="none" strike="noStrike" cap="none" normalizeH="0" baseline="0">
            <a:ln>
              <a:noFill/>
            </a:ln>
            <a:solidFill>
              <a:srgbClr val="535353"/>
            </a:solidFill>
            <a:effectLst/>
            <a:latin typeface="Arial" charset="0"/>
            <a:ea typeface="Arial" charset="0"/>
            <a:cs typeface="Arial" charset="0"/>
            <a:sym typeface="Arial" charset="0"/>
          </a:defRPr>
        </a:defPPr>
      </a:lstStyle>
    </a:lnDef>
  </a:objectDefaults>
  <a:extraClrSchemeLst/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F7EC5"/>
      </a:accent1>
      <a:accent2>
        <a:srgbClr val="11A1FF"/>
      </a:accent2>
      <a:accent3>
        <a:srgbClr val="FFFFFF"/>
      </a:accent3>
      <a:accent4>
        <a:srgbClr val="000000"/>
      </a:accent4>
      <a:accent5>
        <a:srgbClr val="AAC0DF"/>
      </a:accent5>
      <a:accent6>
        <a:srgbClr val="0E91E7"/>
      </a:accent6>
      <a:hlink>
        <a:srgbClr val="0000FF"/>
      </a:hlink>
      <a:folHlink>
        <a:srgbClr val="FF00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LongProperties xmlns="http://schemas.microsoft.com/office/2006/metadata/longProperties"/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F3D7C797EA12745A270EF30E38719B9" ma:contentTypeVersion="13" ma:contentTypeDescription="Crear nuevo documento." ma:contentTypeScope="" ma:versionID="feff0f29e077e72dd6fa6953df5d7371">
  <xsd:schema xmlns:xsd="http://www.w3.org/2001/XMLSchema" xmlns:xs="http://www.w3.org/2001/XMLSchema" xmlns:p="http://schemas.microsoft.com/office/2006/metadata/properties" xmlns:ns2="0a70e875-3d35-4be2-921f-7117c31bab9b" xmlns:ns3="27c1adeb-3674-457c-b08c-8a73f31b6e23" targetNamespace="http://schemas.microsoft.com/office/2006/metadata/properties" ma:root="true" ma:fieldsID="9b4256d1cddb2683194a131f56fe33cb" ns2:_="" ns3:_="">
    <xsd:import namespace="0a70e875-3d35-4be2-921f-7117c31bab9b"/>
    <xsd:import namespace="27c1adeb-3674-457c-b08c-8a73f31b6e23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70e875-3d35-4be2-921f-7117c31bab9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c1adeb-3674-457c-b08c-8a73f31b6e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AD16EB9-01B6-4776-9665-B804093F677B}">
  <ds:schemaRefs>
    <ds:schemaRef ds:uri="http://schemas.microsoft.com/office/2006/metadata/longProperties"/>
  </ds:schemaRefs>
</ds:datastoreItem>
</file>

<file path=customXml/itemProps2.xml><?xml version="1.0" encoding="utf-8"?>
<ds:datastoreItem xmlns:ds="http://schemas.openxmlformats.org/officeDocument/2006/customXml" ds:itemID="{C64FDB34-1A9E-4DB8-B4E4-60C039870F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a70e875-3d35-4be2-921f-7117c31bab9b"/>
    <ds:schemaRef ds:uri="27c1adeb-3674-457c-b08c-8a73f31b6e2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0B1355A-36E7-4AD5-952F-CBF38F156E8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621</TotalTime>
  <Words>1763</Words>
  <Application>Microsoft Macintosh PowerPoint</Application>
  <PresentationFormat>On-screen Show (4:3)</PresentationFormat>
  <Paragraphs>112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Arial </vt:lpstr>
      <vt:lpstr>Arial Narrow</vt:lpstr>
      <vt:lpstr>Avenir</vt:lpstr>
      <vt:lpstr>Unit</vt:lpstr>
      <vt:lpstr>Default</vt:lpstr>
      <vt:lpstr>Default - 1_Quote slide</vt:lpstr>
      <vt:lpstr>Sistema para Optimización Económica de Dietas Bovinas en Entornos de Datos Escaso (Caporal AI)     Trabajo de Innovación en IA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de la asignatura</dc:title>
  <dc:creator>María Gómez Espinosa</dc:creator>
  <cp:lastModifiedBy>juan carlos avila resendiz</cp:lastModifiedBy>
  <cp:revision>22</cp:revision>
  <dcterms:modified xsi:type="dcterms:W3CDTF">2026-04-11T23:19:21Z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isplay_urn:schemas-microsoft-com:office:office#SharedWithUsers">
    <vt:lpwstr>Montserrat Boix Teruel;Cristina Jiménez Hernández</vt:lpwstr>
  </property>
  <property fmtid="{D5CDD505-2E9C-101B-9397-08002B2CF9AE}" pid="3" name="SharedWithUsers">
    <vt:lpwstr>1683;#Montserrat Boix Teruel;#2148;#Cristina Jiménez Hernández</vt:lpwstr>
  </property>
</Properties>
</file>