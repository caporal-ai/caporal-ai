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erverZoom="100000" strictFirstAndLastChars="0" saveSubsetFonts="1" autoCompressPictures="0">
  <p:sldMasterIdLst>
    <p:sldMasterId id="2147483648" r:id="rId4"/>
    <p:sldMasterId id="2147483649" r:id="rId5"/>
  </p:sldMasterIdLst>
  <p:notesMasterIdLst>
    <p:notesMasterId r:id="rId15"/>
  </p:notesMasterIdLst>
  <p:handoutMasterIdLst>
    <p:handoutMasterId r:id="rId16"/>
  </p:handoutMasterIdLst>
  <p:sldIdLst>
    <p:sldId id="256" r:id="rId6"/>
    <p:sldId id="257" r:id="rId7"/>
    <p:sldId id="258" r:id="rId8"/>
    <p:sldId id="261" r:id="rId9"/>
    <p:sldId id="262" r:id="rId10"/>
    <p:sldId id="265" r:id="rId11"/>
    <p:sldId id="263" r:id="rId12"/>
    <p:sldId id="264" r:id="rId13"/>
    <p:sldId id="260" r:id="rId14"/>
  </p:sldIdLst>
  <p:sldSz cx="9144000" cy="6858000" type="screen4x3"/>
  <p:notesSz cx="6858000" cy="9144000"/>
  <p:defaultTextStyle>
    <a:defPPr>
      <a:defRPr lang="es-ES_tradnl"/>
    </a:defPPr>
    <a:lvl1pPr algn="l" defTabSz="457200" rtl="0" eaLnBrk="0" fontAlgn="base" hangingPunct="0">
      <a:spcBef>
        <a:spcPct val="0"/>
      </a:spcBef>
      <a:spcAft>
        <a:spcPct val="0"/>
      </a:spcAft>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1pPr>
    <a:lvl2pPr marL="457200" algn="l" defTabSz="457200" rtl="0" eaLnBrk="0" fontAlgn="base" hangingPunct="0">
      <a:spcBef>
        <a:spcPct val="0"/>
      </a:spcBef>
      <a:spcAft>
        <a:spcPct val="0"/>
      </a:spcAft>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defTabSz="457200" rtl="0" eaLnBrk="0" fontAlgn="base" hangingPunct="0">
      <a:spcBef>
        <a:spcPct val="0"/>
      </a:spcBef>
      <a:spcAft>
        <a:spcPct val="0"/>
      </a:spcAft>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defTabSz="457200" rtl="0" eaLnBrk="0" fontAlgn="base" hangingPunct="0">
      <a:spcBef>
        <a:spcPct val="0"/>
      </a:spcBef>
      <a:spcAft>
        <a:spcPct val="0"/>
      </a:spcAft>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defTabSz="457200" rtl="0" eaLnBrk="0" fontAlgn="base" hangingPunct="0">
      <a:spcBef>
        <a:spcPct val="0"/>
      </a:spcBef>
      <a:spcAft>
        <a:spcPct val="0"/>
      </a:spcAft>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kern="1200">
        <a:solidFill>
          <a:srgbClr val="535353"/>
        </a:solidFill>
        <a:latin typeface="Arial" panose="020B0604020202020204" pitchFamily="34" charset="0"/>
        <a:ea typeface="+mn-ea"/>
        <a:cs typeface="Arial" panose="020B0604020202020204" pitchFamily="34" charset="0"/>
        <a:sym typeface="Arial" panose="020B0604020202020204" pitchFamily="34"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686"/>
    <p:restoredTop sz="80095" autoAdjust="0"/>
  </p:normalViewPr>
  <p:slideViewPr>
    <p:cSldViewPr>
      <p:cViewPr varScale="1">
        <p:scale>
          <a:sx n="91" d="100"/>
          <a:sy n="91" d="100"/>
        </p:scale>
        <p:origin x="2064" y="306"/>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2.xml"/><Relationship Id="rId15" Type="http://schemas.openxmlformats.org/officeDocument/2006/relationships/notesMaster" Target="notesMasters/notesMaster1.xml"/><Relationship Id="rId10" Type="http://schemas.openxmlformats.org/officeDocument/2006/relationships/slide" Target="slides/slide5.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3A0850F-5E31-7B7D-F2EB-ED79C3FFC1A4}"/>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a:defRPr sz="1200"/>
            </a:lvl1pPr>
          </a:lstStyle>
          <a:p>
            <a:pPr>
              <a:defRPr/>
            </a:pPr>
            <a:endParaRPr lang="en-US" altLang="es-ES"/>
          </a:p>
        </p:txBody>
      </p:sp>
      <p:sp>
        <p:nvSpPr>
          <p:cNvPr id="3" name="Date Placeholder 2">
            <a:extLst>
              <a:ext uri="{FF2B5EF4-FFF2-40B4-BE49-F238E27FC236}">
                <a16:creationId xmlns:a16="http://schemas.microsoft.com/office/drawing/2014/main" id="{F8CE2A16-49F1-EF3B-AA94-C68E0769F78C}"/>
              </a:ext>
            </a:extLst>
          </p:cNvPr>
          <p:cNvSpPr>
            <a:spLocks noGrp="1"/>
          </p:cNvSpPr>
          <p:nvPr>
            <p:ph type="dt" sz="quarter"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eaLnBrk="1">
              <a:defRPr sz="1200"/>
            </a:lvl1pPr>
          </a:lstStyle>
          <a:p>
            <a:pPr>
              <a:defRPr/>
            </a:pPr>
            <a:fld id="{4F08F45D-03D4-4A96-815B-6B02B79F362B}" type="datetimeFigureOut">
              <a:rPr lang="en-US" altLang="es-ES"/>
              <a:pPr>
                <a:defRPr/>
              </a:pPr>
              <a:t>3/27/2026</a:t>
            </a:fld>
            <a:endParaRPr lang="en-US" altLang="es-ES"/>
          </a:p>
        </p:txBody>
      </p:sp>
      <p:sp>
        <p:nvSpPr>
          <p:cNvPr id="4" name="Footer Placeholder 3">
            <a:extLst>
              <a:ext uri="{FF2B5EF4-FFF2-40B4-BE49-F238E27FC236}">
                <a16:creationId xmlns:a16="http://schemas.microsoft.com/office/drawing/2014/main" id="{665A1A3F-3D5E-D1F9-EA12-CF29B37CAC87}"/>
              </a:ext>
            </a:extLst>
          </p:cNvPr>
          <p:cNvSpPr>
            <a:spLocks noGrp="1"/>
          </p:cNvSpPr>
          <p:nvPr>
            <p:ph type="ftr" sz="quarter" idx="2"/>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a:defRPr sz="1200"/>
            </a:lvl1pPr>
          </a:lstStyle>
          <a:p>
            <a:pPr>
              <a:defRPr/>
            </a:pPr>
            <a:endParaRPr lang="en-US" altLang="es-ES"/>
          </a:p>
        </p:txBody>
      </p:sp>
      <p:sp>
        <p:nvSpPr>
          <p:cNvPr id="5" name="Slide Number Placeholder 4">
            <a:extLst>
              <a:ext uri="{FF2B5EF4-FFF2-40B4-BE49-F238E27FC236}">
                <a16:creationId xmlns:a16="http://schemas.microsoft.com/office/drawing/2014/main" id="{74577E62-94A0-DAB9-4A7C-F2B877B352FB}"/>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a:defRPr sz="1200" smtClean="0"/>
            </a:lvl1pPr>
          </a:lstStyle>
          <a:p>
            <a:pPr>
              <a:defRPr/>
            </a:pPr>
            <a:fld id="{8333745D-3D85-42D7-B480-34A98251EE3F}" type="slidenum">
              <a:rPr lang="en-US" altLang="es-ES"/>
              <a:pPr>
                <a:defRPr/>
              </a:pPr>
              <a:t>‹#›</a:t>
            </a:fld>
            <a:endParaRPr lang="en-US" altLang="es-E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4" name="Rectangle 1">
            <a:extLst>
              <a:ext uri="{FF2B5EF4-FFF2-40B4-BE49-F238E27FC236}">
                <a16:creationId xmlns:a16="http://schemas.microsoft.com/office/drawing/2014/main" id="{C8E90E0F-BD66-2851-6981-C0DCEAD43D87}"/>
              </a:ext>
            </a:extLst>
          </p:cNvPr>
          <p:cNvSpPr>
            <a:spLocks noGrp="1" noRot="1" noChangeAspect="1"/>
          </p:cNvSpPr>
          <p:nvPr>
            <p:ph type="sldImg"/>
          </p:nvPr>
        </p:nvSpPr>
        <p:spPr bwMode="auto">
          <a:xfrm>
            <a:off x="1143000" y="685800"/>
            <a:ext cx="4572000" cy="3429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headEnd/>
                <a:tailEnd/>
              </a14:hiddenLine>
            </a:ext>
          </a:extLst>
        </p:spPr>
      </p:sp>
      <p:sp>
        <p:nvSpPr>
          <p:cNvPr id="2" name="Rectangle 2">
            <a:extLst>
              <a:ext uri="{FF2B5EF4-FFF2-40B4-BE49-F238E27FC236}">
                <a16:creationId xmlns:a16="http://schemas.microsoft.com/office/drawing/2014/main" id="{0BB537F3-B2BF-3A66-26C4-144CE90F0090}"/>
              </a:ext>
            </a:extLst>
          </p:cNvPr>
          <p:cNvSpPr>
            <a:spLocks noGrp="1"/>
          </p:cNvSpPr>
          <p:nvPr>
            <p:ph type="body" sz="quarter" idx="1"/>
          </p:nvPr>
        </p:nvSpPr>
        <p:spPr bwMode="auto">
          <a:xfrm>
            <a:off x="914400" y="4343400"/>
            <a:ext cx="5029200" cy="4114800"/>
          </a:xfrm>
          <a:prstGeom prst="rect">
            <a:avLst/>
          </a:prstGeom>
          <a:noFill/>
          <a:ln w="9525" cap="flat" cmpd="sng">
            <a:noFill/>
            <a:prstDash val="solid"/>
            <a:bevel/>
            <a:headEnd type="none" w="med" len="med"/>
            <a:tailEnd type="none" w="med" len="med"/>
          </a:ln>
          <a:effectLst/>
        </p:spPr>
        <p:txBody>
          <a:bodyPr vert="horz" wrap="square" lIns="91440" tIns="45720" rIns="91440" bIns="45720" numCol="1" anchor="t" anchorCtr="0" compatLnSpc="1">
            <a:prstTxWarp prst="textNoShape">
              <a:avLst/>
            </a:prstTxWarp>
          </a:bodyPr>
          <a:lstStyle/>
          <a:p>
            <a:pPr lvl="0"/>
            <a:r>
              <a:rPr lang="es-ES_tradnl" altLang="x-none" noProof="0">
                <a:sym typeface="Avenir Roman" charset="0"/>
              </a:rPr>
              <a:t>Click to edit Master text styles</a:t>
            </a:r>
          </a:p>
          <a:p>
            <a:pPr lvl="1"/>
            <a:r>
              <a:rPr lang="es-ES_tradnl" altLang="x-none" noProof="0">
                <a:sym typeface="Avenir Roman" charset="0"/>
              </a:rPr>
              <a:t>Second level</a:t>
            </a:r>
          </a:p>
          <a:p>
            <a:pPr lvl="2"/>
            <a:r>
              <a:rPr lang="es-ES_tradnl" altLang="x-none" noProof="0">
                <a:sym typeface="Avenir Roman" charset="0"/>
              </a:rPr>
              <a:t>Third level</a:t>
            </a:r>
          </a:p>
          <a:p>
            <a:pPr lvl="3"/>
            <a:r>
              <a:rPr lang="es-ES_tradnl" altLang="x-none" noProof="0">
                <a:sym typeface="Avenir Roman" charset="0"/>
              </a:rPr>
              <a:t>Fourth level</a:t>
            </a:r>
          </a:p>
          <a:p>
            <a:pPr lvl="4"/>
            <a:r>
              <a:rPr lang="es-ES_tradnl" altLang="x-none" noProof="0">
                <a:sym typeface="Avenir Roman" charset="0"/>
              </a:rPr>
              <a:t>Fifth level</a:t>
            </a:r>
          </a:p>
        </p:txBody>
      </p:sp>
    </p:spTree>
  </p:cSld>
  <p:clrMap bg1="lt1" tx1="dk1" bg2="lt2" tx2="dk2" accent1="accent1" accent2="accent2" accent3="accent3" accent4="accent4" accent5="accent5" accent6="accent6" hlink="hlink" folHlink="folHlink"/>
  <p:notesStyle>
    <a:lvl1pPr algn="l" defTabSz="457200" rtl="0" eaLnBrk="0" fontAlgn="base" hangingPunct="0">
      <a:lnSpc>
        <a:spcPct val="125000"/>
      </a:lnSpc>
      <a:spcBef>
        <a:spcPct val="0"/>
      </a:spcBef>
      <a:spcAft>
        <a:spcPct val="0"/>
      </a:spcAft>
      <a:defRPr sz="2400" kern="1200">
        <a:solidFill>
          <a:srgbClr val="000000"/>
        </a:solidFill>
        <a:latin typeface="Avenir Roman" charset="0"/>
        <a:ea typeface="Avenir Roman" charset="0"/>
        <a:cs typeface="Avenir Roman" charset="0"/>
        <a:sym typeface="Avenir Roman" charset="0"/>
      </a:defRPr>
    </a:lvl1pPr>
    <a:lvl2pPr indent="228600" algn="l" defTabSz="457200" rtl="0" eaLnBrk="0" fontAlgn="base" hangingPunct="0">
      <a:lnSpc>
        <a:spcPct val="125000"/>
      </a:lnSpc>
      <a:spcBef>
        <a:spcPct val="0"/>
      </a:spcBef>
      <a:spcAft>
        <a:spcPct val="0"/>
      </a:spcAft>
      <a:defRPr sz="2400" kern="1200">
        <a:solidFill>
          <a:srgbClr val="000000"/>
        </a:solidFill>
        <a:latin typeface="Avenir Roman" charset="0"/>
        <a:ea typeface="Avenir Roman" charset="0"/>
        <a:cs typeface="Avenir Roman" charset="0"/>
        <a:sym typeface="Avenir Roman" charset="0"/>
      </a:defRPr>
    </a:lvl2pPr>
    <a:lvl3pPr indent="457200" algn="l" defTabSz="457200" rtl="0" eaLnBrk="0" fontAlgn="base" hangingPunct="0">
      <a:lnSpc>
        <a:spcPct val="125000"/>
      </a:lnSpc>
      <a:spcBef>
        <a:spcPct val="0"/>
      </a:spcBef>
      <a:spcAft>
        <a:spcPct val="0"/>
      </a:spcAft>
      <a:defRPr sz="2400" kern="1200">
        <a:solidFill>
          <a:srgbClr val="000000"/>
        </a:solidFill>
        <a:latin typeface="Avenir Roman" charset="0"/>
        <a:ea typeface="Avenir Roman" charset="0"/>
        <a:cs typeface="Avenir Roman" charset="0"/>
        <a:sym typeface="Avenir Roman" charset="0"/>
      </a:defRPr>
    </a:lvl3pPr>
    <a:lvl4pPr indent="685800" algn="l" defTabSz="457200" rtl="0" eaLnBrk="0" fontAlgn="base" hangingPunct="0">
      <a:lnSpc>
        <a:spcPct val="125000"/>
      </a:lnSpc>
      <a:spcBef>
        <a:spcPct val="0"/>
      </a:spcBef>
      <a:spcAft>
        <a:spcPct val="0"/>
      </a:spcAft>
      <a:defRPr sz="2400" kern="1200">
        <a:solidFill>
          <a:srgbClr val="000000"/>
        </a:solidFill>
        <a:latin typeface="Avenir Roman" charset="0"/>
        <a:ea typeface="Avenir Roman" charset="0"/>
        <a:cs typeface="Avenir Roman" charset="0"/>
        <a:sym typeface="Avenir Roman" charset="0"/>
      </a:defRPr>
    </a:lvl4pPr>
    <a:lvl5pPr indent="914400" algn="l" defTabSz="457200" rtl="0" eaLnBrk="0" fontAlgn="base" hangingPunct="0">
      <a:lnSpc>
        <a:spcPct val="125000"/>
      </a:lnSpc>
      <a:spcBef>
        <a:spcPct val="0"/>
      </a:spcBef>
      <a:spcAft>
        <a:spcPct val="0"/>
      </a:spcAft>
      <a:defRPr sz="2400" kern="1200">
        <a:solidFill>
          <a:srgbClr val="000000"/>
        </a:solidFill>
        <a:latin typeface="Avenir Roman" charset="0"/>
        <a:ea typeface="Avenir Roman" charset="0"/>
        <a:cs typeface="Avenir Roman" charset="0"/>
        <a:sym typeface="Avenir Roman" charset="0"/>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a:t>*   **Notas del Presentador:** *"Bienvenidos y muchas gracias al tribunal. Somos el Equipo 3005 y hoy les presentamos 'Caporal AI', nuestro Sistema para la Optimización Económica de Dietas Bovinas. En los próximos minutos, demostraremos cómo la Inteligencia Artificial híbrida puede democratizar la zootecnia de precisión y proteger el patrimonio de nuestros ganaderos mexicanos frente a la crisis climática e inflacionaria."*</a:t>
            </a:r>
          </a:p>
          <a:p>
            <a:endParaRPr lang="es-ES" dirty="0"/>
          </a:p>
          <a:p>
            <a:pPr marL="342900" indent="-342900">
              <a:buFont typeface="Arial" panose="020B0604020202020204" pitchFamily="34" charset="0"/>
              <a:buChar char="•"/>
            </a:pPr>
            <a:r>
              <a:rPr lang="es-ES" dirty="0"/>
              <a:t>**Sugerencia Visual:** Portada limpia y ejecutiva usando el logotipo de la Universidad (UNIR) tal como marca la plantilla oficial.</a:t>
            </a:r>
          </a:p>
          <a:p>
            <a:pPr marL="342900" indent="-342900">
              <a:buFont typeface="Arial" panose="020B0604020202020204" pitchFamily="34" charset="0"/>
              <a:buChar char="•"/>
            </a:pPr>
            <a:endParaRPr lang="es-ES" dirty="0"/>
          </a:p>
          <a:p>
            <a:pPr marL="342900" indent="-342900">
              <a:buFont typeface="Arial" panose="020B0604020202020204" pitchFamily="34" charset="0"/>
              <a:buChar char="•"/>
            </a:pPr>
            <a:endParaRPr lang="es-ES" dirty="0"/>
          </a:p>
          <a:p>
            <a:pPr marL="0" indent="0">
              <a:buFont typeface="Arial" panose="020B0604020202020204" pitchFamily="34" charset="0"/>
              <a:buNone/>
            </a:pPr>
            <a:r>
              <a:rPr lang="es-ES" dirty="0"/>
              <a:t>### 💡 Reglas de Oro para la grabación (Según Clase S04):</a:t>
            </a:r>
          </a:p>
          <a:p>
            <a:pPr marL="0" indent="0">
              <a:buFont typeface="Arial" panose="020B0604020202020204" pitchFamily="34" charset="0"/>
              <a:buNone/>
            </a:pPr>
            <a:r>
              <a:rPr lang="es-ES" dirty="0"/>
              <a:t>1. **Practiquen para no exceder los 10 minutos cronometrados.**</a:t>
            </a:r>
          </a:p>
          <a:p>
            <a:pPr marL="0" indent="0">
              <a:buFont typeface="Arial" panose="020B0604020202020204" pitchFamily="34" charset="0"/>
              <a:buNone/>
            </a:pPr>
            <a:r>
              <a:rPr lang="es-ES" dirty="0"/>
              <a:t>2. **Repártanse equitativamente las diapositivas; todos deben hablar.**</a:t>
            </a:r>
          </a:p>
          <a:p>
            <a:pPr marL="0" indent="0">
              <a:buFont typeface="Arial" panose="020B0604020202020204" pitchFamily="34" charset="0"/>
              <a:buNone/>
            </a:pPr>
            <a:r>
              <a:rPr lang="es-ES" dirty="0"/>
              <a:t>3. **Usen OBS Studio o </a:t>
            </a:r>
            <a:r>
              <a:rPr lang="es-ES" dirty="0" err="1"/>
              <a:t>Teams</a:t>
            </a:r>
            <a:r>
              <a:rPr lang="es-ES" dirty="0"/>
              <a:t>/Zoom.** Compartan pantalla con sus **cámaras encendidas** en todo momento.</a:t>
            </a:r>
          </a:p>
          <a:p>
            <a:pPr marL="0" indent="0">
              <a:buFont typeface="Arial" panose="020B0604020202020204" pitchFamily="34" charset="0"/>
              <a:buNone/>
            </a:pPr>
            <a:r>
              <a:rPr lang="es-ES" dirty="0"/>
              <a:t>4. **NO LEAN.** El texto de la PPT es de apoyo; el guion es para que lo estudien, lo hagan suyo y lo expliquen con naturalidad. La rúbrica prohíbe terminantemente leer mecánicamente.</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br>
              <a:rPr lang="en-US" dirty="0"/>
            </a:br>
            <a:r>
              <a:rPr lang="es-ES" b="1" dirty="0"/>
              <a:t>----------------------------------------------------------------------------------------------------------------------------------------------------------------------------------------------</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n-US" sz="2400" kern="1200" dirty="0">
                <a:solidFill>
                  <a:srgbClr val="000000"/>
                </a:solidFill>
                <a:effectLst/>
                <a:latin typeface="Avenir Roman" charset="0"/>
                <a:ea typeface="Avenir Roman" charset="0"/>
                <a:cs typeface="Avenir Roman" charset="0"/>
                <a:sym typeface="Avenir Roman" charset="0"/>
              </a:rPr>
              <a:t>[P1] "</a:t>
            </a:r>
            <a:r>
              <a:rPr lang="en-US" sz="2400" kern="1200" dirty="0" err="1">
                <a:solidFill>
                  <a:srgbClr val="000000"/>
                </a:solidFill>
                <a:effectLst/>
                <a:latin typeface="Avenir Roman" charset="0"/>
                <a:ea typeface="Avenir Roman" charset="0"/>
                <a:cs typeface="Avenir Roman" charset="0"/>
                <a:sym typeface="Avenir Roman" charset="0"/>
              </a:rPr>
              <a:t>Bienvenidos</a:t>
            </a:r>
            <a:r>
              <a:rPr lang="en-US" sz="2400" kern="1200" dirty="0">
                <a:solidFill>
                  <a:srgbClr val="000000"/>
                </a:solidFill>
                <a:effectLst/>
                <a:latin typeface="Avenir Roman" charset="0"/>
                <a:ea typeface="Avenir Roman" charset="0"/>
                <a:cs typeface="Avenir Roman" charset="0"/>
                <a:sym typeface="Avenir Roman" charset="0"/>
              </a:rPr>
              <a:t> y </a:t>
            </a:r>
            <a:r>
              <a:rPr lang="en-US" sz="2400" kern="1200" dirty="0" err="1">
                <a:solidFill>
                  <a:srgbClr val="000000"/>
                </a:solidFill>
                <a:effectLst/>
                <a:latin typeface="Avenir Roman" charset="0"/>
                <a:ea typeface="Avenir Roman" charset="0"/>
                <a:cs typeface="Avenir Roman" charset="0"/>
                <a:sym typeface="Avenir Roman" charset="0"/>
              </a:rPr>
              <a:t>muchas</a:t>
            </a:r>
            <a:r>
              <a:rPr lang="en-US" sz="2400" kern="1200" dirty="0">
                <a:solidFill>
                  <a:srgbClr val="000000"/>
                </a:solidFill>
                <a:effectLst/>
                <a:latin typeface="Avenir Roman" charset="0"/>
                <a:ea typeface="Avenir Roman" charset="0"/>
                <a:cs typeface="Avenir Roman" charset="0"/>
                <a:sym typeface="Avenir Roman" charset="0"/>
              </a:rPr>
              <a:t> gracias al tribunal. Somos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Equipo 3005, y hoy les </a:t>
            </a:r>
            <a:r>
              <a:rPr lang="en-US" sz="2400" kern="1200" dirty="0" err="1">
                <a:solidFill>
                  <a:srgbClr val="000000"/>
                </a:solidFill>
                <a:effectLst/>
                <a:latin typeface="Avenir Roman" charset="0"/>
                <a:ea typeface="Avenir Roman" charset="0"/>
                <a:cs typeface="Avenir Roman" charset="0"/>
                <a:sym typeface="Avenir Roman" charset="0"/>
              </a:rPr>
              <a:t>presentamos</a:t>
            </a:r>
            <a:r>
              <a:rPr lang="en-US" sz="2400" kern="1200" dirty="0">
                <a:solidFill>
                  <a:srgbClr val="000000"/>
                </a:solidFill>
                <a:effectLst/>
                <a:latin typeface="Avenir Roman" charset="0"/>
                <a:ea typeface="Avenir Roman" charset="0"/>
                <a:cs typeface="Avenir Roman" charset="0"/>
                <a:sym typeface="Avenir Roman" charset="0"/>
              </a:rPr>
              <a:t> Caporal AI: un Sistema para la </a:t>
            </a:r>
            <a:r>
              <a:rPr lang="en-US" sz="2400" kern="1200" dirty="0" err="1">
                <a:solidFill>
                  <a:srgbClr val="000000"/>
                </a:solidFill>
                <a:effectLst/>
                <a:latin typeface="Avenir Roman" charset="0"/>
                <a:ea typeface="Avenir Roman" charset="0"/>
                <a:cs typeface="Avenir Roman" charset="0"/>
                <a:sym typeface="Avenir Roman" charset="0"/>
              </a:rPr>
              <a:t>Optimización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Económica</a:t>
            </a:r>
            <a:r>
              <a:rPr lang="en-US" sz="2400" kern="1200" dirty="0">
                <a:solidFill>
                  <a:srgbClr val="000000"/>
                </a:solidFill>
                <a:effectLst/>
                <a:latin typeface="Avenir Roman" charset="0"/>
                <a:ea typeface="Avenir Roman" charset="0"/>
                <a:cs typeface="Avenir Roman" charset="0"/>
                <a:sym typeface="Avenir Roman" charset="0"/>
              </a:rPr>
              <a:t> de </a:t>
            </a:r>
            <a:r>
              <a:rPr lang="en-US" sz="2400" kern="1200" dirty="0" err="1">
                <a:solidFill>
                  <a:srgbClr val="000000"/>
                </a:solidFill>
                <a:effectLst/>
                <a:latin typeface="Avenir Roman" charset="0"/>
                <a:ea typeface="Avenir Roman" charset="0"/>
                <a:cs typeface="Avenir Roman" charset="0"/>
                <a:sym typeface="Avenir Roman" charset="0"/>
              </a:rPr>
              <a:t>Dietas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Bovinas</a:t>
            </a:r>
            <a:r>
              <a:rPr lang="en-US" sz="2400" kern="1200" dirty="0">
                <a:solidFill>
                  <a:srgbClr val="000000"/>
                </a:solidFill>
                <a:effectLst/>
                <a:latin typeface="Avenir Roman" charset="0"/>
                <a:ea typeface="Avenir Roman" charset="0"/>
                <a:cs typeface="Avenir Roman" charset="0"/>
                <a:sym typeface="Avenir Roman" charset="0"/>
              </a:rPr>
              <a: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[P2] "Durante </a:t>
            </a:r>
            <a:r>
              <a:rPr lang="en-US" sz="2400" kern="1200" dirty="0" err="1">
                <a:solidFill>
                  <a:srgbClr val="000000"/>
                </a:solidFill>
                <a:effectLst/>
                <a:latin typeface="Avenir Roman" charset="0"/>
                <a:ea typeface="Avenir Roman" charset="0"/>
                <a:cs typeface="Avenir Roman" charset="0"/>
                <a:sym typeface="Avenir Roman" charset="0"/>
              </a:rPr>
              <a:t>los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próximos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minutos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vamos</a:t>
            </a:r>
            <a:r>
              <a:rPr lang="en-US" sz="2400" kern="1200" dirty="0">
                <a:solidFill>
                  <a:srgbClr val="000000"/>
                </a:solidFill>
                <a:effectLst/>
                <a:latin typeface="Avenir Roman" charset="0"/>
                <a:ea typeface="Avenir Roman" charset="0"/>
                <a:cs typeface="Avenir Roman" charset="0"/>
                <a:sym typeface="Avenir Roman" charset="0"/>
              </a:rPr>
              <a:t> a </a:t>
            </a:r>
            <a:r>
              <a:rPr lang="en-US" sz="2400" kern="1200" dirty="0" err="1">
                <a:solidFill>
                  <a:srgbClr val="000000"/>
                </a:solidFill>
                <a:effectLst/>
                <a:latin typeface="Avenir Roman" charset="0"/>
                <a:ea typeface="Avenir Roman" charset="0"/>
                <a:cs typeface="Avenir Roman" charset="0"/>
                <a:sym typeface="Avenir Roman" charset="0"/>
              </a:rPr>
              <a:t>demostrar</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cómo</a:t>
            </a:r>
            <a:r>
              <a:rPr lang="en-US" sz="2400" kern="1200" dirty="0">
                <a:solidFill>
                  <a:srgbClr val="000000"/>
                </a:solidFill>
                <a:effectLst/>
                <a:latin typeface="Avenir Roman" charset="0"/>
                <a:ea typeface="Avenir Roman" charset="0"/>
                <a:cs typeface="Avenir Roman" charset="0"/>
                <a:sym typeface="Avenir Roman" charset="0"/>
              </a:rPr>
              <a:t> la </a:t>
            </a:r>
            <a:r>
              <a:rPr lang="en-US" sz="2400" kern="1200" dirty="0" err="1">
                <a:solidFill>
                  <a:srgbClr val="000000"/>
                </a:solidFill>
                <a:effectLst/>
                <a:latin typeface="Avenir Roman" charset="0"/>
                <a:ea typeface="Avenir Roman" charset="0"/>
                <a:cs typeface="Avenir Roman" charset="0"/>
                <a:sym typeface="Avenir Roman" charset="0"/>
              </a:rPr>
              <a:t>Inteligencia</a:t>
            </a:r>
            <a:r>
              <a:rPr lang="en-US" sz="2400" kern="1200" dirty="0">
                <a:solidFill>
                  <a:srgbClr val="000000"/>
                </a:solidFill>
                <a:effectLst/>
                <a:latin typeface="Avenir Roman" charset="0"/>
                <a:ea typeface="Avenir Roman" charset="0"/>
                <a:cs typeface="Avenir Roman" charset="0"/>
                <a:sym typeface="Avenir Roman" charset="0"/>
              </a:rPr>
              <a:t> Artificial </a:t>
            </a:r>
            <a:r>
              <a:rPr lang="en-US" sz="2400" kern="1200" dirty="0" err="1">
                <a:solidFill>
                  <a:srgbClr val="000000"/>
                </a:solidFill>
                <a:effectLst/>
                <a:latin typeface="Avenir Roman" charset="0"/>
                <a:ea typeface="Avenir Roman" charset="0"/>
                <a:cs typeface="Avenir Roman" charset="0"/>
                <a:sym typeface="Avenir Roman" charset="0"/>
              </a:rPr>
              <a:t>híbrida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puede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democratizar</a:t>
            </a:r>
            <a:r>
              <a:rPr lang="en-US" sz="2400" kern="1200" dirty="0">
                <a:solidFill>
                  <a:srgbClr val="000000"/>
                </a:solidFill>
                <a:effectLst/>
                <a:latin typeface="Avenir Roman" charset="0"/>
                <a:ea typeface="Avenir Roman" charset="0"/>
                <a:cs typeface="Avenir Roman" charset="0"/>
                <a:sym typeface="Avenir Roman" charset="0"/>
              </a:rPr>
              <a:t> la </a:t>
            </a:r>
            <a:r>
              <a:rPr lang="en-US" sz="2400" kern="1200" dirty="0" err="1">
                <a:solidFill>
                  <a:srgbClr val="000000"/>
                </a:solidFill>
                <a:effectLst/>
                <a:latin typeface="Avenir Roman" charset="0"/>
                <a:ea typeface="Avenir Roman" charset="0"/>
                <a:cs typeface="Avenir Roman" charset="0"/>
                <a:sym typeface="Avenir Roman" charset="0"/>
              </a:rPr>
              <a:t>zootecnia</a:t>
            </a:r>
            <a:r>
              <a:rPr lang="en-US" sz="2400" kern="1200" dirty="0">
                <a:solidFill>
                  <a:srgbClr val="000000"/>
                </a:solidFill>
                <a:effectLst/>
                <a:latin typeface="Avenir Roman" charset="0"/>
                <a:ea typeface="Avenir Roman" charset="0"/>
                <a:cs typeface="Avenir Roman" charset="0"/>
                <a:sym typeface="Avenir Roman" charset="0"/>
              </a:rPr>
              <a:t> de </a:t>
            </a:r>
            <a:r>
              <a:rPr lang="en-US" sz="2400" kern="1200" dirty="0" err="1">
                <a:solidFill>
                  <a:srgbClr val="000000"/>
                </a:solidFill>
                <a:effectLst/>
                <a:latin typeface="Avenir Roman" charset="0"/>
                <a:ea typeface="Avenir Roman" charset="0"/>
                <a:cs typeface="Avenir Roman" charset="0"/>
                <a:sym typeface="Avenir Roman" charset="0"/>
              </a:rPr>
              <a:t>precisión</a:t>
            </a:r>
            <a:r>
              <a:rPr lang="en-US" sz="2400" kern="1200" dirty="0">
                <a:solidFill>
                  <a:srgbClr val="000000"/>
                </a:solidFill>
                <a:effectLst/>
                <a:latin typeface="Avenir Roman" charset="0"/>
                <a:ea typeface="Avenir Roman" charset="0"/>
                <a:cs typeface="Avenir Roman" charset="0"/>
                <a:sym typeface="Avenir Roman" charset="0"/>
              </a:rPr>
              <a:t> para </a:t>
            </a:r>
            <a:r>
              <a:rPr lang="en-US" sz="2400" kern="1200" dirty="0" err="1">
                <a:solidFill>
                  <a:srgbClr val="000000"/>
                </a:solidFill>
                <a:effectLst/>
                <a:latin typeface="Avenir Roman" charset="0"/>
                <a:ea typeface="Avenir Roman" charset="0"/>
                <a:cs typeface="Avenir Roman" charset="0"/>
                <a:sym typeface="Avenir Roman" charset="0"/>
              </a:rPr>
              <a:t>los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ganaderos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mexicanos</a:t>
            </a:r>
            <a:r>
              <a:rPr lang="en-US" sz="2400" kern="1200" dirty="0">
                <a:solidFill>
                  <a:srgbClr val="000000"/>
                </a:solidFill>
                <a:effectLst/>
                <a:latin typeface="Avenir Roman" charset="0"/>
                <a:ea typeface="Avenir Roman" charset="0"/>
                <a:cs typeface="Avenir Roman" charset="0"/>
                <a:sym typeface="Avenir Roman" charset="0"/>
              </a:rPr>
              <a: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[P3] "Un </a:t>
            </a:r>
            <a:r>
              <a:rPr lang="en-US" sz="2400" kern="1200" dirty="0" err="1">
                <a:solidFill>
                  <a:srgbClr val="000000"/>
                </a:solidFill>
                <a:effectLst/>
                <a:latin typeface="Avenir Roman" charset="0"/>
                <a:ea typeface="Avenir Roman" charset="0"/>
                <a:cs typeface="Avenir Roman" charset="0"/>
                <a:sym typeface="Avenir Roman" charset="0"/>
              </a:rPr>
              <a:t>proyecto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construido</a:t>
            </a:r>
            <a:r>
              <a:rPr lang="en-US" sz="2400" kern="1200" dirty="0">
                <a:solidFill>
                  <a:srgbClr val="000000"/>
                </a:solidFill>
                <a:effectLst/>
                <a:latin typeface="Avenir Roman" charset="0"/>
                <a:ea typeface="Avenir Roman" charset="0"/>
                <a:cs typeface="Avenir Roman" charset="0"/>
                <a:sym typeface="Avenir Roman" charset="0"/>
              </a:rPr>
              <a:t> con rigor </a:t>
            </a:r>
            <a:r>
              <a:rPr lang="en-US" sz="2400" kern="1200" dirty="0" err="1">
                <a:solidFill>
                  <a:srgbClr val="000000"/>
                </a:solidFill>
                <a:effectLst/>
                <a:latin typeface="Avenir Roman" charset="0"/>
                <a:ea typeface="Avenir Roman" charset="0"/>
                <a:cs typeface="Avenir Roman" charset="0"/>
                <a:sym typeface="Avenir Roman" charset="0"/>
              </a:rPr>
              <a:t>científico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metodología</a:t>
            </a:r>
            <a:r>
              <a:rPr lang="en-US" sz="2400" kern="1200" dirty="0">
                <a:solidFill>
                  <a:srgbClr val="000000"/>
                </a:solidFill>
                <a:effectLst/>
                <a:latin typeface="Avenir Roman" charset="0"/>
                <a:ea typeface="Avenir Roman" charset="0"/>
                <a:cs typeface="Avenir Roman" charset="0"/>
                <a:sym typeface="Avenir Roman" charset="0"/>
              </a:rPr>
              <a:t> Scrum y </a:t>
            </a:r>
            <a:r>
              <a:rPr lang="en-US" sz="2400" kern="1200" dirty="0" err="1">
                <a:solidFill>
                  <a:srgbClr val="000000"/>
                </a:solidFill>
                <a:effectLst/>
                <a:latin typeface="Avenir Roman" charset="0"/>
                <a:ea typeface="Avenir Roman" charset="0"/>
                <a:cs typeface="Avenir Roman" charset="0"/>
                <a:sym typeface="Avenir Roman" charset="0"/>
              </a:rPr>
              <a:t>validado</a:t>
            </a:r>
            <a:r>
              <a:rPr lang="en-US" sz="2400" kern="1200" dirty="0">
                <a:solidFill>
                  <a:srgbClr val="000000"/>
                </a:solidFill>
                <a:effectLst/>
                <a:latin typeface="Avenir Roman" charset="0"/>
                <a:ea typeface="Avenir Roman" charset="0"/>
                <a:cs typeface="Avenir Roman" charset="0"/>
                <a:sym typeface="Avenir Roman" charset="0"/>
              </a:rPr>
              <a:t> con </a:t>
            </a:r>
            <a:r>
              <a:rPr lang="en-US" sz="2400" kern="1200" dirty="0" err="1">
                <a:solidFill>
                  <a:srgbClr val="000000"/>
                </a:solidFill>
                <a:effectLst/>
                <a:latin typeface="Avenir Roman" charset="0"/>
                <a:ea typeface="Avenir Roman" charset="0"/>
                <a:cs typeface="Avenir Roman" charset="0"/>
                <a:sym typeface="Avenir Roman" charset="0"/>
              </a:rPr>
              <a:t>datos</a:t>
            </a:r>
            <a:r>
              <a:rPr lang="en-US" sz="2400" kern="1200" dirty="0">
                <a:solidFill>
                  <a:srgbClr val="000000"/>
                </a:solidFill>
                <a:effectLst/>
                <a:latin typeface="Avenir Roman" charset="0"/>
                <a:ea typeface="Avenir Roman" charset="0"/>
                <a:cs typeface="Avenir Roman" charset="0"/>
                <a:sym typeface="Avenir Roman" charset="0"/>
              </a:rPr>
              <a:t> reales. Los </a:t>
            </a:r>
            <a:r>
              <a:rPr lang="en-US" sz="2400" kern="1200" dirty="0" err="1">
                <a:solidFill>
                  <a:srgbClr val="000000"/>
                </a:solidFill>
                <a:effectLst/>
                <a:latin typeface="Avenir Roman" charset="0"/>
                <a:ea typeface="Avenir Roman" charset="0"/>
                <a:cs typeface="Avenir Roman" charset="0"/>
                <a:sym typeface="Avenir Roman" charset="0"/>
              </a:rPr>
              <a:t>invitamos</a:t>
            </a:r>
            <a:r>
              <a:rPr lang="en-US" sz="2400" kern="1200" dirty="0">
                <a:solidFill>
                  <a:srgbClr val="000000"/>
                </a:solidFill>
                <a:effectLst/>
                <a:latin typeface="Avenir Roman" charset="0"/>
                <a:ea typeface="Avenir Roman" charset="0"/>
                <a:cs typeface="Avenir Roman" charset="0"/>
                <a:sym typeface="Avenir Roman" charset="0"/>
              </a:rPr>
              <a:t> a </a:t>
            </a:r>
            <a:r>
              <a:rPr lang="en-US" sz="2400" kern="1200" dirty="0" err="1">
                <a:solidFill>
                  <a:srgbClr val="000000"/>
                </a:solidFill>
                <a:effectLst/>
                <a:latin typeface="Avenir Roman" charset="0"/>
                <a:ea typeface="Avenir Roman" charset="0"/>
                <a:cs typeface="Avenir Roman" charset="0"/>
                <a:sym typeface="Avenir Roman" charset="0"/>
              </a:rPr>
              <a:t>conocerlo</a:t>
            </a:r>
            <a:r>
              <a:rPr lang="en-US" sz="2400" kern="1200" dirty="0">
                <a:solidFill>
                  <a:srgbClr val="000000"/>
                </a:solidFill>
                <a:effectLst/>
                <a:latin typeface="Avenir Roman" charset="0"/>
                <a:ea typeface="Avenir Roman" charset="0"/>
                <a:cs typeface="Avenir Roman" charset="0"/>
                <a:sym typeface="Avenir Roman" charset="0"/>
              </a:rPr>
              <a: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 ~30 seg. | 💡 Reglas de Oro: No leer — </a:t>
            </a:r>
            <a:r>
              <a:rPr lang="en-US" sz="2400" kern="1200" dirty="0" err="1">
                <a:solidFill>
                  <a:srgbClr val="000000"/>
                </a:solidFill>
                <a:effectLst/>
                <a:latin typeface="Avenir Roman" charset="0"/>
                <a:ea typeface="Avenir Roman" charset="0"/>
                <a:cs typeface="Avenir Roman" charset="0"/>
                <a:sym typeface="Avenir Roman" charset="0"/>
              </a:rPr>
              <a:t>cámaras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encendidas</a:t>
            </a:r>
            <a:r>
              <a:rPr lang="en-US" sz="2400" kern="1200" dirty="0">
                <a:solidFill>
                  <a:srgbClr val="000000"/>
                </a:solidFill>
                <a:effectLst/>
                <a:latin typeface="Avenir Roman" charset="0"/>
                <a:ea typeface="Avenir Roman" charset="0"/>
                <a:cs typeface="Avenir Roman" charset="0"/>
                <a:sym typeface="Avenir Roman" charset="0"/>
              </a:rPr>
              <a:t> — </a:t>
            </a:r>
            <a:r>
              <a:rPr lang="en-US" sz="2400" kern="1200" dirty="0" err="1">
                <a:solidFill>
                  <a:srgbClr val="000000"/>
                </a:solidFill>
                <a:effectLst/>
                <a:latin typeface="Avenir Roman" charset="0"/>
                <a:ea typeface="Avenir Roman" charset="0"/>
                <a:cs typeface="Avenir Roman" charset="0"/>
                <a:sym typeface="Avenir Roman" charset="0"/>
              </a:rPr>
              <a:t>máx</a:t>
            </a:r>
            <a:r>
              <a:rPr lang="en-US" sz="2400" kern="1200" dirty="0">
                <a:solidFill>
                  <a:srgbClr val="000000"/>
                </a:solidFill>
                <a:effectLst/>
                <a:latin typeface="Avenir Roman" charset="0"/>
                <a:ea typeface="Avenir Roman" charset="0"/>
                <a:cs typeface="Avenir Roman" charset="0"/>
                <a:sym typeface="Avenir Roman" charset="0"/>
              </a:rPr>
              <a:t>. 10-15 min </a:t>
            </a:r>
            <a:r>
              <a:rPr lang="en-US" sz="2400" kern="1200" dirty="0" err="1">
                <a:solidFill>
                  <a:srgbClr val="000000"/>
                </a:solidFill>
                <a:effectLst/>
                <a:latin typeface="Avenir Roman" charset="0"/>
                <a:ea typeface="Avenir Roman" charset="0"/>
                <a:cs typeface="Avenir Roman" charset="0"/>
                <a:sym typeface="Avenir Roman" charset="0"/>
              </a:rPr>
              <a:t>en</a:t>
            </a:r>
            <a:r>
              <a:rPr lang="en-US" sz="2400" kern="1200" dirty="0">
                <a:solidFill>
                  <a:srgbClr val="000000"/>
                </a:solidFill>
                <a:effectLst/>
                <a:latin typeface="Avenir Roman" charset="0"/>
                <a:ea typeface="Avenir Roman" charset="0"/>
                <a:cs typeface="Avenir Roman" charset="0"/>
                <a:sym typeface="Avenir Roman" charset="0"/>
              </a:rPr>
              <a:t> total.</a:t>
            </a:r>
            <a:endParaRPr lang="en-US" dirty="0">
              <a:effectLst/>
            </a:endParaRP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1802612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a:t>*   **Notas del Presentador:** *"Para esta exposición, seguiremos la estructura de la plantilla oficial. Comenzaremos abordando la problemática del sector y nuestros objetivos, para luego profundizar en la arquitectura híbrida de nuestra propuesta. Después, presentaremos nuestro prototipo en acción, validaremos científicamente los resultados y cerraremos con nuestras conclusiones."*</a:t>
            </a:r>
          </a:p>
          <a:p>
            <a:endParaRPr lang="es-ES" dirty="0"/>
          </a:p>
          <a:p>
            <a:pPr marL="342900" indent="-342900">
              <a:buFont typeface="Arial" panose="020B0604020202020204" pitchFamily="34" charset="0"/>
              <a:buChar char="•"/>
            </a:pPr>
            <a:r>
              <a:rPr lang="es-ES" dirty="0"/>
              <a:t>**Sugerencia Visual:** Simplemente el texto organizado con viñetas limpias.</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endParaRPr lang="en-US" dirty="0"/>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sz="2400" b="1" kern="1200" dirty="0">
                <a:solidFill>
                  <a:srgbClr val="000000"/>
                </a:solidFill>
                <a:effectLst/>
                <a:latin typeface="Avenir Roman" charset="0"/>
                <a:ea typeface="Avenir Roman" charset="0"/>
                <a:cs typeface="Avenir Roman" charset="0"/>
                <a:sym typeface="Avenir Roman" charset="0"/>
              </a:rPr>
              <a:t>----------------------------------------------------------------------------------------------------------------------------------------------------------------------------------------------</a:t>
            </a:r>
            <a:endParaRPr lang="en-US" dirty="0">
              <a:effectLst/>
            </a:endParaRP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n-US" sz="2400" kern="1200" dirty="0">
                <a:solidFill>
                  <a:srgbClr val="000000"/>
                </a:solidFill>
                <a:effectLst/>
                <a:latin typeface="Avenir Roman" charset="0"/>
                <a:ea typeface="Avenir Roman" charset="0"/>
                <a:cs typeface="Avenir Roman" charset="0"/>
                <a:sym typeface="Avenir Roman" charset="0"/>
              </a:rPr>
              <a:t>[P2] "</a:t>
            </a:r>
            <a:r>
              <a:rPr lang="en-US" sz="2400" kern="1200" dirty="0" err="1">
                <a:solidFill>
                  <a:srgbClr val="000000"/>
                </a:solidFill>
                <a:effectLst/>
                <a:latin typeface="Avenir Roman" charset="0"/>
                <a:ea typeface="Avenir Roman" charset="0"/>
                <a:cs typeface="Avenir Roman" charset="0"/>
                <a:sym typeface="Avenir Roman" charset="0"/>
              </a:rPr>
              <a:t>Seguiremos</a:t>
            </a:r>
            <a:r>
              <a:rPr lang="en-US" sz="2400" kern="1200" dirty="0">
                <a:solidFill>
                  <a:srgbClr val="000000"/>
                </a:solidFill>
                <a:effectLst/>
                <a:latin typeface="Avenir Roman" charset="0"/>
                <a:ea typeface="Avenir Roman" charset="0"/>
                <a:cs typeface="Avenir Roman" charset="0"/>
                <a:sym typeface="Avenir Roman" charset="0"/>
              </a:rPr>
              <a:t> la </a:t>
            </a:r>
            <a:r>
              <a:rPr lang="en-US" sz="2400" kern="1200" dirty="0" err="1">
                <a:solidFill>
                  <a:srgbClr val="000000"/>
                </a:solidFill>
                <a:effectLst/>
                <a:latin typeface="Avenir Roman" charset="0"/>
                <a:ea typeface="Avenir Roman" charset="0"/>
                <a:cs typeface="Avenir Roman" charset="0"/>
                <a:sym typeface="Avenir Roman" charset="0"/>
              </a:rPr>
              <a:t>estructura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oficial</a:t>
            </a:r>
            <a:r>
              <a:rPr lang="en-US" sz="2400" kern="1200" dirty="0">
                <a:solidFill>
                  <a:srgbClr val="000000"/>
                </a:solidFill>
                <a:effectLst/>
                <a:latin typeface="Avenir Roman" charset="0"/>
                <a:ea typeface="Avenir Roman" charset="0"/>
                <a:cs typeface="Avenir Roman" charset="0"/>
                <a:sym typeface="Avenir Roman" charset="0"/>
              </a:rPr>
              <a:t> de la </a:t>
            </a:r>
            <a:r>
              <a:rPr lang="en-US" sz="2400" kern="1200" dirty="0" err="1">
                <a:solidFill>
                  <a:srgbClr val="000000"/>
                </a:solidFill>
                <a:effectLst/>
                <a:latin typeface="Avenir Roman" charset="0"/>
                <a:ea typeface="Avenir Roman" charset="0"/>
                <a:cs typeface="Avenir Roman" charset="0"/>
                <a:sym typeface="Avenir Roman" charset="0"/>
              </a:rPr>
              <a:t>plantilla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Comenzamos</a:t>
            </a:r>
            <a:r>
              <a:rPr lang="en-US" sz="2400" kern="1200" dirty="0">
                <a:solidFill>
                  <a:srgbClr val="000000"/>
                </a:solidFill>
                <a:effectLst/>
                <a:latin typeface="Avenir Roman" charset="0"/>
                <a:ea typeface="Avenir Roman" charset="0"/>
                <a:cs typeface="Avenir Roman" charset="0"/>
                <a:sym typeface="Avenir Roman" charset="0"/>
              </a:rPr>
              <a:t> con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contexto</a:t>
            </a:r>
            <a:r>
              <a:rPr lang="en-US" sz="2400" kern="1200" dirty="0">
                <a:solidFill>
                  <a:srgbClr val="000000"/>
                </a:solidFill>
                <a:effectLst/>
                <a:latin typeface="Avenir Roman" charset="0"/>
                <a:ea typeface="Avenir Roman" charset="0"/>
                <a:cs typeface="Avenir Roman" charset="0"/>
                <a:sym typeface="Avenir Roman" charset="0"/>
              </a:rPr>
              <a:t> y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problema</a:t>
            </a:r>
            <a:r>
              <a:rPr lang="en-US" sz="2400" kern="1200" dirty="0">
                <a:solidFill>
                  <a:srgbClr val="000000"/>
                </a:solidFill>
                <a:effectLst/>
                <a:latin typeface="Avenir Roman" charset="0"/>
                <a:ea typeface="Avenir Roman" charset="0"/>
                <a:cs typeface="Avenir Roman" charset="0"/>
                <a:sym typeface="Avenir Roman" charset="0"/>
              </a:rPr>
              <a:t>, luego </a:t>
            </a:r>
            <a:r>
              <a:rPr lang="en-US" sz="2400" kern="1200" dirty="0" err="1">
                <a:solidFill>
                  <a:srgbClr val="000000"/>
                </a:solidFill>
                <a:effectLst/>
                <a:latin typeface="Avenir Roman" charset="0"/>
                <a:ea typeface="Avenir Roman" charset="0"/>
                <a:cs typeface="Avenir Roman" charset="0"/>
                <a:sym typeface="Avenir Roman" charset="0"/>
              </a:rPr>
              <a:t>los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objetivos</a:t>
            </a:r>
            <a:r>
              <a:rPr lang="en-US" sz="2400" kern="1200" dirty="0">
                <a:solidFill>
                  <a:srgbClr val="000000"/>
                </a:solidFill>
                <a:effectLst/>
                <a:latin typeface="Avenir Roman" charset="0"/>
                <a:ea typeface="Avenir Roman" charset="0"/>
                <a:cs typeface="Avenir Roman" charset="0"/>
                <a:sym typeface="Avenir Roman" charset="0"/>
              </a:rPr>
              <a:t> y </a:t>
            </a:r>
            <a:r>
              <a:rPr lang="en-US" sz="2400" kern="1200" dirty="0" err="1">
                <a:solidFill>
                  <a:srgbClr val="000000"/>
                </a:solidFill>
                <a:effectLst/>
                <a:latin typeface="Avenir Roman" charset="0"/>
                <a:ea typeface="Avenir Roman" charset="0"/>
                <a:cs typeface="Avenir Roman" charset="0"/>
                <a:sym typeface="Avenir Roman" charset="0"/>
              </a:rPr>
              <a:t>metodología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después</a:t>
            </a:r>
            <a:r>
              <a:rPr lang="en-US" sz="2400" kern="1200" dirty="0">
                <a:solidFill>
                  <a:srgbClr val="000000"/>
                </a:solidFill>
                <a:effectLst/>
                <a:latin typeface="Avenir Roman" charset="0"/>
                <a:ea typeface="Avenir Roman" charset="0"/>
                <a:cs typeface="Avenir Roman" charset="0"/>
                <a:sym typeface="Avenir Roman" charset="0"/>
              </a:rPr>
              <a:t> la </a:t>
            </a:r>
            <a:r>
              <a:rPr lang="en-US" sz="2400" kern="1200" dirty="0" err="1">
                <a:solidFill>
                  <a:srgbClr val="000000"/>
                </a:solidFill>
                <a:effectLst/>
                <a:latin typeface="Avenir Roman" charset="0"/>
                <a:ea typeface="Avenir Roman" charset="0"/>
                <a:cs typeface="Avenir Roman" charset="0"/>
                <a:sym typeface="Avenir Roman" charset="0"/>
              </a:rPr>
              <a:t>arquitectura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técnica</a:t>
            </a:r>
            <a:r>
              <a:rPr lang="en-US" sz="2400" kern="1200" dirty="0">
                <a:solidFill>
                  <a:srgbClr val="000000"/>
                </a:solidFill>
                <a:effectLst/>
                <a:latin typeface="Avenir Roman" charset="0"/>
                <a:ea typeface="Avenir Roman" charset="0"/>
                <a:cs typeface="Avenir Roman" charset="0"/>
                <a:sym typeface="Avenir Roman" charset="0"/>
              </a:rPr>
              <a:t> con </a:t>
            </a:r>
            <a:r>
              <a:rPr lang="en-US" sz="2400" kern="1200" dirty="0" err="1">
                <a:solidFill>
                  <a:srgbClr val="000000"/>
                </a:solidFill>
                <a:effectLst/>
                <a:latin typeface="Avenir Roman" charset="0"/>
                <a:ea typeface="Avenir Roman" charset="0"/>
                <a:cs typeface="Avenir Roman" charset="0"/>
                <a:sym typeface="Avenir Roman" charset="0"/>
              </a:rPr>
              <a:t>una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demostración</a:t>
            </a:r>
            <a:r>
              <a:rPr lang="en-US" sz="2400" kern="1200" dirty="0">
                <a:solidFill>
                  <a:srgbClr val="000000"/>
                </a:solidFill>
                <a:effectLst/>
                <a:latin typeface="Avenir Roman" charset="0"/>
                <a:ea typeface="Avenir Roman" charset="0"/>
                <a:cs typeface="Avenir Roman" charset="0"/>
                <a:sym typeface="Avenir Roman" charset="0"/>
              </a:rPr>
              <a:t> del </a:t>
            </a:r>
            <a:r>
              <a:rPr lang="en-US" sz="2400" kern="1200" dirty="0" err="1">
                <a:solidFill>
                  <a:srgbClr val="000000"/>
                </a:solidFill>
                <a:effectLst/>
                <a:latin typeface="Avenir Roman" charset="0"/>
                <a:ea typeface="Avenir Roman" charset="0"/>
                <a:cs typeface="Avenir Roman" charset="0"/>
                <a:sym typeface="Avenir Roman" charset="0"/>
              </a:rPr>
              <a:t>prototipo</a:t>
            </a:r>
            <a:r>
              <a:rPr lang="en-US" sz="2400" kern="1200" dirty="0">
                <a:solidFill>
                  <a:srgbClr val="000000"/>
                </a:solidFill>
                <a:effectLst/>
                <a:latin typeface="Avenir Roman" charset="0"/>
                <a:ea typeface="Avenir Roman" charset="0"/>
                <a:cs typeface="Avenir Roman" charset="0"/>
                <a:sym typeface="Avenir Roman" charset="0"/>
              </a:rPr>
              <a:t>, la </a:t>
            </a:r>
            <a:r>
              <a:rPr lang="en-US" sz="2400" kern="1200" dirty="0" err="1">
                <a:solidFill>
                  <a:srgbClr val="000000"/>
                </a:solidFill>
                <a:effectLst/>
                <a:latin typeface="Avenir Roman" charset="0"/>
                <a:ea typeface="Avenir Roman" charset="0"/>
                <a:cs typeface="Avenir Roman" charset="0"/>
                <a:sym typeface="Avenir Roman" charset="0"/>
              </a:rPr>
              <a:t>validación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científica</a:t>
            </a:r>
            <a:r>
              <a:rPr lang="en-US" sz="2400" kern="1200" dirty="0">
                <a:solidFill>
                  <a:srgbClr val="000000"/>
                </a:solidFill>
                <a:effectLst/>
                <a:latin typeface="Avenir Roman" charset="0"/>
                <a:ea typeface="Avenir Roman" charset="0"/>
                <a:cs typeface="Avenir Roman" charset="0"/>
                <a:sym typeface="Avenir Roman" charset="0"/>
              </a:rPr>
              <a:t> con </a:t>
            </a:r>
            <a:r>
              <a:rPr lang="en-US" sz="2400" kern="1200" dirty="0" err="1">
                <a:solidFill>
                  <a:srgbClr val="000000"/>
                </a:solidFill>
                <a:effectLst/>
                <a:latin typeface="Avenir Roman" charset="0"/>
                <a:ea typeface="Avenir Roman" charset="0"/>
                <a:cs typeface="Avenir Roman" charset="0"/>
                <a:sym typeface="Avenir Roman" charset="0"/>
              </a:rPr>
              <a:t>nuestros</a:t>
            </a:r>
            <a:r>
              <a:rPr lang="en-US" sz="2400" kern="1200" dirty="0">
                <a:solidFill>
                  <a:srgbClr val="000000"/>
                </a:solidFill>
                <a:effectLst/>
                <a:latin typeface="Avenir Roman" charset="0"/>
                <a:ea typeface="Avenir Roman" charset="0"/>
                <a:cs typeface="Avenir Roman" charset="0"/>
                <a:sym typeface="Avenir Roman" charset="0"/>
              </a:rPr>
              <a:t> KPIs, y </a:t>
            </a:r>
            <a:r>
              <a:rPr lang="en-US" sz="2400" kern="1200" dirty="0" err="1">
                <a:solidFill>
                  <a:srgbClr val="000000"/>
                </a:solidFill>
                <a:effectLst/>
                <a:latin typeface="Avenir Roman" charset="0"/>
                <a:ea typeface="Avenir Roman" charset="0"/>
                <a:cs typeface="Avenir Roman" charset="0"/>
                <a:sym typeface="Avenir Roman" charset="0"/>
              </a:rPr>
              <a:t>cerramos</a:t>
            </a:r>
            <a:r>
              <a:rPr lang="en-US" sz="2400" kern="1200" dirty="0">
                <a:solidFill>
                  <a:srgbClr val="000000"/>
                </a:solidFill>
                <a:effectLst/>
                <a:latin typeface="Avenir Roman" charset="0"/>
                <a:ea typeface="Avenir Roman" charset="0"/>
                <a:cs typeface="Avenir Roman" charset="0"/>
                <a:sym typeface="Avenir Roman" charset="0"/>
              </a:rPr>
              <a:t> con las </a:t>
            </a:r>
            <a:r>
              <a:rPr lang="en-US" sz="2400" kern="1200" dirty="0" err="1">
                <a:solidFill>
                  <a:srgbClr val="000000"/>
                </a:solidFill>
                <a:effectLst/>
                <a:latin typeface="Avenir Roman" charset="0"/>
                <a:ea typeface="Avenir Roman" charset="0"/>
                <a:cs typeface="Avenir Roman" charset="0"/>
                <a:sym typeface="Avenir Roman" charset="0"/>
              </a:rPr>
              <a:t>conclusiones</a:t>
            </a:r>
            <a:r>
              <a:rPr lang="en-US" sz="2400" kern="1200" dirty="0">
                <a:solidFill>
                  <a:srgbClr val="000000"/>
                </a:solidFill>
                <a:effectLst/>
                <a:latin typeface="Avenir Roman" charset="0"/>
                <a:ea typeface="Avenir Roman" charset="0"/>
                <a:cs typeface="Avenir Roman" charset="0"/>
                <a:sym typeface="Avenir Roman" charset="0"/>
              </a:rPr>
              <a:t> y </a:t>
            </a:r>
            <a:r>
              <a:rPr lang="en-US" sz="2400" kern="1200" dirty="0" err="1">
                <a:solidFill>
                  <a:srgbClr val="000000"/>
                </a:solidFill>
                <a:effectLst/>
                <a:latin typeface="Avenir Roman" charset="0"/>
                <a:ea typeface="Avenir Roman" charset="0"/>
                <a:cs typeface="Avenir Roman" charset="0"/>
                <a:sym typeface="Avenir Roman" charset="0"/>
              </a:rPr>
              <a:t>trabajo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futuro</a:t>
            </a:r>
            <a:r>
              <a:rPr lang="en-US" sz="2400" kern="1200" dirty="0">
                <a:solidFill>
                  <a:srgbClr val="000000"/>
                </a:solidFill>
                <a:effectLst/>
                <a:latin typeface="Avenir Roman" charset="0"/>
                <a:ea typeface="Avenir Roman" charset="0"/>
                <a:cs typeface="Avenir Roman" charset="0"/>
                <a:sym typeface="Avenir Roman" charset="0"/>
              </a:rPr>
              <a: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 ~20 seg.</a:t>
            </a:r>
            <a:endParaRPr lang="en-US" dirty="0">
              <a:effectLst/>
            </a:endParaRP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3396790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indent="-342900">
              <a:buFont typeface="Arial" panose="020B0604020202020204" pitchFamily="34" charset="0"/>
              <a:buChar char="•"/>
            </a:pPr>
            <a:r>
              <a:rPr lang="es-ES" dirty="0"/>
              <a:t>**Notas del Presentador:** *"El sector ganadero en México enfrenta una crisis severa. El productor mediano pierde dinero porque alimenta a su ganado de forma empírica y tarda en reaccionar a la inflación del maíz. Aunque existe software como Ganadero SG, éste se limita a contar vacas, no a optimizar dinero. Por otro lado, herramientas científicas como NDS son inaccesibles. Nuestra solución, Caporal AI, cubre esta brecha: es un agente prescriptivo que te dice qué comprar hoy para ahorrar dinero, comunicándose en lenguaje natural."*</a:t>
            </a:r>
          </a:p>
          <a:p>
            <a:pPr marL="0" indent="0">
              <a:buFont typeface="Arial" panose="020B0604020202020204" pitchFamily="34" charset="0"/>
              <a:buNone/>
            </a:pPr>
            <a:endParaRPr lang="es-ES" dirty="0"/>
          </a:p>
          <a:p>
            <a:r>
              <a:rPr lang="es-ES" dirty="0"/>
              <a:t>*   **Sugerencia Visual:** Una tabla comparativa simplificada (inspirada en la Tabla 3 del documento) o iconos que contrasten "Software Administrativo" vs "Zootecnia de Precisión".</a:t>
            </a:r>
            <a:br>
              <a:rPr lang="es-ES" dirty="0"/>
            </a:br>
            <a:br>
              <a:rPr lang="es-ES" dirty="0"/>
            </a:br>
            <a:r>
              <a:rPr lang="es-ES" b="1" dirty="0"/>
              <a:t>----------------------------------------------------------------------------------------------------------------------------------------------------------------------------------------------</a:t>
            </a:r>
          </a:p>
          <a:p>
            <a:pPr marL="0" marR="0" lvl="0" indent="0" algn="l" defTabSz="457200" rtl="0" eaLnBrk="0" fontAlgn="base" latinLnBrk="0" hangingPunct="0">
              <a:lnSpc>
                <a:spcPct val="125000"/>
              </a:lnSpc>
              <a:spcBef>
                <a:spcPct val="0"/>
              </a:spcBef>
              <a:spcAft>
                <a:spcPct val="0"/>
              </a:spcAft>
              <a:buClrTx/>
              <a:buSzTx/>
              <a:buFontTx/>
              <a:buNone/>
              <a:tabLst/>
              <a:defRPr/>
            </a:pPr>
            <a:r>
              <a:rPr lang="en-US" dirty="0"/>
              <a:t>[P3] "El sector </a:t>
            </a:r>
            <a:r>
              <a:rPr lang="en-US" dirty="0" err="1"/>
              <a:t>ganadero</a:t>
            </a:r>
            <a:r>
              <a:rPr lang="en-US" dirty="0"/>
              <a:t> </a:t>
            </a:r>
            <a:r>
              <a:rPr lang="en-US" dirty="0" err="1"/>
              <a:t>en</a:t>
            </a:r>
            <a:r>
              <a:rPr lang="en-US" dirty="0"/>
              <a:t> México </a:t>
            </a:r>
            <a:r>
              <a:rPr lang="en-US" dirty="0" err="1"/>
              <a:t>vive</a:t>
            </a:r>
            <a:r>
              <a:rPr lang="en-US" dirty="0"/>
              <a:t> </a:t>
            </a:r>
            <a:r>
              <a:rPr lang="en-US" dirty="0" err="1"/>
              <a:t>una</a:t>
            </a:r>
            <a:r>
              <a:rPr lang="en-US" dirty="0"/>
              <a:t> crisis </a:t>
            </a:r>
            <a:r>
              <a:rPr lang="en-US" dirty="0" err="1"/>
              <a:t>silenciosa</a:t>
            </a:r>
            <a:r>
              <a:rPr lang="en-US" dirty="0"/>
              <a:t>: </a:t>
            </a:r>
            <a:r>
              <a:rPr lang="en-US" dirty="0" err="1"/>
              <a:t>el</a:t>
            </a:r>
            <a:r>
              <a:rPr lang="en-US" dirty="0"/>
              <a:t> productor </a:t>
            </a:r>
            <a:r>
              <a:rPr lang="en-US" dirty="0" err="1"/>
              <a:t>mediano</a:t>
            </a:r>
            <a:r>
              <a:rPr lang="en-US" dirty="0"/>
              <a:t> </a:t>
            </a:r>
            <a:r>
              <a:rPr lang="en-US" dirty="0" err="1"/>
              <a:t>alimenta</a:t>
            </a:r>
            <a:r>
              <a:rPr lang="en-US" dirty="0"/>
              <a:t> a </a:t>
            </a:r>
            <a:r>
              <a:rPr lang="en-US" dirty="0" err="1"/>
              <a:t>su</a:t>
            </a:r>
            <a:r>
              <a:rPr lang="en-US" dirty="0"/>
              <a:t> </a:t>
            </a:r>
            <a:r>
              <a:rPr lang="en-US" dirty="0" err="1"/>
              <a:t>ganado</a:t>
            </a:r>
            <a:r>
              <a:rPr lang="en-US" dirty="0"/>
              <a:t> de forma </a:t>
            </a:r>
            <a:r>
              <a:rPr lang="en-US" dirty="0" err="1"/>
              <a:t>empírica</a:t>
            </a:r>
            <a:r>
              <a:rPr lang="en-US" dirty="0"/>
              <a:t>, </a:t>
            </a:r>
            <a:r>
              <a:rPr lang="en-US" dirty="0" err="1"/>
              <a:t>reacciona</a:t>
            </a:r>
            <a:r>
              <a:rPr lang="en-US" dirty="0"/>
              <a:t> </a:t>
            </a:r>
            <a:r>
              <a:rPr lang="en-US" dirty="0" err="1"/>
              <a:t>tarde</a:t>
            </a:r>
            <a:r>
              <a:rPr lang="en-US" dirty="0"/>
              <a:t> a la </a:t>
            </a:r>
            <a:r>
              <a:rPr lang="en-US" dirty="0" err="1"/>
              <a:t>inflación</a:t>
            </a:r>
            <a:r>
              <a:rPr lang="en-US" dirty="0"/>
              <a:t> del </a:t>
            </a:r>
            <a:r>
              <a:rPr lang="en-US" dirty="0" err="1"/>
              <a:t>maíz</a:t>
            </a:r>
            <a:r>
              <a:rPr lang="en-US" dirty="0"/>
              <a:t> y </a:t>
            </a:r>
            <a:r>
              <a:rPr lang="en-US" dirty="0" err="1"/>
              <a:t>pierde</a:t>
            </a:r>
            <a:r>
              <a:rPr lang="en-US" dirty="0"/>
              <a:t> dinero sin </a:t>
            </a:r>
            <a:r>
              <a:rPr lang="en-US" dirty="0" err="1"/>
              <a:t>saberlo</a:t>
            </a:r>
            <a:r>
              <a:rPr lang="en-US" dirty="0"/>
              <a:t>. </a:t>
            </a:r>
            <a:r>
              <a:rPr lang="en-US" dirty="0" err="1"/>
              <a:t>Pueden</a:t>
            </a:r>
            <a:r>
              <a:rPr lang="en-US" dirty="0"/>
              <a:t> </a:t>
            </a:r>
            <a:r>
              <a:rPr lang="en-US" dirty="0" err="1"/>
              <a:t>ver</a:t>
            </a:r>
            <a:r>
              <a:rPr lang="en-US" dirty="0"/>
              <a:t> </a:t>
            </a:r>
            <a:r>
              <a:rPr lang="en-US" dirty="0" err="1"/>
              <a:t>en</a:t>
            </a:r>
            <a:r>
              <a:rPr lang="en-US" dirty="0"/>
              <a:t> la </a:t>
            </a:r>
            <a:r>
              <a:rPr lang="en-US" dirty="0" err="1"/>
              <a:t>tabla</a:t>
            </a:r>
            <a:r>
              <a:rPr lang="en-US" dirty="0"/>
              <a:t> de la </a:t>
            </a:r>
            <a:r>
              <a:rPr lang="en-US" dirty="0" err="1"/>
              <a:t>derecha</a:t>
            </a:r>
            <a:r>
              <a:rPr lang="en-US" dirty="0"/>
              <a:t> </a:t>
            </a:r>
            <a:r>
              <a:rPr lang="en-US" dirty="0" err="1"/>
              <a:t>cómo</a:t>
            </a:r>
            <a:r>
              <a:rPr lang="en-US" dirty="0"/>
              <a:t> </a:t>
            </a:r>
            <a:r>
              <a:rPr lang="en-US" dirty="0" err="1"/>
              <a:t>ninguna</a:t>
            </a:r>
            <a:r>
              <a:rPr lang="en-US" dirty="0"/>
              <a:t> </a:t>
            </a:r>
            <a:r>
              <a:rPr lang="en-US" dirty="0" err="1"/>
              <a:t>herramienta</a:t>
            </a:r>
            <a:r>
              <a:rPr lang="en-US" dirty="0"/>
              <a:t> </a:t>
            </a:r>
            <a:r>
              <a:rPr lang="en-US" dirty="0" err="1"/>
              <a:t>existente</a:t>
            </a:r>
            <a:r>
              <a:rPr lang="en-US" dirty="0"/>
              <a:t> </a:t>
            </a:r>
            <a:r>
              <a:rPr lang="en-US" dirty="0" err="1"/>
              <a:t>resuelve</a:t>
            </a:r>
            <a:r>
              <a:rPr lang="en-US" dirty="0"/>
              <a:t> </a:t>
            </a:r>
            <a:r>
              <a:rPr lang="en-US" dirty="0" err="1"/>
              <a:t>los</a:t>
            </a:r>
            <a:r>
              <a:rPr lang="en-US" dirty="0"/>
              <a:t> </a:t>
            </a:r>
            <a:r>
              <a:rPr lang="en-US" dirty="0" err="1"/>
              <a:t>tres</a:t>
            </a:r>
            <a:r>
              <a:rPr lang="en-US" dirty="0"/>
              <a:t> </a:t>
            </a:r>
            <a:r>
              <a:rPr lang="en-US" dirty="0" err="1"/>
              <a:t>problemas</a:t>
            </a:r>
            <a:r>
              <a:rPr lang="en-US" dirty="0"/>
              <a:t> a la </a:t>
            </a:r>
            <a:r>
              <a:rPr lang="en-US" dirty="0" err="1"/>
              <a:t>vez</a:t>
            </a:r>
            <a:r>
              <a:rPr lang="en-US" dirty="0"/>
              <a:t>."
[P1] "</a:t>
            </a:r>
            <a:r>
              <a:rPr lang="en-US" dirty="0" err="1"/>
              <a:t>Ganadero</a:t>
            </a:r>
            <a:r>
              <a:rPr lang="en-US" dirty="0"/>
              <a:t> SG es </a:t>
            </a:r>
            <a:r>
              <a:rPr lang="en-US" dirty="0" err="1"/>
              <a:t>accesible</a:t>
            </a:r>
            <a:r>
              <a:rPr lang="en-US" dirty="0"/>
              <a:t> </a:t>
            </a:r>
            <a:r>
              <a:rPr lang="en-US" dirty="0" err="1"/>
              <a:t>pero</a:t>
            </a:r>
            <a:r>
              <a:rPr lang="en-US" dirty="0"/>
              <a:t> no </a:t>
            </a:r>
            <a:r>
              <a:rPr lang="en-US" dirty="0" err="1"/>
              <a:t>optimiza</a:t>
            </a:r>
            <a:r>
              <a:rPr lang="en-US" dirty="0"/>
              <a:t> nada. NDS </a:t>
            </a:r>
            <a:r>
              <a:rPr lang="en-US" dirty="0" err="1"/>
              <a:t>optimiza</a:t>
            </a:r>
            <a:r>
              <a:rPr lang="en-US" dirty="0"/>
              <a:t>, </a:t>
            </a:r>
            <a:r>
              <a:rPr lang="en-US" dirty="0" err="1"/>
              <a:t>pero</a:t>
            </a:r>
            <a:r>
              <a:rPr lang="en-US" dirty="0"/>
              <a:t> es </a:t>
            </a:r>
            <a:r>
              <a:rPr lang="en-US" dirty="0" err="1"/>
              <a:t>inaccesible</a:t>
            </a:r>
            <a:r>
              <a:rPr lang="en-US" dirty="0"/>
              <a:t> </a:t>
            </a:r>
            <a:r>
              <a:rPr lang="en-US" dirty="0" err="1"/>
              <a:t>técnica</a:t>
            </a:r>
            <a:r>
              <a:rPr lang="en-US" dirty="0"/>
              <a:t> y </a:t>
            </a:r>
            <a:r>
              <a:rPr lang="en-US" dirty="0" err="1"/>
              <a:t>económicamente</a:t>
            </a:r>
            <a:r>
              <a:rPr lang="en-US" dirty="0"/>
              <a:t>. Caporal AI es la </a:t>
            </a:r>
            <a:r>
              <a:rPr lang="en-US" dirty="0" err="1"/>
              <a:t>única</a:t>
            </a:r>
            <a:r>
              <a:rPr lang="en-US" dirty="0"/>
              <a:t> </a:t>
            </a:r>
            <a:r>
              <a:rPr lang="en-US" dirty="0" err="1"/>
              <a:t>opción</a:t>
            </a:r>
            <a:r>
              <a:rPr lang="en-US" dirty="0"/>
              <a:t> </a:t>
            </a:r>
            <a:r>
              <a:rPr lang="en-US" dirty="0" err="1"/>
              <a:t>que</a:t>
            </a:r>
            <a:r>
              <a:rPr lang="en-US" dirty="0"/>
              <a:t> </a:t>
            </a:r>
            <a:r>
              <a:rPr lang="en-US" dirty="0" err="1"/>
              <a:t>cumple</a:t>
            </a:r>
            <a:r>
              <a:rPr lang="en-US" dirty="0"/>
              <a:t> </a:t>
            </a:r>
            <a:r>
              <a:rPr lang="en-US" dirty="0" err="1"/>
              <a:t>los</a:t>
            </a:r>
            <a:r>
              <a:rPr lang="en-US" dirty="0"/>
              <a:t> </a:t>
            </a:r>
            <a:r>
              <a:rPr lang="en-US" dirty="0" err="1"/>
              <a:t>tres</a:t>
            </a:r>
            <a:r>
              <a:rPr lang="en-US" dirty="0"/>
              <a:t>: </a:t>
            </a:r>
            <a:r>
              <a:rPr lang="en-US" dirty="0" err="1"/>
              <a:t>optimiza</a:t>
            </a:r>
            <a:r>
              <a:rPr lang="en-US" dirty="0"/>
              <a:t> </a:t>
            </a:r>
            <a:r>
              <a:rPr lang="en-US" dirty="0" err="1"/>
              <a:t>costos</a:t>
            </a:r>
            <a:r>
              <a:rPr lang="en-US" dirty="0"/>
              <a:t>, </a:t>
            </a:r>
            <a:r>
              <a:rPr lang="en-US" dirty="0" err="1"/>
              <a:t>habla</a:t>
            </a:r>
            <a:r>
              <a:rPr lang="en-US" dirty="0"/>
              <a:t> </a:t>
            </a:r>
            <a:r>
              <a:rPr lang="en-US" dirty="0" err="1"/>
              <a:t>lenguaje</a:t>
            </a:r>
            <a:r>
              <a:rPr lang="en-US" dirty="0"/>
              <a:t> natural con </a:t>
            </a:r>
            <a:r>
              <a:rPr lang="en-US" dirty="0" err="1"/>
              <a:t>el</a:t>
            </a:r>
            <a:r>
              <a:rPr lang="en-US" dirty="0"/>
              <a:t> </a:t>
            </a:r>
            <a:r>
              <a:rPr lang="en-US" dirty="0" err="1"/>
              <a:t>ganadero</a:t>
            </a:r>
            <a:r>
              <a:rPr lang="en-US" dirty="0"/>
              <a:t>, y </a:t>
            </a:r>
            <a:r>
              <a:rPr lang="en-US" dirty="0" err="1"/>
              <a:t>garantiza</a:t>
            </a:r>
            <a:r>
              <a:rPr lang="en-US" dirty="0"/>
              <a:t> </a:t>
            </a:r>
            <a:r>
              <a:rPr lang="en-US" dirty="0" err="1"/>
              <a:t>el</a:t>
            </a:r>
            <a:r>
              <a:rPr lang="en-US" dirty="0"/>
              <a:t> </a:t>
            </a:r>
            <a:r>
              <a:rPr lang="en-US" dirty="0" err="1"/>
              <a:t>estándar</a:t>
            </a:r>
            <a:r>
              <a:rPr lang="en-US" dirty="0"/>
              <a:t> </a:t>
            </a:r>
            <a:r>
              <a:rPr lang="en-US" dirty="0" err="1"/>
              <a:t>biológico</a:t>
            </a:r>
            <a:r>
              <a:rPr lang="en-US" dirty="0"/>
              <a:t> NRC."
[P2] "En </a:t>
            </a:r>
            <a:r>
              <a:rPr lang="en-US" dirty="0" err="1"/>
              <a:t>pocas</a:t>
            </a:r>
            <a:r>
              <a:rPr lang="en-US" dirty="0"/>
              <a:t> palabras: es un </a:t>
            </a:r>
            <a:r>
              <a:rPr lang="en-US" dirty="0" err="1"/>
              <a:t>agente</a:t>
            </a:r>
            <a:r>
              <a:rPr lang="en-US" dirty="0"/>
              <a:t> </a:t>
            </a:r>
            <a:r>
              <a:rPr lang="en-US" dirty="0" err="1"/>
              <a:t>prescriptivo</a:t>
            </a:r>
            <a:r>
              <a:rPr lang="en-US" dirty="0"/>
              <a:t> </a:t>
            </a:r>
            <a:r>
              <a:rPr lang="en-US" dirty="0" err="1"/>
              <a:t>que</a:t>
            </a:r>
            <a:r>
              <a:rPr lang="en-US" dirty="0"/>
              <a:t> le dice al </a:t>
            </a:r>
            <a:r>
              <a:rPr lang="en-US" dirty="0" err="1"/>
              <a:t>ganadero</a:t>
            </a:r>
            <a:r>
              <a:rPr lang="en-US" dirty="0"/>
              <a:t> </a:t>
            </a:r>
            <a:r>
              <a:rPr lang="en-US" dirty="0" err="1"/>
              <a:t>qué</a:t>
            </a:r>
            <a:r>
              <a:rPr lang="en-US" dirty="0"/>
              <a:t> </a:t>
            </a:r>
            <a:r>
              <a:rPr lang="en-US" dirty="0" err="1"/>
              <a:t>comprar</a:t>
            </a:r>
            <a:r>
              <a:rPr lang="en-US" dirty="0"/>
              <a:t> hoy para </a:t>
            </a:r>
            <a:r>
              <a:rPr lang="en-US" dirty="0" err="1"/>
              <a:t>ahorrar</a:t>
            </a:r>
            <a:r>
              <a:rPr lang="en-US" dirty="0"/>
              <a:t> dinero, </a:t>
            </a:r>
            <a:r>
              <a:rPr lang="en-US" dirty="0" err="1"/>
              <a:t>comunicándose</a:t>
            </a:r>
            <a:r>
              <a:rPr lang="en-US" dirty="0"/>
              <a:t> </a:t>
            </a:r>
            <a:r>
              <a:rPr lang="en-US" dirty="0" err="1"/>
              <a:t>en</a:t>
            </a:r>
            <a:r>
              <a:rPr lang="en-US" dirty="0"/>
              <a:t> </a:t>
            </a:r>
            <a:r>
              <a:rPr lang="en-US" dirty="0" err="1"/>
              <a:t>español</a:t>
            </a:r>
            <a:r>
              <a:rPr lang="en-US" dirty="0"/>
              <a:t> natural."
⏱ ~1:30 min.</a:t>
            </a:r>
          </a:p>
          <a:p>
            <a:endParaRPr lang="en-US" b="1" dirty="0"/>
          </a:p>
        </p:txBody>
      </p:sp>
    </p:spTree>
    <p:extLst>
      <p:ext uri="{BB962C8B-B14F-4D97-AF65-F5344CB8AC3E}">
        <p14:creationId xmlns:p14="http://schemas.microsoft.com/office/powerpoint/2010/main" val="40163660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a:t>*   **Notas del Presentador:** *"Nuestro objetivo principal es claro: lograr una reducción teórica comprobable de entre el 5% y el 10% en el costo diario de la dieta, sin violar jamás las restricciones biológicas del </a:t>
            </a:r>
            <a:r>
              <a:rPr lang="es-ES" dirty="0" err="1"/>
              <a:t>National</a:t>
            </a:r>
            <a:r>
              <a:rPr lang="es-ES" dirty="0"/>
              <a:t> </a:t>
            </a:r>
            <a:r>
              <a:rPr lang="es-ES" dirty="0" err="1"/>
              <a:t>Research</a:t>
            </a:r>
            <a:r>
              <a:rPr lang="es-ES" dirty="0"/>
              <a:t> Council. Para lograrlo sin perder el rumbo, estructuramos el desarrollo en 7 </a:t>
            </a:r>
            <a:r>
              <a:rPr lang="es-ES" dirty="0" err="1"/>
              <a:t>Sprints</a:t>
            </a:r>
            <a:r>
              <a:rPr lang="es-ES" dirty="0"/>
              <a:t> semanales bajo la metodología Scrum y utilizamos el ciclo de Lean Startup para validar 7 </a:t>
            </a:r>
            <a:r>
              <a:rPr lang="es-ES" dirty="0" err="1"/>
              <a:t>KPIs</a:t>
            </a:r>
            <a:r>
              <a:rPr lang="es-ES" dirty="0"/>
              <a:t> estrictos."*</a:t>
            </a:r>
          </a:p>
          <a:p>
            <a:endParaRPr lang="es-ES" dirty="0"/>
          </a:p>
          <a:p>
            <a:pPr marL="342900" indent="-342900">
              <a:buFont typeface="Arial" panose="020B0604020202020204" pitchFamily="34" charset="0"/>
              <a:buChar char="•"/>
            </a:pPr>
            <a:r>
              <a:rPr lang="es-ES" dirty="0"/>
              <a:t>**Sugerencia Visual:** Gráfico circular del ciclo Lean (Construir -&gt; Medir -&gt; Aprender).</a:t>
            </a:r>
          </a:p>
          <a:p>
            <a:pPr marL="342900" indent="-342900">
              <a:buFont typeface="Arial" panose="020B0604020202020204" pitchFamily="34" charset="0"/>
              <a:buChar char="•"/>
            </a:pPr>
            <a:endParaRPr lang="es-ES" dirty="0"/>
          </a:p>
          <a:p>
            <a:pPr marL="342900" indent="-342900">
              <a:buFont typeface="Arial" panose="020B0604020202020204" pitchFamily="34" charset="0"/>
              <a:buChar char="•"/>
            </a:pPr>
            <a:endParaRPr lang="es-ES" dirty="0"/>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sz="2400" b="1" kern="1200" dirty="0">
                <a:solidFill>
                  <a:srgbClr val="000000"/>
                </a:solidFill>
                <a:effectLst/>
                <a:latin typeface="Avenir Roman" charset="0"/>
                <a:ea typeface="Avenir Roman" charset="0"/>
                <a:cs typeface="Avenir Roman" charset="0"/>
                <a:sym typeface="Avenir Roman" charset="0"/>
              </a:rPr>
              <a:t>----------------------------------------------------------------------------------------------------------------------------------------------------------------------------------------------</a:t>
            </a:r>
            <a:endParaRPr lang="en-US" dirty="0">
              <a:effectLst/>
            </a:endParaRP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n-US" sz="2400" kern="1200" dirty="0">
                <a:solidFill>
                  <a:srgbClr val="000000"/>
                </a:solidFill>
                <a:effectLst/>
                <a:latin typeface="Avenir Roman" charset="0"/>
                <a:ea typeface="Avenir Roman" charset="0"/>
                <a:cs typeface="Avenir Roman" charset="0"/>
                <a:sym typeface="Avenir Roman" charset="0"/>
              </a:rPr>
              <a:t>[P1] "Nuestro </a:t>
            </a:r>
            <a:r>
              <a:rPr lang="en-US" sz="2400" kern="1200" dirty="0" err="1">
                <a:solidFill>
                  <a:srgbClr val="000000"/>
                </a:solidFill>
                <a:effectLst/>
                <a:latin typeface="Avenir Roman" charset="0"/>
                <a:ea typeface="Avenir Roman" charset="0"/>
                <a:cs typeface="Avenir Roman" charset="0"/>
                <a:sym typeface="Avenir Roman" charset="0"/>
              </a:rPr>
              <a:t>objetivo</a:t>
            </a:r>
            <a:r>
              <a:rPr lang="en-US" sz="2400" kern="1200" dirty="0">
                <a:solidFill>
                  <a:srgbClr val="000000"/>
                </a:solidFill>
                <a:effectLst/>
                <a:latin typeface="Avenir Roman" charset="0"/>
                <a:ea typeface="Avenir Roman" charset="0"/>
                <a:cs typeface="Avenir Roman" charset="0"/>
                <a:sym typeface="Avenir Roman" charset="0"/>
              </a:rPr>
              <a:t> principal es claro y </a:t>
            </a:r>
            <a:r>
              <a:rPr lang="en-US" sz="2400" kern="1200" dirty="0" err="1">
                <a:solidFill>
                  <a:srgbClr val="000000"/>
                </a:solidFill>
                <a:effectLst/>
                <a:latin typeface="Avenir Roman" charset="0"/>
                <a:ea typeface="Avenir Roman" charset="0"/>
                <a:cs typeface="Avenir Roman" charset="0"/>
                <a:sym typeface="Avenir Roman" charset="0"/>
              </a:rPr>
              <a:t>medible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reducir</a:t>
            </a:r>
            <a:r>
              <a:rPr lang="en-US" sz="2400" kern="1200" dirty="0">
                <a:solidFill>
                  <a:srgbClr val="000000"/>
                </a:solidFill>
                <a:effectLst/>
                <a:latin typeface="Avenir Roman" charset="0"/>
                <a:ea typeface="Avenir Roman" charset="0"/>
                <a:cs typeface="Avenir Roman" charset="0"/>
                <a:sym typeface="Avenir Roman" charset="0"/>
              </a:rPr>
              <a:t> entre 5% y 10%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costo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diario</a:t>
            </a:r>
            <a:r>
              <a:rPr lang="en-US" sz="2400" kern="1200" dirty="0">
                <a:solidFill>
                  <a:srgbClr val="000000"/>
                </a:solidFill>
                <a:effectLst/>
                <a:latin typeface="Avenir Roman" charset="0"/>
                <a:ea typeface="Avenir Roman" charset="0"/>
                <a:cs typeface="Avenir Roman" charset="0"/>
                <a:sym typeface="Avenir Roman" charset="0"/>
              </a:rPr>
              <a:t> de la </a:t>
            </a:r>
            <a:r>
              <a:rPr lang="en-US" sz="2400" kern="1200" dirty="0" err="1">
                <a:solidFill>
                  <a:srgbClr val="000000"/>
                </a:solidFill>
                <a:effectLst/>
                <a:latin typeface="Avenir Roman" charset="0"/>
                <a:ea typeface="Avenir Roman" charset="0"/>
                <a:cs typeface="Avenir Roman" charset="0"/>
                <a:sym typeface="Avenir Roman" charset="0"/>
              </a:rPr>
              <a:t>dieta</a:t>
            </a:r>
            <a:r>
              <a:rPr lang="en-US" sz="2400" kern="1200" dirty="0">
                <a:solidFill>
                  <a:srgbClr val="000000"/>
                </a:solidFill>
                <a:effectLst/>
                <a:latin typeface="Avenir Roman" charset="0"/>
                <a:ea typeface="Avenir Roman" charset="0"/>
                <a:cs typeface="Avenir Roman" charset="0"/>
                <a:sym typeface="Avenir Roman" charset="0"/>
              </a:rPr>
              <a:t>, sin </a:t>
            </a:r>
            <a:r>
              <a:rPr lang="en-US" sz="2400" kern="1200" dirty="0" err="1">
                <a:solidFill>
                  <a:srgbClr val="000000"/>
                </a:solidFill>
                <a:effectLst/>
                <a:latin typeface="Avenir Roman" charset="0"/>
                <a:ea typeface="Avenir Roman" charset="0"/>
                <a:cs typeface="Avenir Roman" charset="0"/>
                <a:sym typeface="Avenir Roman" charset="0"/>
              </a:rPr>
              <a:t>violar</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jamás</a:t>
            </a:r>
            <a:r>
              <a:rPr lang="en-US" sz="2400" kern="1200" dirty="0">
                <a:solidFill>
                  <a:srgbClr val="000000"/>
                </a:solidFill>
                <a:effectLst/>
                <a:latin typeface="Avenir Roman" charset="0"/>
                <a:ea typeface="Avenir Roman" charset="0"/>
                <a:cs typeface="Avenir Roman" charset="0"/>
                <a:sym typeface="Avenir Roman" charset="0"/>
              </a:rPr>
              <a:t> las </a:t>
            </a:r>
            <a:r>
              <a:rPr lang="en-US" sz="2400" kern="1200" dirty="0" err="1">
                <a:solidFill>
                  <a:srgbClr val="000000"/>
                </a:solidFill>
                <a:effectLst/>
                <a:latin typeface="Avenir Roman" charset="0"/>
                <a:ea typeface="Avenir Roman" charset="0"/>
                <a:cs typeface="Avenir Roman" charset="0"/>
                <a:sym typeface="Avenir Roman" charset="0"/>
              </a:rPr>
              <a:t>restricciones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biológicas</a:t>
            </a:r>
            <a:r>
              <a:rPr lang="en-US" sz="2400" kern="1200" dirty="0">
                <a:solidFill>
                  <a:srgbClr val="000000"/>
                </a:solidFill>
                <a:effectLst/>
                <a:latin typeface="Avenir Roman" charset="0"/>
                <a:ea typeface="Avenir Roman" charset="0"/>
                <a:cs typeface="Avenir Roman" charset="0"/>
                <a:sym typeface="Avenir Roman" charset="0"/>
              </a:rPr>
              <a:t> del National Research Council. Si no se </a:t>
            </a:r>
            <a:r>
              <a:rPr lang="en-US" sz="2400" kern="1200" dirty="0" err="1">
                <a:solidFill>
                  <a:srgbClr val="000000"/>
                </a:solidFill>
                <a:effectLst/>
                <a:latin typeface="Avenir Roman" charset="0"/>
                <a:ea typeface="Avenir Roman" charset="0"/>
                <a:cs typeface="Avenir Roman" charset="0"/>
                <a:sym typeface="Avenir Roman" charset="0"/>
              </a:rPr>
              <a:t>cumple</a:t>
            </a:r>
            <a:r>
              <a:rPr lang="en-US" sz="2400" kern="1200" dirty="0">
                <a:solidFill>
                  <a:srgbClr val="000000"/>
                </a:solidFill>
                <a:effectLst/>
                <a:latin typeface="Avenir Roman" charset="0"/>
                <a:ea typeface="Avenir Roman" charset="0"/>
                <a:cs typeface="Avenir Roman" charset="0"/>
                <a:sym typeface="Avenir Roman" charset="0"/>
              </a:rPr>
              <a:t> ese guardrail,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sistema</a:t>
            </a:r>
            <a:r>
              <a:rPr lang="en-US" sz="2400" kern="1200" dirty="0">
                <a:solidFill>
                  <a:srgbClr val="000000"/>
                </a:solidFill>
                <a:effectLst/>
                <a:latin typeface="Avenir Roman" charset="0"/>
                <a:ea typeface="Avenir Roman" charset="0"/>
                <a:cs typeface="Avenir Roman" charset="0"/>
                <a:sym typeface="Avenir Roman" charset="0"/>
              </a:rPr>
              <a:t> no </a:t>
            </a:r>
            <a:r>
              <a:rPr lang="en-US" sz="2400" kern="1200" dirty="0" err="1">
                <a:solidFill>
                  <a:srgbClr val="000000"/>
                </a:solidFill>
                <a:effectLst/>
                <a:latin typeface="Avenir Roman" charset="0"/>
                <a:ea typeface="Avenir Roman" charset="0"/>
                <a:cs typeface="Avenir Roman" charset="0"/>
                <a:sym typeface="Avenir Roman" charset="0"/>
              </a:rPr>
              <a:t>entrega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ninguna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recomendación</a:t>
            </a:r>
            <a:r>
              <a:rPr lang="en-US" sz="2400" kern="1200" dirty="0">
                <a:solidFill>
                  <a:srgbClr val="000000"/>
                </a:solidFill>
                <a:effectLst/>
                <a:latin typeface="Avenir Roman" charset="0"/>
                <a:ea typeface="Avenir Roman" charset="0"/>
                <a:cs typeface="Avenir Roman" charset="0"/>
                <a:sym typeface="Avenir Roman" charset="0"/>
              </a:rPr>
              <a: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[P3] "Para </a:t>
            </a:r>
            <a:r>
              <a:rPr lang="en-US" sz="2400" kern="1200" dirty="0" err="1">
                <a:solidFill>
                  <a:srgbClr val="000000"/>
                </a:solidFill>
                <a:effectLst/>
                <a:latin typeface="Avenir Roman" charset="0"/>
                <a:ea typeface="Avenir Roman" charset="0"/>
                <a:cs typeface="Avenir Roman" charset="0"/>
                <a:sym typeface="Avenir Roman" charset="0"/>
              </a:rPr>
              <a:t>validar</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que</a:t>
            </a:r>
            <a:r>
              <a:rPr lang="en-US" sz="2400" kern="1200" dirty="0">
                <a:solidFill>
                  <a:srgbClr val="000000"/>
                </a:solidFill>
                <a:effectLst/>
                <a:latin typeface="Avenir Roman" charset="0"/>
                <a:ea typeface="Avenir Roman" charset="0"/>
                <a:cs typeface="Avenir Roman" charset="0"/>
                <a:sym typeface="Avenir Roman" charset="0"/>
              </a:rPr>
              <a:t> lo </a:t>
            </a:r>
            <a:r>
              <a:rPr lang="en-US" sz="2400" kern="1200" dirty="0" err="1">
                <a:solidFill>
                  <a:srgbClr val="000000"/>
                </a:solidFill>
                <a:effectLst/>
                <a:latin typeface="Avenir Roman" charset="0"/>
                <a:ea typeface="Avenir Roman" charset="0"/>
                <a:cs typeface="Avenir Roman" charset="0"/>
                <a:sym typeface="Avenir Roman" charset="0"/>
              </a:rPr>
              <a:t>que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construimos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realmente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funciona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adoptamos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ciclo</a:t>
            </a:r>
            <a:r>
              <a:rPr lang="en-US" sz="2400" kern="1200" dirty="0">
                <a:solidFill>
                  <a:srgbClr val="000000"/>
                </a:solidFill>
                <a:effectLst/>
                <a:latin typeface="Avenir Roman" charset="0"/>
                <a:ea typeface="Avenir Roman" charset="0"/>
                <a:cs typeface="Avenir Roman" charset="0"/>
                <a:sym typeface="Avenir Roman" charset="0"/>
              </a:rPr>
              <a:t> Lean Startup </a:t>
            </a:r>
            <a:r>
              <a:rPr lang="en-US" sz="2400" kern="1200" dirty="0" err="1">
                <a:solidFill>
                  <a:srgbClr val="000000"/>
                </a:solidFill>
                <a:effectLst/>
                <a:latin typeface="Avenir Roman" charset="0"/>
                <a:ea typeface="Avenir Roman" charset="0"/>
                <a:cs typeface="Avenir Roman" charset="0"/>
                <a:sym typeface="Avenir Roman" charset="0"/>
              </a:rPr>
              <a:t>que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ven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diagrama</a:t>
            </a:r>
            <a:r>
              <a:rPr lang="en-US" sz="2400" kern="1200" dirty="0">
                <a:solidFill>
                  <a:srgbClr val="000000"/>
                </a:solidFill>
                <a:effectLst/>
                <a:latin typeface="Avenir Roman" charset="0"/>
                <a:ea typeface="Avenir Roman" charset="0"/>
                <a:cs typeface="Avenir Roman" charset="0"/>
                <a:sym typeface="Avenir Roman" charset="0"/>
              </a:rPr>
              <a:t> circular: </a:t>
            </a:r>
            <a:r>
              <a:rPr lang="en-US" sz="2400" kern="1200" dirty="0" err="1">
                <a:solidFill>
                  <a:srgbClr val="000000"/>
                </a:solidFill>
                <a:effectLst/>
                <a:latin typeface="Avenir Roman" charset="0"/>
                <a:ea typeface="Avenir Roman" charset="0"/>
                <a:cs typeface="Avenir Roman" charset="0"/>
                <a:sym typeface="Avenir Roman" charset="0"/>
              </a:rPr>
              <a:t>Construir</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prototipo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Medir</a:t>
            </a:r>
            <a:r>
              <a:rPr lang="en-US" sz="2400" kern="1200" dirty="0">
                <a:solidFill>
                  <a:srgbClr val="000000"/>
                </a:solidFill>
                <a:effectLst/>
                <a:latin typeface="Avenir Roman" charset="0"/>
                <a:ea typeface="Avenir Roman" charset="0"/>
                <a:cs typeface="Avenir Roman" charset="0"/>
                <a:sym typeface="Avenir Roman" charset="0"/>
              </a:rPr>
              <a:t> con 7 KPIs </a:t>
            </a:r>
            <a:r>
              <a:rPr lang="en-US" sz="2400" kern="1200" dirty="0" err="1">
                <a:solidFill>
                  <a:srgbClr val="000000"/>
                </a:solidFill>
                <a:effectLst/>
                <a:latin typeface="Avenir Roman" charset="0"/>
                <a:ea typeface="Avenir Roman" charset="0"/>
                <a:cs typeface="Avenir Roman" charset="0"/>
                <a:sym typeface="Avenir Roman" charset="0"/>
              </a:rPr>
              <a:t>estrictos</a:t>
            </a:r>
            <a:r>
              <a:rPr lang="en-US" sz="2400" kern="1200" dirty="0">
                <a:solidFill>
                  <a:srgbClr val="000000"/>
                </a:solidFill>
                <a:effectLst/>
                <a:latin typeface="Avenir Roman" charset="0"/>
                <a:ea typeface="Avenir Roman" charset="0"/>
                <a:cs typeface="Avenir Roman" charset="0"/>
                <a:sym typeface="Avenir Roman" charset="0"/>
              </a:rPr>
              <a:t>, y </a:t>
            </a:r>
            <a:r>
              <a:rPr lang="en-US" sz="2400" kern="1200" dirty="0" err="1">
                <a:solidFill>
                  <a:srgbClr val="000000"/>
                </a:solidFill>
                <a:effectLst/>
                <a:latin typeface="Avenir Roman" charset="0"/>
                <a:ea typeface="Avenir Roman" charset="0"/>
                <a:cs typeface="Avenir Roman" charset="0"/>
                <a:sym typeface="Avenir Roman" charset="0"/>
              </a:rPr>
              <a:t>Aprender</a:t>
            </a:r>
            <a:r>
              <a:rPr lang="en-US" sz="2400" kern="1200" dirty="0">
                <a:solidFill>
                  <a:srgbClr val="000000"/>
                </a:solidFill>
                <a:effectLst/>
                <a:latin typeface="Avenir Roman" charset="0"/>
                <a:ea typeface="Avenir Roman" charset="0"/>
                <a:cs typeface="Avenir Roman" charset="0"/>
                <a:sym typeface="Avenir Roman" charset="0"/>
              </a:rPr>
              <a:t> para </a:t>
            </a:r>
            <a:r>
              <a:rPr lang="en-US" sz="2400" kern="1200" dirty="0" err="1">
                <a:solidFill>
                  <a:srgbClr val="000000"/>
                </a:solidFill>
                <a:effectLst/>
                <a:latin typeface="Avenir Roman" charset="0"/>
                <a:ea typeface="Avenir Roman" charset="0"/>
                <a:cs typeface="Avenir Roman" charset="0"/>
                <a:sym typeface="Avenir Roman" charset="0"/>
              </a:rPr>
              <a:t>iterar</a:t>
            </a:r>
            <a:r>
              <a:rPr lang="en-US" sz="2400" kern="1200" dirty="0">
                <a:solidFill>
                  <a:srgbClr val="000000"/>
                </a:solidFill>
                <a:effectLst/>
                <a:latin typeface="Avenir Roman" charset="0"/>
                <a:ea typeface="Avenir Roman" charset="0"/>
                <a:cs typeface="Avenir Roman" charset="0"/>
                <a:sym typeface="Avenir Roman" charset="0"/>
              </a:rPr>
              <a:t>. Esto </a:t>
            </a:r>
            <a:r>
              <a:rPr lang="en-US" sz="2400" kern="1200" dirty="0" err="1">
                <a:solidFill>
                  <a:srgbClr val="000000"/>
                </a:solidFill>
                <a:effectLst/>
                <a:latin typeface="Avenir Roman" charset="0"/>
                <a:ea typeface="Avenir Roman" charset="0"/>
                <a:cs typeface="Avenir Roman" charset="0"/>
                <a:sym typeface="Avenir Roman" charset="0"/>
              </a:rPr>
              <a:t>nos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dio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una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validación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objetiva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cada</a:t>
            </a:r>
            <a:r>
              <a:rPr lang="en-US" sz="2400" kern="1200" dirty="0">
                <a:solidFill>
                  <a:srgbClr val="000000"/>
                </a:solidFill>
                <a:effectLst/>
                <a:latin typeface="Avenir Roman" charset="0"/>
                <a:ea typeface="Avenir Roman" charset="0"/>
                <a:cs typeface="Avenir Roman" charset="0"/>
                <a:sym typeface="Avenir Roman" charset="0"/>
              </a:rPr>
              <a:t> sprint."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[P2] "Y para </a:t>
            </a:r>
            <a:r>
              <a:rPr lang="en-US" sz="2400" kern="1200" dirty="0" err="1">
                <a:solidFill>
                  <a:srgbClr val="000000"/>
                </a:solidFill>
                <a:effectLst/>
                <a:latin typeface="Avenir Roman" charset="0"/>
                <a:ea typeface="Avenir Roman" charset="0"/>
                <a:cs typeface="Avenir Roman" charset="0"/>
                <a:sym typeface="Avenir Roman" charset="0"/>
              </a:rPr>
              <a:t>organizarnos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trabajamos</a:t>
            </a:r>
            <a:r>
              <a:rPr lang="en-US" sz="2400" kern="1200" dirty="0">
                <a:solidFill>
                  <a:srgbClr val="000000"/>
                </a:solidFill>
                <a:effectLst/>
                <a:latin typeface="Avenir Roman" charset="0"/>
                <a:ea typeface="Avenir Roman" charset="0"/>
                <a:cs typeface="Avenir Roman" charset="0"/>
                <a:sym typeface="Avenir Roman" charset="0"/>
              </a:rPr>
              <a:t> 7 Sprints </a:t>
            </a:r>
            <a:r>
              <a:rPr lang="en-US" sz="2400" kern="1200" dirty="0" err="1">
                <a:solidFill>
                  <a:srgbClr val="000000"/>
                </a:solidFill>
                <a:effectLst/>
                <a:latin typeface="Avenir Roman" charset="0"/>
                <a:ea typeface="Avenir Roman" charset="0"/>
                <a:cs typeface="Avenir Roman" charset="0"/>
                <a:sym typeface="Avenir Roman" charset="0"/>
              </a:rPr>
              <a:t>semanales</a:t>
            </a:r>
            <a:r>
              <a:rPr lang="en-US" sz="2400" kern="1200" dirty="0">
                <a:solidFill>
                  <a:srgbClr val="000000"/>
                </a:solidFill>
                <a:effectLst/>
                <a:latin typeface="Avenir Roman" charset="0"/>
                <a:ea typeface="Avenir Roman" charset="0"/>
                <a:cs typeface="Avenir Roman" charset="0"/>
                <a:sym typeface="Avenir Roman" charset="0"/>
              </a:rPr>
              <a:t> bajo Scrum, con backlog, </a:t>
            </a:r>
            <a:r>
              <a:rPr lang="en-US" sz="2400" kern="1200" dirty="0" err="1">
                <a:solidFill>
                  <a:srgbClr val="000000"/>
                </a:solidFill>
                <a:effectLst/>
                <a:latin typeface="Avenir Roman" charset="0"/>
                <a:ea typeface="Avenir Roman" charset="0"/>
                <a:cs typeface="Avenir Roman" charset="0"/>
                <a:sym typeface="Avenir Roman" charset="0"/>
              </a:rPr>
              <a:t>historias</a:t>
            </a:r>
            <a:r>
              <a:rPr lang="en-US" sz="2400" kern="1200" dirty="0">
                <a:solidFill>
                  <a:srgbClr val="000000"/>
                </a:solidFill>
                <a:effectLst/>
                <a:latin typeface="Avenir Roman" charset="0"/>
                <a:ea typeface="Avenir Roman" charset="0"/>
                <a:cs typeface="Avenir Roman" charset="0"/>
                <a:sym typeface="Avenir Roman" charset="0"/>
              </a:rPr>
              <a:t> de </a:t>
            </a:r>
            <a:r>
              <a:rPr lang="en-US" sz="2400" kern="1200" dirty="0" err="1">
                <a:solidFill>
                  <a:srgbClr val="000000"/>
                </a:solidFill>
                <a:effectLst/>
                <a:latin typeface="Avenir Roman" charset="0"/>
                <a:ea typeface="Avenir Roman" charset="0"/>
                <a:cs typeface="Avenir Roman" charset="0"/>
                <a:sym typeface="Avenir Roman" charset="0"/>
              </a:rPr>
              <a:t>usuario</a:t>
            </a:r>
            <a:r>
              <a:rPr lang="en-US" sz="2400" kern="1200" dirty="0">
                <a:solidFill>
                  <a:srgbClr val="000000"/>
                </a:solidFill>
                <a:effectLst/>
                <a:latin typeface="Avenir Roman" charset="0"/>
                <a:ea typeface="Avenir Roman" charset="0"/>
                <a:cs typeface="Avenir Roman" charset="0"/>
                <a:sym typeface="Avenir Roman" charset="0"/>
              </a:rPr>
              <a:t>, y </a:t>
            </a:r>
            <a:r>
              <a:rPr lang="en-US" sz="2400" kern="1200" dirty="0" err="1">
                <a:solidFill>
                  <a:srgbClr val="000000"/>
                </a:solidFill>
                <a:effectLst/>
                <a:latin typeface="Avenir Roman" charset="0"/>
                <a:ea typeface="Avenir Roman" charset="0"/>
                <a:cs typeface="Avenir Roman" charset="0"/>
                <a:sym typeface="Avenir Roman" charset="0"/>
              </a:rPr>
              <a:t>definición</a:t>
            </a:r>
            <a:r>
              <a:rPr lang="en-US" sz="2400" kern="1200" dirty="0">
                <a:solidFill>
                  <a:srgbClr val="000000"/>
                </a:solidFill>
                <a:effectLst/>
                <a:latin typeface="Avenir Roman" charset="0"/>
                <a:ea typeface="Avenir Roman" charset="0"/>
                <a:cs typeface="Avenir Roman" charset="0"/>
                <a:sym typeface="Avenir Roman" charset="0"/>
              </a:rPr>
              <a:t> de Done para </a:t>
            </a:r>
            <a:r>
              <a:rPr lang="en-US" sz="2400" kern="1200" dirty="0" err="1">
                <a:solidFill>
                  <a:srgbClr val="000000"/>
                </a:solidFill>
                <a:effectLst/>
                <a:latin typeface="Avenir Roman" charset="0"/>
                <a:ea typeface="Avenir Roman" charset="0"/>
                <a:cs typeface="Avenir Roman" charset="0"/>
                <a:sym typeface="Avenir Roman" charset="0"/>
              </a:rPr>
              <a:t>cada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entregable</a:t>
            </a:r>
            <a:r>
              <a:rPr lang="en-US" sz="2400" kern="1200" dirty="0">
                <a:solidFill>
                  <a:srgbClr val="000000"/>
                </a:solidFill>
                <a:effectLst/>
                <a:latin typeface="Avenir Roman" charset="0"/>
                <a:ea typeface="Avenir Roman" charset="0"/>
                <a:cs typeface="Avenir Roman" charset="0"/>
                <a:sym typeface="Avenir Roman" charset="0"/>
              </a:rPr>
              <a:t>. La </a:t>
            </a:r>
            <a:r>
              <a:rPr lang="en-US" sz="2400" kern="1200" dirty="0" err="1">
                <a:solidFill>
                  <a:srgbClr val="000000"/>
                </a:solidFill>
                <a:effectLst/>
                <a:latin typeface="Avenir Roman" charset="0"/>
                <a:ea typeface="Avenir Roman" charset="0"/>
                <a:cs typeface="Avenir Roman" charset="0"/>
                <a:sym typeface="Avenir Roman" charset="0"/>
              </a:rPr>
              <a:t>combinación</a:t>
            </a:r>
            <a:r>
              <a:rPr lang="en-US" sz="2400" kern="1200" dirty="0">
                <a:solidFill>
                  <a:srgbClr val="000000"/>
                </a:solidFill>
                <a:effectLst/>
                <a:latin typeface="Avenir Roman" charset="0"/>
                <a:ea typeface="Avenir Roman" charset="0"/>
                <a:cs typeface="Avenir Roman" charset="0"/>
                <a:sym typeface="Avenir Roman" charset="0"/>
              </a:rPr>
              <a:t> Scrum + Lean </a:t>
            </a:r>
            <a:r>
              <a:rPr lang="en-US" sz="2400" kern="1200" dirty="0" err="1">
                <a:solidFill>
                  <a:srgbClr val="000000"/>
                </a:solidFill>
                <a:effectLst/>
                <a:latin typeface="Avenir Roman" charset="0"/>
                <a:ea typeface="Avenir Roman" charset="0"/>
                <a:cs typeface="Avenir Roman" charset="0"/>
                <a:sym typeface="Avenir Roman" charset="0"/>
              </a:rPr>
              <a:t>nos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mantuvo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alineados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durante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todo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desarrollo</a:t>
            </a:r>
            <a:r>
              <a:rPr lang="en-US" sz="2400" kern="1200" dirty="0">
                <a:solidFill>
                  <a:srgbClr val="000000"/>
                </a:solidFill>
                <a:effectLst/>
                <a:latin typeface="Avenir Roman" charset="0"/>
                <a:ea typeface="Avenir Roman" charset="0"/>
                <a:cs typeface="Avenir Roman" charset="0"/>
                <a:sym typeface="Avenir Roman" charset="0"/>
              </a:rPr>
              <a: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 ~1:30 min.</a:t>
            </a:r>
            <a:endParaRPr lang="en-US" dirty="0">
              <a:effectLst/>
            </a:endParaRPr>
          </a:p>
          <a:p>
            <a:pPr marL="0" indent="0">
              <a:buFont typeface="Arial" panose="020B0604020202020204" pitchFamily="34" charset="0"/>
              <a:buNone/>
            </a:pPr>
            <a:r>
              <a:rPr lang="en-US" dirty="0"/>
              <a:t>A</a:t>
            </a:r>
          </a:p>
        </p:txBody>
      </p:sp>
    </p:spTree>
    <p:extLst>
      <p:ext uri="{BB962C8B-B14F-4D97-AF65-F5344CB8AC3E}">
        <p14:creationId xmlns:p14="http://schemas.microsoft.com/office/powerpoint/2010/main" val="27326263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a:t>*   **Notas del Presentador:** *"A nivel técnico, implementamos una Arquitectura Hexagonal para aislar nuestras capas. La gran innovación tecnológica aquí es nuestro sistema híbrido. Los modelos de lenguaje como </a:t>
            </a:r>
            <a:r>
              <a:rPr lang="es-ES" dirty="0" err="1"/>
              <a:t>ChatGPT</a:t>
            </a:r>
            <a:r>
              <a:rPr lang="es-ES" dirty="0"/>
              <a:t> tienden a alucinar, lo cual es mortal para el ganado. Por eso, en Caporal AI, la IA generativa (</a:t>
            </a:r>
            <a:r>
              <a:rPr lang="es-ES" dirty="0" err="1"/>
              <a:t>LangChain</a:t>
            </a:r>
            <a:r>
              <a:rPr lang="es-ES" dirty="0"/>
              <a:t>/RAG) solo funciona como un orquestador que entiende al ganadero, pero la matemática de la ración la resuelve exclusivamente nuestro microservicio en Python usando el algoritmo determinista Simplex. Esto garantiza cero riesgos biológicos."*</a:t>
            </a:r>
          </a:p>
          <a:p>
            <a:endParaRPr lang="es-ES" dirty="0"/>
          </a:p>
          <a:p>
            <a:pPr marL="342900" indent="-342900">
              <a:buFont typeface="Arial" panose="020B0604020202020204" pitchFamily="34" charset="0"/>
              <a:buChar char="•"/>
            </a:pPr>
            <a:r>
              <a:rPr lang="es-ES" dirty="0"/>
              <a:t>**Sugerencia Visual:** Insertar la **Figura 3** del documento (Diagrama de Arquitectura Hexagonal).</a:t>
            </a:r>
          </a:p>
          <a:p>
            <a:pPr marL="342900" indent="-342900">
              <a:buFont typeface="Arial" panose="020B0604020202020204" pitchFamily="34" charset="0"/>
              <a:buChar char="•"/>
            </a:pPr>
            <a:endParaRPr lang="es-ES" dirty="0"/>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sz="2400" b="1" kern="1200" dirty="0">
                <a:solidFill>
                  <a:srgbClr val="000000"/>
                </a:solidFill>
                <a:effectLst/>
                <a:latin typeface="Avenir Roman" charset="0"/>
                <a:ea typeface="Avenir Roman" charset="0"/>
                <a:cs typeface="Avenir Roman" charset="0"/>
                <a:sym typeface="Avenir Roman" charset="0"/>
              </a:rPr>
              <a:t>----------------------------------------------------------------------------------------------------------------------------------------------------------------------------------------------</a:t>
            </a:r>
            <a:endParaRPr lang="en-US" dirty="0">
              <a:effectLst/>
            </a:endParaRP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dirty="0"/>
              <a:t>[P2] "El diagrama de la derecha muestra nuestra Arquitectura Hexagonal. El hexágono azul central es </a:t>
            </a:r>
            <a:r>
              <a:rPr lang="es-ES" dirty="0" err="1"/>
              <a:t>NestJS</a:t>
            </a:r>
            <a:r>
              <a:rPr lang="es-ES" dirty="0"/>
              <a:t> — el orquestador que conecta todos los servicios sin que ninguno dependa directamente del otro." </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endParaRPr lang="es-ES" dirty="0"/>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dirty="0"/>
              <a:t>[P1] "La clave está en el Motor </a:t>
            </a:r>
            <a:r>
              <a:rPr lang="es-ES" dirty="0" err="1"/>
              <a:t>Solver</a:t>
            </a:r>
            <a:r>
              <a:rPr lang="es-ES" dirty="0"/>
              <a:t>: el hexágono naranja es Python con </a:t>
            </a:r>
            <a:r>
              <a:rPr lang="es-ES" dirty="0" err="1"/>
              <a:t>SciPy</a:t>
            </a:r>
            <a:r>
              <a:rPr lang="es-ES" dirty="0"/>
              <a:t> corriendo el algoritmo Simplex. Los modelos de lenguaje como </a:t>
            </a:r>
            <a:r>
              <a:rPr lang="es-ES" dirty="0" err="1"/>
              <a:t>ChatGPT</a:t>
            </a:r>
            <a:r>
              <a:rPr lang="es-ES" dirty="0"/>
              <a:t> alucinan, lo cual sería mortal en nutrición animal. Por eso </a:t>
            </a:r>
            <a:r>
              <a:rPr lang="es-ES" dirty="0" err="1"/>
              <a:t>LangChain</a:t>
            </a:r>
            <a:r>
              <a:rPr lang="es-ES" dirty="0"/>
              <a:t> — el morado — solo entiende al ganadero y traduce su pregunta, pero el número de la ración SIEMPRE lo calcula el Simplex determinista." </a:t>
            </a: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endParaRPr lang="es-ES" dirty="0"/>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dirty="0"/>
              <a:t>[P3] "Y el hexágono verde es el </a:t>
            </a:r>
            <a:r>
              <a:rPr lang="es-ES" dirty="0" err="1"/>
              <a:t>Guardrail</a:t>
            </a:r>
            <a:r>
              <a:rPr lang="es-ES" dirty="0"/>
              <a:t> NRC: antes de entregar cualquier resultado, el sistema verifica que todas las restricciones nutricionales del </a:t>
            </a:r>
            <a:r>
              <a:rPr lang="es-ES" dirty="0" err="1"/>
              <a:t>National</a:t>
            </a:r>
            <a:r>
              <a:rPr lang="es-ES" dirty="0"/>
              <a:t> </a:t>
            </a:r>
            <a:r>
              <a:rPr lang="es-ES" dirty="0" err="1"/>
              <a:t>Research</a:t>
            </a:r>
            <a:r>
              <a:rPr lang="es-ES" dirty="0"/>
              <a:t> Council estén cumplidas. Si no se cumplen, el resultado se bloquea. Cero riesgos biológicos." ⏱ ~1:30 min.</a:t>
            </a:r>
            <a:endParaRPr lang="en-US" dirty="0"/>
          </a:p>
        </p:txBody>
      </p:sp>
    </p:spTree>
    <p:extLst>
      <p:ext uri="{BB962C8B-B14F-4D97-AF65-F5344CB8AC3E}">
        <p14:creationId xmlns:p14="http://schemas.microsoft.com/office/powerpoint/2010/main" val="10819663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E2CCF5-EBB0-72AF-A567-90AD28B38C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8F680A-1BC1-D759-EB87-3D89F1608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0123C0-7DF8-F359-B9FA-BCB03F4211B6}"/>
              </a:ext>
            </a:extLst>
          </p:cNvPr>
          <p:cNvSpPr>
            <a:spLocks noGrp="1"/>
          </p:cNvSpPr>
          <p:nvPr>
            <p:ph type="body" idx="1"/>
          </p:nvPr>
        </p:nvSpPr>
        <p:spPr/>
        <p:txBody>
          <a:bodyPr/>
          <a:lstStyle/>
          <a:p>
            <a:pPr marL="342900" indent="-342900">
              <a:buFont typeface="Arial" panose="020B0604020202020204" pitchFamily="34" charset="0"/>
              <a:buChar char="•"/>
            </a:pPr>
            <a:r>
              <a:rPr lang="es-ES" dirty="0"/>
              <a:t>**Notas del Presentador:** *"Llegó el momento de ver la herramienta en acción. (Aquí uno de ustedes toma la pantalla o reproduce el video pregrabado del MVP). Como pueden observar en nuestro </a:t>
            </a:r>
            <a:r>
              <a:rPr lang="es-ES" dirty="0" err="1"/>
              <a:t>dashboard</a:t>
            </a:r>
            <a:r>
              <a:rPr lang="es-ES" dirty="0"/>
              <a:t> en </a:t>
            </a:r>
            <a:r>
              <a:rPr lang="es-ES" dirty="0" err="1"/>
              <a:t>React</a:t>
            </a:r>
            <a:r>
              <a:rPr lang="es-ES" dirty="0"/>
              <a:t>, el productor puede actualizar el precio del maíz y en menos de 5 minutos el </a:t>
            </a:r>
            <a:r>
              <a:rPr lang="es-ES" dirty="0" err="1"/>
              <a:t>Solver</a:t>
            </a:r>
            <a:r>
              <a:rPr lang="es-ES" dirty="0"/>
              <a:t> recalcula la dieta más barata. Además, mediante nuestro </a:t>
            </a:r>
            <a:r>
              <a:rPr lang="es-ES" dirty="0" err="1"/>
              <a:t>chatbot</a:t>
            </a:r>
            <a:r>
              <a:rPr lang="es-ES" dirty="0"/>
              <a:t> asistido por RAG, el ganadero puede preguntar dudas técnicas, y el sistema responde basándose únicamente en la literatura indexada, citando sus fuentes."*</a:t>
            </a:r>
          </a:p>
          <a:p>
            <a:pPr marL="0" indent="0">
              <a:buFont typeface="Arial" panose="020B0604020202020204" pitchFamily="34" charset="0"/>
              <a:buNone/>
            </a:pPr>
            <a:endParaRPr lang="es-ES" dirty="0"/>
          </a:p>
          <a:p>
            <a:pPr marL="342900" indent="-342900">
              <a:buFont typeface="Arial" panose="020B0604020202020204" pitchFamily="34" charset="0"/>
              <a:buChar char="•"/>
            </a:pPr>
            <a:r>
              <a:rPr lang="es-ES" dirty="0"/>
              <a:t>**Sugerencia Visual:** **Obligatorio por la Clase S04:** Mostrar las **Figuras 4, 5 y 6** (Capturas de pantalla de los </a:t>
            </a:r>
            <a:r>
              <a:rPr lang="es-ES" dirty="0" err="1"/>
              <a:t>Dashboards</a:t>
            </a:r>
            <a:r>
              <a:rPr lang="es-ES" dirty="0"/>
              <a:t>) o reproducir un video breve de la pantalla navegando por el sistema en vivo</a:t>
            </a:r>
          </a:p>
          <a:p>
            <a:pPr marL="342900" indent="-342900">
              <a:buFont typeface="Arial" panose="020B0604020202020204" pitchFamily="34" charset="0"/>
              <a:buChar char="•"/>
            </a:pPr>
            <a:endParaRPr lang="es-ES" dirty="0"/>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sz="2400" b="1" kern="1200" dirty="0">
                <a:solidFill>
                  <a:srgbClr val="000000"/>
                </a:solidFill>
                <a:effectLst/>
                <a:latin typeface="Avenir Roman" charset="0"/>
                <a:ea typeface="Avenir Roman" charset="0"/>
                <a:cs typeface="Avenir Roman" charset="0"/>
                <a:sym typeface="Avenir Roman" charset="0"/>
              </a:rPr>
              <a:t>----------------------------------------------------------------------------------------------------------------------------------------------------------------------------------------------</a:t>
            </a:r>
            <a:endParaRPr lang="en-US" dirty="0">
              <a:effectLst/>
            </a:endParaRPr>
          </a:p>
          <a:p>
            <a:pPr marL="0" indent="0">
              <a:buFont typeface="Arial" panose="020B0604020202020204" pitchFamily="34" charset="0"/>
              <a:buNone/>
            </a:pPr>
            <a:r>
              <a:rPr lang="es-ES" dirty="0"/>
              <a:t>.</a:t>
            </a:r>
          </a:p>
          <a:p>
            <a:pPr marL="0" indent="0">
              <a:buFont typeface="Arial" panose="020B0604020202020204" pitchFamily="34" charset="0"/>
              <a:buNone/>
            </a:pPr>
            <a:r>
              <a:rPr lang="es-ES" dirty="0"/>
              <a:t>[P3] "Llegó el momento de ver la herramienta en acción. El diagrama muestra los tres módulos integrados del prototipo." </a:t>
            </a:r>
          </a:p>
          <a:p>
            <a:pPr marL="0" indent="0">
              <a:buFont typeface="Arial" panose="020B0604020202020204" pitchFamily="34" charset="0"/>
              <a:buNone/>
            </a:pPr>
            <a:endParaRPr lang="es-ES" dirty="0"/>
          </a:p>
          <a:p>
            <a:pPr marL="0" indent="0">
              <a:buFont typeface="Arial" panose="020B0604020202020204" pitchFamily="34" charset="0"/>
              <a:buNone/>
            </a:pPr>
            <a:r>
              <a:rPr lang="es-ES" dirty="0"/>
              <a:t>[P1] "El Módulo 1 — Gestión Operativa — permite al productor registrar digitalmente cada lote y el peso de su ganado desde el celular, sin papel. Con esa información el sistema establece el punto de partida para la optimización." </a:t>
            </a:r>
          </a:p>
          <a:p>
            <a:pPr marL="0" indent="0">
              <a:buFont typeface="Arial" panose="020B0604020202020204" pitchFamily="34" charset="0"/>
              <a:buNone/>
            </a:pPr>
            <a:endParaRPr lang="es-ES" dirty="0"/>
          </a:p>
          <a:p>
            <a:pPr marL="0" indent="0">
              <a:buFont typeface="Arial" panose="020B0604020202020204" pitchFamily="34" charset="0"/>
              <a:buNone/>
            </a:pPr>
            <a:r>
              <a:rPr lang="es-ES" dirty="0"/>
              <a:t>[P2] "El Módulo 2 — Optimización Dinámica — es el corazón del proyecto: en cuanto el usuario actualiza el precio del maíz, el </a:t>
            </a:r>
            <a:r>
              <a:rPr lang="es-ES" dirty="0" err="1"/>
              <a:t>Solver</a:t>
            </a:r>
            <a:r>
              <a:rPr lang="es-ES" dirty="0"/>
              <a:t> Simplex recalcula en menos de 5 minutos la dieta más económica posible, sin comprometer la nutrición." </a:t>
            </a:r>
          </a:p>
          <a:p>
            <a:pPr marL="0" indent="0">
              <a:buFont typeface="Arial" panose="020B0604020202020204" pitchFamily="34" charset="0"/>
              <a:buNone/>
            </a:pPr>
            <a:endParaRPr lang="es-ES" dirty="0"/>
          </a:p>
          <a:p>
            <a:pPr marL="0" indent="0">
              <a:buFont typeface="Arial" panose="020B0604020202020204" pitchFamily="34" charset="0"/>
              <a:buNone/>
            </a:pPr>
            <a:r>
              <a:rPr lang="es-ES" dirty="0"/>
              <a:t>[P3] "Y el Módulo 3 — </a:t>
            </a:r>
            <a:r>
              <a:rPr lang="es-ES" dirty="0" err="1"/>
              <a:t>Decision</a:t>
            </a:r>
            <a:r>
              <a:rPr lang="es-ES" dirty="0"/>
              <a:t> </a:t>
            </a:r>
            <a:r>
              <a:rPr lang="es-ES" dirty="0" err="1"/>
              <a:t>Copilot</a:t>
            </a:r>
            <a:r>
              <a:rPr lang="es-ES" dirty="0"/>
              <a:t> — permite al ganadero hacer preguntas en español. El sistema responde únicamente con citas del corpus NRC verificadas. Nunca inventa nada. (Aquí mostrar demo en vivo o video del </a:t>
            </a:r>
            <a:r>
              <a:rPr lang="es-ES" dirty="0" err="1"/>
              <a:t>dashboard</a:t>
            </a:r>
            <a:r>
              <a:rPr lang="es-ES" dirty="0"/>
              <a:t> en pantalla.)" </a:t>
            </a:r>
          </a:p>
          <a:p>
            <a:pPr marL="0" indent="0">
              <a:buFont typeface="Arial" panose="020B0604020202020204" pitchFamily="34" charset="0"/>
              <a:buNone/>
            </a:pPr>
            <a:endParaRPr lang="es-ES" dirty="0"/>
          </a:p>
          <a:p>
            <a:pPr marL="0" indent="0">
              <a:buFont typeface="Arial" panose="020B0604020202020204" pitchFamily="34" charset="0"/>
              <a:buNone/>
            </a:pPr>
            <a:r>
              <a:rPr lang="es-ES" dirty="0"/>
              <a:t>⏱ ~1:30 min.</a:t>
            </a:r>
          </a:p>
        </p:txBody>
      </p:sp>
    </p:spTree>
    <p:extLst>
      <p:ext uri="{BB962C8B-B14F-4D97-AF65-F5344CB8AC3E}">
        <p14:creationId xmlns:p14="http://schemas.microsoft.com/office/powerpoint/2010/main" val="6581423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indent="-342900">
              <a:buFont typeface="Arial" panose="020B0604020202020204" pitchFamily="34" charset="0"/>
              <a:buChar char="•"/>
            </a:pPr>
            <a:r>
              <a:rPr lang="es-ES" dirty="0"/>
              <a:t>**Notas del Presentador:** *"Para someter nuestra teoría al rigor científico, diseñamos un experimento de '</a:t>
            </a:r>
            <a:r>
              <a:rPr lang="es-ES" dirty="0" err="1"/>
              <a:t>backtesting</a:t>
            </a:r>
            <a:r>
              <a:rPr lang="es-ES" dirty="0"/>
              <a:t>' de 90 días inyectando datos históricos reales de la inflación en México. Al comparar el '</a:t>
            </a:r>
            <a:r>
              <a:rPr lang="es-ES" dirty="0" err="1"/>
              <a:t>baseline</a:t>
            </a:r>
            <a:r>
              <a:rPr lang="es-ES" dirty="0"/>
              <a:t>' estático del ganadero tradicional contra la formulación dinámica de Caporal AI, logramos comprobar la reducción teórica de costos proyectada. Aún más importante: cumplimos nuestro KPI de seguridad, obteniendo cero violaciones a las restricciones nutricionales del NRC, demostrando que la solución es económicamente viable y biológicamente segura."*</a:t>
            </a:r>
          </a:p>
          <a:p>
            <a:pPr marL="342900" indent="-342900">
              <a:buFont typeface="Arial" panose="020B0604020202020204" pitchFamily="34" charset="0"/>
              <a:buChar char="•"/>
            </a:pPr>
            <a:endParaRPr lang="es-ES" dirty="0"/>
          </a:p>
          <a:p>
            <a:pPr marL="0" indent="0">
              <a:buFont typeface="Arial" panose="020B0604020202020204" pitchFamily="34" charset="0"/>
              <a:buNone/>
            </a:pPr>
            <a:endParaRPr lang="es-ES" dirty="0"/>
          </a:p>
          <a:p>
            <a:pPr marL="342900" indent="-342900">
              <a:buFont typeface="Arial" panose="020B0604020202020204" pitchFamily="34" charset="0"/>
              <a:buChar char="•"/>
            </a:pPr>
            <a:r>
              <a:rPr lang="es-ES" dirty="0"/>
              <a:t>**Sugerencia Visual:** Curva de campana de rigor estadístico (como sugiere la plantilla) o la tabla de cierre del ciclo Lean (Tabla 9) simplificada a semáforos verde/rojo.</a:t>
            </a:r>
          </a:p>
          <a:p>
            <a:pPr marL="342900" indent="-342900">
              <a:buFont typeface="Arial" panose="020B0604020202020204" pitchFamily="34" charset="0"/>
              <a:buChar char="•"/>
            </a:pPr>
            <a:endParaRPr lang="es-ES" dirty="0"/>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sz="2400" b="1" kern="1200" dirty="0">
                <a:solidFill>
                  <a:srgbClr val="000000"/>
                </a:solidFill>
                <a:effectLst/>
                <a:latin typeface="Avenir Roman" charset="0"/>
                <a:ea typeface="Avenir Roman" charset="0"/>
                <a:cs typeface="Avenir Roman" charset="0"/>
                <a:sym typeface="Avenir Roman" charset="0"/>
              </a:rPr>
              <a:t>----------------------------------------------------------------------------------------------------------------------------------------------------------------------------------------------</a:t>
            </a:r>
            <a:endParaRPr lang="en-US" dirty="0">
              <a:effectLst/>
            </a:endParaRPr>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n-US" sz="2400" kern="1200" dirty="0">
                <a:solidFill>
                  <a:srgbClr val="000000"/>
                </a:solidFill>
                <a:effectLst/>
                <a:latin typeface="Avenir Roman" charset="0"/>
                <a:ea typeface="Avenir Roman" charset="0"/>
                <a:cs typeface="Avenir Roman" charset="0"/>
                <a:sym typeface="Avenir Roman" charset="0"/>
              </a:rPr>
              <a:t>[P1] "Para </a:t>
            </a:r>
            <a:r>
              <a:rPr lang="en-US" sz="2400" kern="1200" dirty="0" err="1">
                <a:solidFill>
                  <a:srgbClr val="000000"/>
                </a:solidFill>
                <a:effectLst/>
                <a:latin typeface="Avenir Roman" charset="0"/>
                <a:ea typeface="Avenir Roman" charset="0"/>
                <a:cs typeface="Avenir Roman" charset="0"/>
                <a:sym typeface="Avenir Roman" charset="0"/>
              </a:rPr>
              <a:t>someter</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nuestra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propuesta</a:t>
            </a:r>
            <a:r>
              <a:rPr lang="en-US" sz="2400" kern="1200" dirty="0">
                <a:solidFill>
                  <a:srgbClr val="000000"/>
                </a:solidFill>
                <a:effectLst/>
                <a:latin typeface="Avenir Roman" charset="0"/>
                <a:ea typeface="Avenir Roman" charset="0"/>
                <a:cs typeface="Avenir Roman" charset="0"/>
                <a:sym typeface="Avenir Roman" charset="0"/>
              </a:rPr>
              <a:t> al rigor </a:t>
            </a:r>
            <a:r>
              <a:rPr lang="en-US" sz="2400" kern="1200" dirty="0" err="1">
                <a:solidFill>
                  <a:srgbClr val="000000"/>
                </a:solidFill>
                <a:effectLst/>
                <a:latin typeface="Avenir Roman" charset="0"/>
                <a:ea typeface="Avenir Roman" charset="0"/>
                <a:cs typeface="Avenir Roman" charset="0"/>
                <a:sym typeface="Avenir Roman" charset="0"/>
              </a:rPr>
              <a:t>científico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diseñamos</a:t>
            </a:r>
            <a:r>
              <a:rPr lang="en-US" sz="2400" kern="1200" dirty="0">
                <a:solidFill>
                  <a:srgbClr val="000000"/>
                </a:solidFill>
                <a:effectLst/>
                <a:latin typeface="Avenir Roman" charset="0"/>
                <a:ea typeface="Avenir Roman" charset="0"/>
                <a:cs typeface="Avenir Roman" charset="0"/>
                <a:sym typeface="Avenir Roman" charset="0"/>
              </a:rPr>
              <a:t> un </a:t>
            </a:r>
            <a:r>
              <a:rPr lang="en-US" sz="2400" kern="1200" dirty="0" err="1">
                <a:solidFill>
                  <a:srgbClr val="000000"/>
                </a:solidFill>
                <a:effectLst/>
                <a:latin typeface="Avenir Roman" charset="0"/>
                <a:ea typeface="Avenir Roman" charset="0"/>
                <a:cs typeface="Avenir Roman" charset="0"/>
                <a:sym typeface="Avenir Roman" charset="0"/>
              </a:rPr>
              <a:t>experimento</a:t>
            </a:r>
            <a:r>
              <a:rPr lang="en-US" sz="2400" kern="1200" dirty="0">
                <a:solidFill>
                  <a:srgbClr val="000000"/>
                </a:solidFill>
                <a:effectLst/>
                <a:latin typeface="Avenir Roman" charset="0"/>
                <a:ea typeface="Avenir Roman" charset="0"/>
                <a:cs typeface="Avenir Roman" charset="0"/>
                <a:sym typeface="Avenir Roman" charset="0"/>
              </a:rPr>
              <a:t> de </a:t>
            </a:r>
            <a:r>
              <a:rPr lang="en-US" sz="2400" kern="1200" dirty="0" err="1">
                <a:solidFill>
                  <a:srgbClr val="000000"/>
                </a:solidFill>
                <a:effectLst/>
                <a:latin typeface="Avenir Roman" charset="0"/>
                <a:ea typeface="Avenir Roman" charset="0"/>
                <a:cs typeface="Avenir Roman" charset="0"/>
                <a:sym typeface="Avenir Roman" charset="0"/>
              </a:rPr>
              <a:t>backtesting</a:t>
            </a:r>
            <a:r>
              <a:rPr lang="en-US" sz="2400" kern="1200" dirty="0">
                <a:solidFill>
                  <a:srgbClr val="000000"/>
                </a:solidFill>
                <a:effectLst/>
                <a:latin typeface="Avenir Roman" charset="0"/>
                <a:ea typeface="Avenir Roman" charset="0"/>
                <a:cs typeface="Avenir Roman" charset="0"/>
                <a:sym typeface="Avenir Roman" charset="0"/>
              </a:rPr>
              <a:t> de 90 días: </a:t>
            </a:r>
            <a:r>
              <a:rPr lang="en-US" sz="2400" kern="1200" dirty="0" err="1">
                <a:solidFill>
                  <a:srgbClr val="000000"/>
                </a:solidFill>
                <a:effectLst/>
                <a:latin typeface="Avenir Roman" charset="0"/>
                <a:ea typeface="Avenir Roman" charset="0"/>
                <a:cs typeface="Avenir Roman" charset="0"/>
                <a:sym typeface="Avenir Roman" charset="0"/>
              </a:rPr>
              <a:t>inyectamos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los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datos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históricos</a:t>
            </a:r>
            <a:r>
              <a:rPr lang="en-US" sz="2400" kern="1200" dirty="0">
                <a:solidFill>
                  <a:srgbClr val="000000"/>
                </a:solidFill>
                <a:effectLst/>
                <a:latin typeface="Avenir Roman" charset="0"/>
                <a:ea typeface="Avenir Roman" charset="0"/>
                <a:cs typeface="Avenir Roman" charset="0"/>
                <a:sym typeface="Avenir Roman" charset="0"/>
              </a:rPr>
              <a:t> reales de la </a:t>
            </a:r>
            <a:r>
              <a:rPr lang="en-US" sz="2400" kern="1200" dirty="0" err="1">
                <a:solidFill>
                  <a:srgbClr val="000000"/>
                </a:solidFill>
                <a:effectLst/>
                <a:latin typeface="Avenir Roman" charset="0"/>
                <a:ea typeface="Avenir Roman" charset="0"/>
                <a:cs typeface="Avenir Roman" charset="0"/>
                <a:sym typeface="Avenir Roman" charset="0"/>
              </a:rPr>
              <a:t>inflación</a:t>
            </a:r>
            <a:r>
              <a:rPr lang="en-US" sz="2400" kern="1200" dirty="0">
                <a:solidFill>
                  <a:srgbClr val="000000"/>
                </a:solidFill>
                <a:effectLst/>
                <a:latin typeface="Avenir Roman" charset="0"/>
                <a:ea typeface="Avenir Roman" charset="0"/>
                <a:cs typeface="Avenir Roman" charset="0"/>
                <a:sym typeface="Avenir Roman" charset="0"/>
              </a:rPr>
              <a:t> de granos </a:t>
            </a:r>
            <a:r>
              <a:rPr lang="en-US" sz="2400" kern="1200" dirty="0" err="1">
                <a:solidFill>
                  <a:srgbClr val="000000"/>
                </a:solidFill>
                <a:effectLst/>
                <a:latin typeface="Avenir Roman" charset="0"/>
                <a:ea typeface="Avenir Roman" charset="0"/>
                <a:cs typeface="Avenir Roman" charset="0"/>
                <a:sym typeface="Avenir Roman" charset="0"/>
              </a:rPr>
              <a:t>en</a:t>
            </a:r>
            <a:r>
              <a:rPr lang="en-US" sz="2400" kern="1200" dirty="0">
                <a:solidFill>
                  <a:srgbClr val="000000"/>
                </a:solidFill>
                <a:effectLst/>
                <a:latin typeface="Avenir Roman" charset="0"/>
                <a:ea typeface="Avenir Roman" charset="0"/>
                <a:cs typeface="Avenir Roman" charset="0"/>
                <a:sym typeface="Avenir Roman" charset="0"/>
              </a:rPr>
              <a:t> México y </a:t>
            </a:r>
            <a:r>
              <a:rPr lang="en-US" sz="2400" kern="1200" dirty="0" err="1">
                <a:solidFill>
                  <a:srgbClr val="000000"/>
                </a:solidFill>
                <a:effectLst/>
                <a:latin typeface="Avenir Roman" charset="0"/>
                <a:ea typeface="Avenir Roman" charset="0"/>
                <a:cs typeface="Avenir Roman" charset="0"/>
                <a:sym typeface="Avenir Roman" charset="0"/>
              </a:rPr>
              <a:t>simulamos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cómo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habría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respondido</a:t>
            </a:r>
            <a:r>
              <a:rPr lang="en-US" sz="2400" kern="1200" dirty="0">
                <a:solidFill>
                  <a:srgbClr val="000000"/>
                </a:solidFill>
                <a:effectLst/>
                <a:latin typeface="Avenir Roman" charset="0"/>
                <a:ea typeface="Avenir Roman" charset="0"/>
                <a:cs typeface="Avenir Roman" charset="0"/>
                <a:sym typeface="Avenir Roman" charset="0"/>
              </a:rPr>
              <a:t> Caporal AI versus un </a:t>
            </a:r>
            <a:r>
              <a:rPr lang="en-US" sz="2400" kern="1200" dirty="0" err="1">
                <a:solidFill>
                  <a:srgbClr val="000000"/>
                </a:solidFill>
                <a:effectLst/>
                <a:latin typeface="Avenir Roman" charset="0"/>
                <a:ea typeface="Avenir Roman" charset="0"/>
                <a:cs typeface="Avenir Roman" charset="0"/>
                <a:sym typeface="Avenir Roman" charset="0"/>
              </a:rPr>
              <a:t>ganadero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que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sigue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su</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práctica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empírica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tradicional</a:t>
            </a:r>
            <a:r>
              <a:rPr lang="en-US" sz="2400" kern="1200" dirty="0">
                <a:solidFill>
                  <a:srgbClr val="000000"/>
                </a:solidFill>
                <a:effectLst/>
                <a:latin typeface="Avenir Roman" charset="0"/>
                <a:ea typeface="Avenir Roman" charset="0"/>
                <a:cs typeface="Avenir Roman" charset="0"/>
                <a:sym typeface="Avenir Roman" charset="0"/>
              </a:rPr>
              <a: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[P2] "Los </a:t>
            </a:r>
            <a:r>
              <a:rPr lang="en-US" sz="2400" kern="1200" dirty="0" err="1">
                <a:solidFill>
                  <a:srgbClr val="000000"/>
                </a:solidFill>
                <a:effectLst/>
                <a:latin typeface="Avenir Roman" charset="0"/>
                <a:ea typeface="Avenir Roman" charset="0"/>
                <a:cs typeface="Avenir Roman" charset="0"/>
                <a:sym typeface="Avenir Roman" charset="0"/>
              </a:rPr>
              <a:t>tres</a:t>
            </a:r>
            <a:r>
              <a:rPr lang="en-US" sz="2400" kern="1200" dirty="0">
                <a:solidFill>
                  <a:srgbClr val="000000"/>
                </a:solidFill>
                <a:effectLst/>
                <a:latin typeface="Avenir Roman" charset="0"/>
                <a:ea typeface="Avenir Roman" charset="0"/>
                <a:cs typeface="Avenir Roman" charset="0"/>
                <a:sym typeface="Avenir Roman" charset="0"/>
              </a:rPr>
              <a:t> KPIs </a:t>
            </a:r>
            <a:r>
              <a:rPr lang="en-US" sz="2400" kern="1200" dirty="0" err="1">
                <a:solidFill>
                  <a:srgbClr val="000000"/>
                </a:solidFill>
                <a:effectLst/>
                <a:latin typeface="Avenir Roman" charset="0"/>
                <a:ea typeface="Avenir Roman" charset="0"/>
                <a:cs typeface="Avenir Roman" charset="0"/>
                <a:sym typeface="Avenir Roman" charset="0"/>
              </a:rPr>
              <a:t>críticos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que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ven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en</a:t>
            </a:r>
            <a:r>
              <a:rPr lang="en-US" sz="2400" kern="1200" dirty="0">
                <a:solidFill>
                  <a:srgbClr val="000000"/>
                </a:solidFill>
                <a:effectLst/>
                <a:latin typeface="Avenir Roman" charset="0"/>
                <a:ea typeface="Avenir Roman" charset="0"/>
                <a:cs typeface="Avenir Roman" charset="0"/>
                <a:sym typeface="Avenir Roman" charset="0"/>
              </a:rPr>
              <a:t> las </a:t>
            </a:r>
            <a:r>
              <a:rPr lang="en-US" sz="2400" kern="1200" dirty="0" err="1">
                <a:solidFill>
                  <a:srgbClr val="000000"/>
                </a:solidFill>
                <a:effectLst/>
                <a:latin typeface="Avenir Roman" charset="0"/>
                <a:ea typeface="Avenir Roman" charset="0"/>
                <a:cs typeface="Avenir Roman" charset="0"/>
                <a:sym typeface="Avenir Roman" charset="0"/>
              </a:rPr>
              <a:t>tarjetas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superiores</a:t>
            </a:r>
            <a:r>
              <a:rPr lang="en-US" sz="2400" kern="1200" dirty="0">
                <a:solidFill>
                  <a:srgbClr val="000000"/>
                </a:solidFill>
                <a:effectLst/>
                <a:latin typeface="Avenir Roman" charset="0"/>
                <a:ea typeface="Avenir Roman" charset="0"/>
                <a:cs typeface="Avenir Roman" charset="0"/>
                <a:sym typeface="Avenir Roman" charset="0"/>
              </a:rPr>
              <a:t> del </a:t>
            </a:r>
            <a:r>
              <a:rPr lang="en-US" sz="2400" kern="1200" dirty="0" err="1">
                <a:solidFill>
                  <a:srgbClr val="000000"/>
                </a:solidFill>
                <a:effectLst/>
                <a:latin typeface="Avenir Roman" charset="0"/>
                <a:ea typeface="Avenir Roman" charset="0"/>
                <a:cs typeface="Avenir Roman" charset="0"/>
                <a:sym typeface="Avenir Roman" charset="0"/>
              </a:rPr>
              <a:t>gráfico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resumen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resultado</a:t>
            </a:r>
            <a:r>
              <a:rPr lang="en-US" sz="2400" kern="1200" dirty="0">
                <a:solidFill>
                  <a:srgbClr val="000000"/>
                </a:solidFill>
                <a:effectLst/>
                <a:latin typeface="Avenir Roman" charset="0"/>
                <a:ea typeface="Avenir Roman" charset="0"/>
                <a:cs typeface="Avenir Roman" charset="0"/>
                <a:sym typeface="Avenir Roman" charset="0"/>
              </a:rPr>
              <a:t>. El primero: cero </a:t>
            </a:r>
            <a:r>
              <a:rPr lang="en-US" sz="2400" kern="1200" dirty="0" err="1">
                <a:solidFill>
                  <a:srgbClr val="000000"/>
                </a:solidFill>
                <a:effectLst/>
                <a:latin typeface="Avenir Roman" charset="0"/>
                <a:ea typeface="Avenir Roman" charset="0"/>
                <a:cs typeface="Avenir Roman" charset="0"/>
                <a:sym typeface="Avenir Roman" charset="0"/>
              </a:rPr>
              <a:t>violaciones</a:t>
            </a:r>
            <a:r>
              <a:rPr lang="en-US" sz="2400" kern="1200" dirty="0">
                <a:solidFill>
                  <a:srgbClr val="000000"/>
                </a:solidFill>
                <a:effectLst/>
                <a:latin typeface="Avenir Roman" charset="0"/>
                <a:ea typeface="Avenir Roman" charset="0"/>
                <a:cs typeface="Avenir Roman" charset="0"/>
                <a:sym typeface="Avenir Roman" charset="0"/>
              </a:rPr>
              <a:t> a las </a:t>
            </a:r>
            <a:r>
              <a:rPr lang="en-US" sz="2400" kern="1200" dirty="0" err="1">
                <a:solidFill>
                  <a:srgbClr val="000000"/>
                </a:solidFill>
                <a:effectLst/>
                <a:latin typeface="Avenir Roman" charset="0"/>
                <a:ea typeface="Avenir Roman" charset="0"/>
                <a:cs typeface="Avenir Roman" charset="0"/>
                <a:sym typeface="Avenir Roman" charset="0"/>
              </a:rPr>
              <a:t>restricciones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nutricionales</a:t>
            </a:r>
            <a:r>
              <a:rPr lang="en-US" sz="2400" kern="1200" dirty="0">
                <a:solidFill>
                  <a:srgbClr val="000000"/>
                </a:solidFill>
                <a:effectLst/>
                <a:latin typeface="Avenir Roman" charset="0"/>
                <a:ea typeface="Avenir Roman" charset="0"/>
                <a:cs typeface="Avenir Roman" charset="0"/>
                <a:sym typeface="Avenir Roman" charset="0"/>
              </a:rPr>
              <a:t> del NRC </a:t>
            </a:r>
            <a:r>
              <a:rPr lang="en-US" sz="2400" kern="1200" dirty="0" err="1">
                <a:solidFill>
                  <a:srgbClr val="000000"/>
                </a:solidFill>
                <a:effectLst/>
                <a:latin typeface="Avenir Roman" charset="0"/>
                <a:ea typeface="Avenir Roman" charset="0"/>
                <a:cs typeface="Avenir Roman" charset="0"/>
                <a:sym typeface="Avenir Roman" charset="0"/>
              </a:rPr>
              <a:t>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todos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los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escenarios</a:t>
            </a:r>
            <a:r>
              <a:rPr lang="en-US" sz="2400" kern="1200" dirty="0">
                <a:solidFill>
                  <a:srgbClr val="000000"/>
                </a:solidFill>
                <a:effectLst/>
                <a:latin typeface="Avenir Roman" charset="0"/>
                <a:ea typeface="Avenir Roman" charset="0"/>
                <a:cs typeface="Avenir Roman" charset="0"/>
                <a:sym typeface="Avenir Roman" charset="0"/>
              </a:rPr>
              <a:t> — la </a:t>
            </a:r>
            <a:r>
              <a:rPr lang="en-US" sz="2400" kern="1200" dirty="0" err="1">
                <a:solidFill>
                  <a:srgbClr val="000000"/>
                </a:solidFill>
                <a:effectLst/>
                <a:latin typeface="Avenir Roman" charset="0"/>
                <a:ea typeface="Avenir Roman" charset="0"/>
                <a:cs typeface="Avenir Roman" charset="0"/>
                <a:sym typeface="Avenir Roman" charset="0"/>
              </a:rPr>
              <a:t>solución</a:t>
            </a:r>
            <a:r>
              <a:rPr lang="en-US" sz="2400" kern="1200" dirty="0">
                <a:solidFill>
                  <a:srgbClr val="000000"/>
                </a:solidFill>
                <a:effectLst/>
                <a:latin typeface="Avenir Roman" charset="0"/>
                <a:ea typeface="Avenir Roman" charset="0"/>
                <a:cs typeface="Avenir Roman" charset="0"/>
                <a:sym typeface="Avenir Roman" charset="0"/>
              </a:rPr>
              <a:t> es 100% </a:t>
            </a:r>
            <a:r>
              <a:rPr lang="en-US" sz="2400" kern="1200" dirty="0" err="1">
                <a:solidFill>
                  <a:srgbClr val="000000"/>
                </a:solidFill>
                <a:effectLst/>
                <a:latin typeface="Avenir Roman" charset="0"/>
                <a:ea typeface="Avenir Roman" charset="0"/>
                <a:cs typeface="Avenir Roman" charset="0"/>
                <a:sym typeface="Avenir Roman" charset="0"/>
              </a:rPr>
              <a:t>biológicamente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segura</a:t>
            </a:r>
            <a:r>
              <a:rPr lang="en-US" sz="2400" kern="1200" dirty="0">
                <a:solidFill>
                  <a:srgbClr val="000000"/>
                </a:solidFill>
                <a:effectLst/>
                <a:latin typeface="Avenir Roman" charset="0"/>
                <a:ea typeface="Avenir Roman" charset="0"/>
                <a:cs typeface="Avenir Roman" charset="0"/>
                <a:sym typeface="Avenir Roman" charset="0"/>
              </a:rPr>
              <a:t>. El </a:t>
            </a:r>
            <a:r>
              <a:rPr lang="en-US" sz="2400" kern="1200" dirty="0" err="1">
                <a:solidFill>
                  <a:srgbClr val="000000"/>
                </a:solidFill>
                <a:effectLst/>
                <a:latin typeface="Avenir Roman" charset="0"/>
                <a:ea typeface="Avenir Roman" charset="0"/>
                <a:cs typeface="Avenir Roman" charset="0"/>
                <a:sym typeface="Avenir Roman" charset="0"/>
              </a:rPr>
              <a:t>segundo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más</a:t>
            </a:r>
            <a:r>
              <a:rPr lang="en-US" sz="2400" kern="1200" dirty="0">
                <a:solidFill>
                  <a:srgbClr val="000000"/>
                </a:solidFill>
                <a:effectLst/>
                <a:latin typeface="Avenir Roman" charset="0"/>
                <a:ea typeface="Avenir Roman" charset="0"/>
                <a:cs typeface="Avenir Roman" charset="0"/>
                <a:sym typeface="Avenir Roman" charset="0"/>
              </a:rPr>
              <a:t> del 92% de las </a:t>
            </a:r>
            <a:r>
              <a:rPr lang="en-US" sz="2400" kern="1200" dirty="0" err="1">
                <a:solidFill>
                  <a:srgbClr val="000000"/>
                </a:solidFill>
                <a:effectLst/>
                <a:latin typeface="Avenir Roman" charset="0"/>
                <a:ea typeface="Avenir Roman" charset="0"/>
                <a:cs typeface="Avenir Roman" charset="0"/>
                <a:sym typeface="Avenir Roman" charset="0"/>
              </a:rPr>
              <a:t>respuestas</a:t>
            </a:r>
            <a:r>
              <a:rPr lang="en-US" sz="2400" kern="1200" dirty="0">
                <a:solidFill>
                  <a:srgbClr val="000000"/>
                </a:solidFill>
                <a:effectLst/>
                <a:latin typeface="Avenir Roman" charset="0"/>
                <a:ea typeface="Avenir Roman" charset="0"/>
                <a:cs typeface="Avenir Roman" charset="0"/>
                <a:sym typeface="Avenir Roman" charset="0"/>
              </a:rPr>
              <a:t> del chatbot </a:t>
            </a:r>
            <a:r>
              <a:rPr lang="en-US" sz="2400" kern="1200" dirty="0" err="1">
                <a:solidFill>
                  <a:srgbClr val="000000"/>
                </a:solidFill>
                <a:effectLst/>
                <a:latin typeface="Avenir Roman" charset="0"/>
                <a:ea typeface="Avenir Roman" charset="0"/>
                <a:cs typeface="Avenir Roman" charset="0"/>
                <a:sym typeface="Avenir Roman" charset="0"/>
              </a:rPr>
              <a:t>incluyen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citas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verificables</a:t>
            </a:r>
            <a:r>
              <a:rPr lang="en-US" sz="2400" kern="1200" dirty="0">
                <a:solidFill>
                  <a:srgbClr val="000000"/>
                </a:solidFill>
                <a:effectLst/>
                <a:latin typeface="Avenir Roman" charset="0"/>
                <a:ea typeface="Avenir Roman" charset="0"/>
                <a:cs typeface="Avenir Roman" charset="0"/>
                <a:sym typeface="Avenir Roman" charset="0"/>
              </a:rPr>
              <a:t> —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sistema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nunca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alucina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una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recomendación</a:t>
            </a:r>
            <a:r>
              <a:rPr lang="en-US" sz="2400" kern="1200" dirty="0">
                <a:solidFill>
                  <a:srgbClr val="000000"/>
                </a:solidFill>
                <a:effectLst/>
                <a:latin typeface="Avenir Roman" charset="0"/>
                <a:ea typeface="Avenir Roman" charset="0"/>
                <a:cs typeface="Avenir Roman" charset="0"/>
                <a:sym typeface="Avenir Roman" charset="0"/>
              </a:rPr>
              <a: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[P3] "Y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más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importante</a:t>
            </a:r>
            <a:r>
              <a:rPr lang="en-US" sz="2400" kern="1200" dirty="0">
                <a:solidFill>
                  <a:srgbClr val="000000"/>
                </a:solidFill>
                <a:effectLst/>
                <a:latin typeface="Avenir Roman" charset="0"/>
                <a:ea typeface="Avenir Roman" charset="0"/>
                <a:cs typeface="Avenir Roman" charset="0"/>
                <a:sym typeface="Avenir Roman" charset="0"/>
              </a:rPr>
              <a:t> para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ganadero</a:t>
            </a:r>
            <a:r>
              <a:rPr lang="en-US" sz="2400" kern="1200" dirty="0">
                <a:solidFill>
                  <a:srgbClr val="000000"/>
                </a:solidFill>
                <a:effectLst/>
                <a:latin typeface="Avenir Roman" charset="0"/>
                <a:ea typeface="Avenir Roman" charset="0"/>
                <a:cs typeface="Avenir Roman" charset="0"/>
                <a:sym typeface="Avenir Roman" charset="0"/>
              </a:rPr>
              <a:t>: la barra </a:t>
            </a:r>
            <a:r>
              <a:rPr lang="en-US" sz="2400" kern="1200" dirty="0" err="1">
                <a:solidFill>
                  <a:srgbClr val="000000"/>
                </a:solidFill>
                <a:effectLst/>
                <a:latin typeface="Avenir Roman" charset="0"/>
                <a:ea typeface="Avenir Roman" charset="0"/>
                <a:cs typeface="Avenir Roman" charset="0"/>
                <a:sym typeface="Avenir Roman" charset="0"/>
              </a:rPr>
              <a:t>azul</a:t>
            </a:r>
            <a:r>
              <a:rPr lang="en-US" sz="2400" kern="1200" dirty="0">
                <a:solidFill>
                  <a:srgbClr val="000000"/>
                </a:solidFill>
                <a:effectLst/>
                <a:latin typeface="Avenir Roman" charset="0"/>
                <a:ea typeface="Avenir Roman" charset="0"/>
                <a:cs typeface="Avenir Roman" charset="0"/>
                <a:sym typeface="Avenir Roman" charset="0"/>
              </a:rPr>
              <a:t> de Caporal AI es </a:t>
            </a:r>
            <a:r>
              <a:rPr lang="en-US" sz="2400" kern="1200" dirty="0" err="1">
                <a:solidFill>
                  <a:srgbClr val="000000"/>
                </a:solidFill>
                <a:effectLst/>
                <a:latin typeface="Avenir Roman" charset="0"/>
                <a:ea typeface="Avenir Roman" charset="0"/>
                <a:cs typeface="Avenir Roman" charset="0"/>
                <a:sym typeface="Avenir Roman" charset="0"/>
              </a:rPr>
              <a:t>consistentemente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más</a:t>
            </a:r>
            <a:r>
              <a:rPr lang="en-US" sz="2400" kern="1200" dirty="0">
                <a:solidFill>
                  <a:srgbClr val="000000"/>
                </a:solidFill>
                <a:effectLst/>
                <a:latin typeface="Avenir Roman" charset="0"/>
                <a:ea typeface="Avenir Roman" charset="0"/>
                <a:cs typeface="Avenir Roman" charset="0"/>
                <a:sym typeface="Avenir Roman" charset="0"/>
              </a:rPr>
              <a:t> baja </a:t>
            </a:r>
            <a:r>
              <a:rPr lang="en-US" sz="2400" kern="1200" dirty="0" err="1">
                <a:solidFill>
                  <a:srgbClr val="000000"/>
                </a:solidFill>
                <a:effectLst/>
                <a:latin typeface="Avenir Roman" charset="0"/>
                <a:ea typeface="Avenir Roman" charset="0"/>
                <a:cs typeface="Avenir Roman" charset="0"/>
                <a:sym typeface="Avenir Roman" charset="0"/>
              </a:rPr>
              <a:t>que</a:t>
            </a:r>
            <a:r>
              <a:rPr lang="en-US" sz="2400" kern="1200" dirty="0">
                <a:solidFill>
                  <a:srgbClr val="000000"/>
                </a:solidFill>
                <a:effectLst/>
                <a:latin typeface="Avenir Roman" charset="0"/>
                <a:ea typeface="Avenir Roman" charset="0"/>
                <a:cs typeface="Avenir Roman" charset="0"/>
                <a:sym typeface="Avenir Roman" charset="0"/>
              </a:rPr>
              <a:t> la gris </a:t>
            </a:r>
            <a:r>
              <a:rPr lang="en-US" sz="2400" kern="1200" dirty="0" err="1">
                <a:solidFill>
                  <a:srgbClr val="000000"/>
                </a:solidFill>
                <a:effectLst/>
                <a:latin typeface="Avenir Roman" charset="0"/>
                <a:ea typeface="Avenir Roman" charset="0"/>
                <a:cs typeface="Avenir Roman" charset="0"/>
                <a:sym typeface="Avenir Roman" charset="0"/>
              </a:rPr>
              <a:t>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todos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los</a:t>
            </a:r>
            <a:r>
              <a:rPr lang="en-US" sz="2400" kern="1200" dirty="0">
                <a:solidFill>
                  <a:srgbClr val="000000"/>
                </a:solidFill>
                <a:effectLst/>
                <a:latin typeface="Avenir Roman" charset="0"/>
                <a:ea typeface="Avenir Roman" charset="0"/>
                <a:cs typeface="Avenir Roman" charset="0"/>
                <a:sym typeface="Avenir Roman" charset="0"/>
              </a:rPr>
              <a:t> meses </a:t>
            </a:r>
            <a:r>
              <a:rPr lang="en-US" sz="2400" kern="1200" dirty="0" err="1">
                <a:solidFill>
                  <a:srgbClr val="000000"/>
                </a:solidFill>
                <a:effectLst/>
                <a:latin typeface="Avenir Roman" charset="0"/>
                <a:ea typeface="Avenir Roman" charset="0"/>
                <a:cs typeface="Avenir Roman" charset="0"/>
                <a:sym typeface="Avenir Roman" charset="0"/>
              </a:rPr>
              <a:t>simulados</a:t>
            </a:r>
            <a:r>
              <a:rPr lang="en-US" sz="2400" kern="1200" dirty="0">
                <a:solidFill>
                  <a:srgbClr val="000000"/>
                </a:solidFill>
                <a:effectLst/>
                <a:latin typeface="Avenir Roman" charset="0"/>
                <a:ea typeface="Avenir Roman" charset="0"/>
                <a:cs typeface="Avenir Roman" charset="0"/>
                <a:sym typeface="Avenir Roman" charset="0"/>
              </a:rPr>
              <a:t>, lo </a:t>
            </a:r>
            <a:r>
              <a:rPr lang="en-US" sz="2400" kern="1200" dirty="0" err="1">
                <a:solidFill>
                  <a:srgbClr val="000000"/>
                </a:solidFill>
                <a:effectLst/>
                <a:latin typeface="Avenir Roman" charset="0"/>
                <a:ea typeface="Avenir Roman" charset="0"/>
                <a:cs typeface="Avenir Roman" charset="0"/>
                <a:sym typeface="Avenir Roman" charset="0"/>
              </a:rPr>
              <a:t>que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confirma</a:t>
            </a:r>
            <a:r>
              <a:rPr lang="en-US" sz="2400" kern="1200" dirty="0">
                <a:solidFill>
                  <a:srgbClr val="000000"/>
                </a:solidFill>
                <a:effectLst/>
                <a:latin typeface="Avenir Roman" charset="0"/>
                <a:ea typeface="Avenir Roman" charset="0"/>
                <a:cs typeface="Avenir Roman" charset="0"/>
                <a:sym typeface="Avenir Roman" charset="0"/>
              </a:rPr>
              <a:t> la </a:t>
            </a:r>
            <a:r>
              <a:rPr lang="en-US" sz="2400" kern="1200" dirty="0" err="1">
                <a:solidFill>
                  <a:srgbClr val="000000"/>
                </a:solidFill>
                <a:effectLst/>
                <a:latin typeface="Avenir Roman" charset="0"/>
                <a:ea typeface="Avenir Roman" charset="0"/>
                <a:cs typeface="Avenir Roman" charset="0"/>
                <a:sym typeface="Avenir Roman" charset="0"/>
              </a:rPr>
              <a:t>reducción</a:t>
            </a:r>
            <a:r>
              <a:rPr lang="en-US" sz="2400" kern="1200" dirty="0">
                <a:solidFill>
                  <a:srgbClr val="000000"/>
                </a:solidFill>
                <a:effectLst/>
                <a:latin typeface="Avenir Roman" charset="0"/>
                <a:ea typeface="Avenir Roman" charset="0"/>
                <a:cs typeface="Avenir Roman" charset="0"/>
                <a:sym typeface="Avenir Roman" charset="0"/>
              </a:rPr>
              <a:t> del 5 al 10% </a:t>
            </a:r>
            <a:r>
              <a:rPr lang="en-US" sz="2400" kern="1200" dirty="0" err="1">
                <a:solidFill>
                  <a:srgbClr val="000000"/>
                </a:solidFill>
                <a:effectLst/>
                <a:latin typeface="Avenir Roman" charset="0"/>
                <a:ea typeface="Avenir Roman" charset="0"/>
                <a:cs typeface="Avenir Roman" charset="0"/>
                <a:sym typeface="Avenir Roman" charset="0"/>
              </a:rPr>
              <a:t>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costo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diario</a:t>
            </a:r>
            <a:r>
              <a:rPr lang="en-US" sz="2400" kern="1200" dirty="0">
                <a:solidFill>
                  <a:srgbClr val="000000"/>
                </a:solidFill>
                <a:effectLst/>
                <a:latin typeface="Avenir Roman" charset="0"/>
                <a:ea typeface="Avenir Roman" charset="0"/>
                <a:cs typeface="Avenir Roman" charset="0"/>
                <a:sym typeface="Avenir Roman" charset="0"/>
              </a:rPr>
              <a:t>. Caporal AI es </a:t>
            </a:r>
            <a:r>
              <a:rPr lang="en-US" sz="2400" kern="1200" dirty="0" err="1">
                <a:solidFill>
                  <a:srgbClr val="000000"/>
                </a:solidFill>
                <a:effectLst/>
                <a:latin typeface="Avenir Roman" charset="0"/>
                <a:ea typeface="Avenir Roman" charset="0"/>
                <a:cs typeface="Avenir Roman" charset="0"/>
                <a:sym typeface="Avenir Roman" charset="0"/>
              </a:rPr>
              <a:t>económicamente</a:t>
            </a:r>
            <a:r>
              <a:rPr lang="en-US" sz="2400" kern="1200" dirty="0">
                <a:solidFill>
                  <a:srgbClr val="000000"/>
                </a:solidFill>
                <a:effectLst/>
                <a:latin typeface="Avenir Roman" charset="0"/>
                <a:ea typeface="Avenir Roman" charset="0"/>
                <a:cs typeface="Avenir Roman" charset="0"/>
                <a:sym typeface="Avenir Roman" charset="0"/>
              </a:rPr>
              <a:t> viable y </a:t>
            </a:r>
            <a:r>
              <a:rPr lang="en-US" sz="2400" kern="1200" dirty="0" err="1">
                <a:solidFill>
                  <a:srgbClr val="000000"/>
                </a:solidFill>
                <a:effectLst/>
                <a:latin typeface="Avenir Roman" charset="0"/>
                <a:ea typeface="Avenir Roman" charset="0"/>
                <a:cs typeface="Avenir Roman" charset="0"/>
                <a:sym typeface="Avenir Roman" charset="0"/>
              </a:rPr>
              <a:t>biológicamente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seguro</a:t>
            </a:r>
            <a:r>
              <a:rPr lang="en-US" sz="2400" kern="1200" dirty="0">
                <a:solidFill>
                  <a:srgbClr val="000000"/>
                </a:solidFill>
                <a:effectLst/>
                <a:latin typeface="Avenir Roman" charset="0"/>
                <a:ea typeface="Avenir Roman" charset="0"/>
                <a:cs typeface="Avenir Roman" charset="0"/>
                <a:sym typeface="Avenir Roman" charset="0"/>
              </a:rPr>
              <a:t> al </a:t>
            </a:r>
            <a:r>
              <a:rPr lang="en-US" sz="2400" kern="1200" dirty="0" err="1">
                <a:solidFill>
                  <a:srgbClr val="000000"/>
                </a:solidFill>
                <a:effectLst/>
                <a:latin typeface="Avenir Roman" charset="0"/>
                <a:ea typeface="Avenir Roman" charset="0"/>
                <a:cs typeface="Avenir Roman" charset="0"/>
                <a:sym typeface="Avenir Roman" charset="0"/>
              </a:rPr>
              <a:t>mismo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tiempo</a:t>
            </a:r>
            <a:r>
              <a:rPr lang="en-US" sz="2400" kern="1200" dirty="0">
                <a:solidFill>
                  <a:srgbClr val="000000"/>
                </a:solidFill>
                <a:effectLst/>
                <a:latin typeface="Avenir Roman" charset="0"/>
                <a:ea typeface="Avenir Roman" charset="0"/>
                <a:cs typeface="Avenir Roman" charset="0"/>
                <a:sym typeface="Avenir Roman" charset="0"/>
              </a:rPr>
              <a: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 ~1:30 min.</a:t>
            </a:r>
            <a:endParaRPr lang="en-US" dirty="0">
              <a:effectLst/>
            </a:endParaRP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33986015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indent="-342900">
              <a:buFont typeface="Arial" panose="020B0604020202020204" pitchFamily="34" charset="0"/>
              <a:buChar char="•"/>
            </a:pPr>
            <a:r>
              <a:rPr lang="es-ES" dirty="0"/>
              <a:t>**Notas del Presentador:** *"En conclusión, Caporal AI trasciende el software de registro y se posiciona como una herramienta prescriptiva que cuida el bolsillo del ganadero. Hacia el futuro, el proyecto tiene un claro camino de escalabilidad: planeamos conectar el sistema a bolsas de valores agrícolas para actualizar precios en automático, y exploraremos tecnologías de Edge AI, permitiendo que el motor matemático corra en los celulares de las rancherías sin necesidad de internet. Muchas gracias por su atención, estamos a su disposición para cualquier pregunta."*</a:t>
            </a:r>
          </a:p>
          <a:p>
            <a:pPr marL="0" indent="0">
              <a:buFont typeface="Arial" panose="020B0604020202020204" pitchFamily="34" charset="0"/>
              <a:buNone/>
            </a:pPr>
            <a:endParaRPr lang="es-ES" dirty="0"/>
          </a:p>
          <a:p>
            <a:pPr marL="342900" indent="-342900">
              <a:buFont typeface="Arial" panose="020B0604020202020204" pitchFamily="34" charset="0"/>
              <a:buChar char="•"/>
            </a:pPr>
            <a:r>
              <a:rPr lang="es-ES" dirty="0"/>
              <a:t>**Sugerencia Visual:** Iconos de escalabilidad: Una antena/nube (</a:t>
            </a:r>
            <a:r>
              <a:rPr lang="es-ES" dirty="0" err="1"/>
              <a:t>APIs</a:t>
            </a:r>
            <a:r>
              <a:rPr lang="es-ES" dirty="0"/>
              <a:t>), un celular (Edge AI) y un icono de granja (Expansión transversal).</a:t>
            </a:r>
          </a:p>
          <a:p>
            <a:pPr marL="342900" indent="-342900">
              <a:buFont typeface="Arial" panose="020B0604020202020204" pitchFamily="34" charset="0"/>
              <a:buChar char="•"/>
            </a:pPr>
            <a:endParaRPr lang="es-ES" dirty="0"/>
          </a:p>
          <a:p>
            <a:pPr marL="0" indent="0">
              <a:buFont typeface="Arial" panose="020B0604020202020204" pitchFamily="34" charset="0"/>
              <a:buNone/>
            </a:pPr>
            <a:r>
              <a:rPr lang="es-ES" dirty="0"/>
              <a:t>### 💡 Reglas de Oro para la grabación (Según Clase S04):</a:t>
            </a:r>
          </a:p>
          <a:p>
            <a:pPr marL="0" indent="0">
              <a:buFont typeface="Arial" panose="020B0604020202020204" pitchFamily="34" charset="0"/>
              <a:buNone/>
            </a:pPr>
            <a:r>
              <a:rPr lang="es-ES" dirty="0"/>
              <a:t>1. **Practiquen para no exceder los 10 minutos cronometrados.**</a:t>
            </a:r>
          </a:p>
          <a:p>
            <a:pPr marL="0" indent="0">
              <a:buFont typeface="Arial" panose="020B0604020202020204" pitchFamily="34" charset="0"/>
              <a:buNone/>
            </a:pPr>
            <a:r>
              <a:rPr lang="es-ES" dirty="0"/>
              <a:t>2. **Repártanse equitativamente las diapositivas; todos deben hablar.**</a:t>
            </a:r>
          </a:p>
          <a:p>
            <a:pPr marL="0" indent="0">
              <a:buFont typeface="Arial" panose="020B0604020202020204" pitchFamily="34" charset="0"/>
              <a:buNone/>
            </a:pPr>
            <a:r>
              <a:rPr lang="es-ES" dirty="0"/>
              <a:t>3. **Usen OBS Studio o </a:t>
            </a:r>
            <a:r>
              <a:rPr lang="es-ES" dirty="0" err="1"/>
              <a:t>Teams</a:t>
            </a:r>
            <a:r>
              <a:rPr lang="es-ES" dirty="0"/>
              <a:t>/Zoom.** Compartan pantalla con sus **cámaras encendidas** en todo momento.</a:t>
            </a:r>
          </a:p>
          <a:p>
            <a:pPr marL="0" indent="0">
              <a:buFont typeface="Arial" panose="020B0604020202020204" pitchFamily="34" charset="0"/>
              <a:buNone/>
            </a:pPr>
            <a:r>
              <a:rPr lang="es-ES" dirty="0"/>
              <a:t>4. **NO LEAN.** El texto de la PPT es de apoyo; el guion es para que lo estudien, lo hagan suyo y lo expliquen con naturalidad. La rúbrica prohíbe terminantemente leer mecánicamente.</a:t>
            </a:r>
          </a:p>
          <a:p>
            <a:pPr marL="0" indent="0">
              <a:buFont typeface="Arial" panose="020B0604020202020204" pitchFamily="34" charset="0"/>
              <a:buNone/>
            </a:pPr>
            <a:endParaRPr lang="es-ES" dirty="0"/>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s-ES" sz="2400" b="1" kern="1200" dirty="0">
                <a:solidFill>
                  <a:srgbClr val="000000"/>
                </a:solidFill>
                <a:effectLst/>
                <a:latin typeface="Avenir Roman" charset="0"/>
                <a:ea typeface="Avenir Roman" charset="0"/>
                <a:cs typeface="Avenir Roman" charset="0"/>
                <a:sym typeface="Avenir Roman" charset="0"/>
              </a:rPr>
              <a:t>----------------------------------------------------------------------------------------------------------------------------------------------------------------------------------------------</a:t>
            </a:r>
            <a:endParaRPr lang="en-US" dirty="0">
              <a:effectLst/>
            </a:endParaRPr>
          </a:p>
          <a:p>
            <a:pPr marL="0" indent="0">
              <a:buFont typeface="Arial" panose="020B0604020202020204" pitchFamily="34" charset="0"/>
              <a:buNone/>
            </a:pPr>
            <a:endParaRPr lang="es-ES" dirty="0"/>
          </a:p>
          <a:p>
            <a:pPr marL="0" marR="0" lvl="0" indent="0" algn="l" defTabSz="457200" rtl="0" eaLnBrk="0" fontAlgn="base" latinLnBrk="0" hangingPunct="0">
              <a:lnSpc>
                <a:spcPct val="125000"/>
              </a:lnSpc>
              <a:spcBef>
                <a:spcPct val="0"/>
              </a:spcBef>
              <a:spcAft>
                <a:spcPct val="0"/>
              </a:spcAft>
              <a:buClrTx/>
              <a:buSzTx/>
              <a:buFont typeface="Arial" panose="020B0604020202020204" pitchFamily="34" charset="0"/>
              <a:buNone/>
              <a:tabLst/>
              <a:defRPr/>
            </a:pPr>
            <a:r>
              <a:rPr lang="en-US" sz="2400" kern="1200" dirty="0">
                <a:solidFill>
                  <a:srgbClr val="000000"/>
                </a:solidFill>
                <a:effectLst/>
                <a:latin typeface="Avenir Roman" charset="0"/>
                <a:ea typeface="Avenir Roman" charset="0"/>
                <a:cs typeface="Avenir Roman" charset="0"/>
                <a:sym typeface="Avenir Roman" charset="0"/>
              </a:rPr>
              <a:t>[P2] "En </a:t>
            </a:r>
            <a:r>
              <a:rPr lang="en-US" sz="2400" kern="1200" dirty="0" err="1">
                <a:solidFill>
                  <a:srgbClr val="000000"/>
                </a:solidFill>
                <a:effectLst/>
                <a:latin typeface="Avenir Roman" charset="0"/>
                <a:ea typeface="Avenir Roman" charset="0"/>
                <a:cs typeface="Avenir Roman" charset="0"/>
                <a:sym typeface="Avenir Roman" charset="0"/>
              </a:rPr>
              <a:t>conclusión</a:t>
            </a:r>
            <a:r>
              <a:rPr lang="en-US" sz="2400" kern="1200" dirty="0">
                <a:solidFill>
                  <a:srgbClr val="000000"/>
                </a:solidFill>
                <a:effectLst/>
                <a:latin typeface="Avenir Roman" charset="0"/>
                <a:ea typeface="Avenir Roman" charset="0"/>
                <a:cs typeface="Avenir Roman" charset="0"/>
                <a:sym typeface="Avenir Roman" charset="0"/>
              </a:rPr>
              <a:t>, Caporal AI </a:t>
            </a:r>
            <a:r>
              <a:rPr lang="en-US" sz="2400" kern="1200" dirty="0" err="1">
                <a:solidFill>
                  <a:srgbClr val="000000"/>
                </a:solidFill>
                <a:effectLst/>
                <a:latin typeface="Avenir Roman" charset="0"/>
                <a:ea typeface="Avenir Roman" charset="0"/>
                <a:cs typeface="Avenir Roman" charset="0"/>
                <a:sym typeface="Avenir Roman" charset="0"/>
              </a:rPr>
              <a:t>trasciende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software de </a:t>
            </a:r>
            <a:r>
              <a:rPr lang="en-US" sz="2400" kern="1200" dirty="0" err="1">
                <a:solidFill>
                  <a:srgbClr val="000000"/>
                </a:solidFill>
                <a:effectLst/>
                <a:latin typeface="Avenir Roman" charset="0"/>
                <a:ea typeface="Avenir Roman" charset="0"/>
                <a:cs typeface="Avenir Roman" charset="0"/>
                <a:sym typeface="Avenir Roman" charset="0"/>
              </a:rPr>
              <a:t>registro</a:t>
            </a:r>
            <a:r>
              <a:rPr lang="en-US" sz="2400" kern="1200" dirty="0">
                <a:solidFill>
                  <a:srgbClr val="000000"/>
                </a:solidFill>
                <a:effectLst/>
                <a:latin typeface="Avenir Roman" charset="0"/>
                <a:ea typeface="Avenir Roman" charset="0"/>
                <a:cs typeface="Avenir Roman" charset="0"/>
                <a:sym typeface="Avenir Roman" charset="0"/>
              </a:rPr>
              <a:t> y se </a:t>
            </a:r>
            <a:r>
              <a:rPr lang="en-US" sz="2400" kern="1200" dirty="0" err="1">
                <a:solidFill>
                  <a:srgbClr val="000000"/>
                </a:solidFill>
                <a:effectLst/>
                <a:latin typeface="Avenir Roman" charset="0"/>
                <a:ea typeface="Avenir Roman" charset="0"/>
                <a:cs typeface="Avenir Roman" charset="0"/>
                <a:sym typeface="Avenir Roman" charset="0"/>
              </a:rPr>
              <a:t>posiciona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como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una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herramienta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prescriptiva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que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cuida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bolsillo</a:t>
            </a:r>
            <a:r>
              <a:rPr lang="en-US" sz="2400" kern="1200" dirty="0">
                <a:solidFill>
                  <a:srgbClr val="000000"/>
                </a:solidFill>
                <a:effectLst/>
                <a:latin typeface="Avenir Roman" charset="0"/>
                <a:ea typeface="Avenir Roman" charset="0"/>
                <a:cs typeface="Avenir Roman" charset="0"/>
                <a:sym typeface="Avenir Roman" charset="0"/>
              </a:rPr>
              <a:t> del </a:t>
            </a:r>
            <a:r>
              <a:rPr lang="en-US" sz="2400" kern="1200" dirty="0" err="1">
                <a:solidFill>
                  <a:srgbClr val="000000"/>
                </a:solidFill>
                <a:effectLst/>
                <a:latin typeface="Avenir Roman" charset="0"/>
                <a:ea typeface="Avenir Roman" charset="0"/>
                <a:cs typeface="Avenir Roman" charset="0"/>
                <a:sym typeface="Avenir Roman" charset="0"/>
              </a:rPr>
              <a:t>ganadero</a:t>
            </a:r>
            <a:r>
              <a:rPr lang="en-US" sz="2400" kern="1200" dirty="0">
                <a:solidFill>
                  <a:srgbClr val="000000"/>
                </a:solidFill>
                <a:effectLst/>
                <a:latin typeface="Avenir Roman" charset="0"/>
                <a:ea typeface="Avenir Roman" charset="0"/>
                <a:cs typeface="Avenir Roman" charset="0"/>
                <a:sym typeface="Avenir Roman" charset="0"/>
              </a:rPr>
              <a:t> sin </a:t>
            </a:r>
            <a:r>
              <a:rPr lang="en-US" sz="2400" kern="1200" dirty="0" err="1">
                <a:solidFill>
                  <a:srgbClr val="000000"/>
                </a:solidFill>
                <a:effectLst/>
                <a:latin typeface="Avenir Roman" charset="0"/>
                <a:ea typeface="Avenir Roman" charset="0"/>
                <a:cs typeface="Avenir Roman" charset="0"/>
                <a:sym typeface="Avenir Roman" charset="0"/>
              </a:rPr>
              <a:t>comprometer</a:t>
            </a:r>
            <a:r>
              <a:rPr lang="en-US" sz="2400" kern="1200" dirty="0">
                <a:solidFill>
                  <a:srgbClr val="000000"/>
                </a:solidFill>
                <a:effectLst/>
                <a:latin typeface="Avenir Roman" charset="0"/>
                <a:ea typeface="Avenir Roman" charset="0"/>
                <a:cs typeface="Avenir Roman" charset="0"/>
                <a:sym typeface="Avenir Roman" charset="0"/>
              </a:rPr>
              <a:t> la </a:t>
            </a:r>
            <a:r>
              <a:rPr lang="en-US" sz="2400" kern="1200" dirty="0" err="1">
                <a:solidFill>
                  <a:srgbClr val="000000"/>
                </a:solidFill>
                <a:effectLst/>
                <a:latin typeface="Avenir Roman" charset="0"/>
                <a:ea typeface="Avenir Roman" charset="0"/>
                <a:cs typeface="Avenir Roman" charset="0"/>
                <a:sym typeface="Avenir Roman" charset="0"/>
              </a:rPr>
              <a:t>salud</a:t>
            </a:r>
            <a:r>
              <a:rPr lang="en-US" sz="2400" kern="1200" dirty="0">
                <a:solidFill>
                  <a:srgbClr val="000000"/>
                </a:solidFill>
                <a:effectLst/>
                <a:latin typeface="Avenir Roman" charset="0"/>
                <a:ea typeface="Avenir Roman" charset="0"/>
                <a:cs typeface="Avenir Roman" charset="0"/>
                <a:sym typeface="Avenir Roman" charset="0"/>
              </a:rPr>
              <a:t> del </a:t>
            </a:r>
            <a:r>
              <a:rPr lang="en-US" sz="2400" kern="1200" dirty="0" err="1">
                <a:solidFill>
                  <a:srgbClr val="000000"/>
                </a:solidFill>
                <a:effectLst/>
                <a:latin typeface="Avenir Roman" charset="0"/>
                <a:ea typeface="Avenir Roman" charset="0"/>
                <a:cs typeface="Avenir Roman" charset="0"/>
                <a:sym typeface="Avenir Roman" charset="0"/>
              </a:rPr>
              <a:t>ganado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Logramos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los</a:t>
            </a:r>
            <a:r>
              <a:rPr lang="en-US" sz="2400" kern="1200" dirty="0">
                <a:solidFill>
                  <a:srgbClr val="000000"/>
                </a:solidFill>
                <a:effectLst/>
                <a:latin typeface="Avenir Roman" charset="0"/>
                <a:ea typeface="Avenir Roman" charset="0"/>
                <a:cs typeface="Avenir Roman" charset="0"/>
                <a:sym typeface="Avenir Roman" charset="0"/>
              </a:rPr>
              <a:t> dos </a:t>
            </a:r>
            <a:r>
              <a:rPr lang="en-US" sz="2400" kern="1200" dirty="0" err="1">
                <a:solidFill>
                  <a:srgbClr val="000000"/>
                </a:solidFill>
                <a:effectLst/>
                <a:latin typeface="Avenir Roman" charset="0"/>
                <a:ea typeface="Avenir Roman" charset="0"/>
                <a:cs typeface="Avenir Roman" charset="0"/>
                <a:sym typeface="Avenir Roman" charset="0"/>
              </a:rPr>
              <a:t>objetivos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que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parecían</a:t>
            </a:r>
            <a:r>
              <a:rPr lang="en-US" sz="2400" kern="1200" dirty="0">
                <a:solidFill>
                  <a:srgbClr val="000000"/>
                </a:solidFill>
                <a:effectLst/>
                <a:latin typeface="Avenir Roman" charset="0"/>
                <a:ea typeface="Avenir Roman" charset="0"/>
                <a:cs typeface="Avenir Roman" charset="0"/>
                <a:sym typeface="Avenir Roman" charset="0"/>
              </a:rPr>
              <a:t> incompatibles: </a:t>
            </a:r>
            <a:r>
              <a:rPr lang="en-US" sz="2400" kern="1200" dirty="0" err="1">
                <a:solidFill>
                  <a:srgbClr val="000000"/>
                </a:solidFill>
                <a:effectLst/>
                <a:latin typeface="Avenir Roman" charset="0"/>
                <a:ea typeface="Avenir Roman" charset="0"/>
                <a:cs typeface="Avenir Roman" charset="0"/>
                <a:sym typeface="Avenir Roman" charset="0"/>
              </a:rPr>
              <a:t>ahorrar</a:t>
            </a:r>
            <a:r>
              <a:rPr lang="en-US" sz="2400" kern="1200" dirty="0">
                <a:solidFill>
                  <a:srgbClr val="000000"/>
                </a:solidFill>
                <a:effectLst/>
                <a:latin typeface="Avenir Roman" charset="0"/>
                <a:ea typeface="Avenir Roman" charset="0"/>
                <a:cs typeface="Avenir Roman" charset="0"/>
                <a:sym typeface="Avenir Roman" charset="0"/>
              </a:rPr>
              <a:t> dinero y </a:t>
            </a:r>
            <a:r>
              <a:rPr lang="en-US" sz="2400" kern="1200" dirty="0" err="1">
                <a:solidFill>
                  <a:srgbClr val="000000"/>
                </a:solidFill>
                <a:effectLst/>
                <a:latin typeface="Avenir Roman" charset="0"/>
                <a:ea typeface="Avenir Roman" charset="0"/>
                <a:cs typeface="Avenir Roman" charset="0"/>
                <a:sym typeface="Avenir Roman" charset="0"/>
              </a:rPr>
              <a:t>garantizar</a:t>
            </a:r>
            <a:r>
              <a:rPr lang="en-US" sz="2400" kern="1200" dirty="0">
                <a:solidFill>
                  <a:srgbClr val="000000"/>
                </a:solidFill>
                <a:effectLst/>
                <a:latin typeface="Avenir Roman" charset="0"/>
                <a:ea typeface="Avenir Roman" charset="0"/>
                <a:cs typeface="Avenir Roman" charset="0"/>
                <a:sym typeface="Avenir Roman" charset="0"/>
              </a:rPr>
              <a:t> la </a:t>
            </a:r>
            <a:r>
              <a:rPr lang="en-US" sz="2400" kern="1200" dirty="0" err="1">
                <a:solidFill>
                  <a:srgbClr val="000000"/>
                </a:solidFill>
                <a:effectLst/>
                <a:latin typeface="Avenir Roman" charset="0"/>
                <a:ea typeface="Avenir Roman" charset="0"/>
                <a:cs typeface="Avenir Roman" charset="0"/>
                <a:sym typeface="Avenir Roman" charset="0"/>
              </a:rPr>
              <a:t>seguridad</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biológica</a:t>
            </a:r>
            <a:r>
              <a:rPr lang="en-US" sz="2400" kern="1200" dirty="0">
                <a:solidFill>
                  <a:srgbClr val="000000"/>
                </a:solidFill>
                <a:effectLst/>
                <a:latin typeface="Avenir Roman" charset="0"/>
                <a:ea typeface="Avenir Roman" charset="0"/>
                <a:cs typeface="Avenir Roman" charset="0"/>
                <a:sym typeface="Avenir Roman" charset="0"/>
              </a:rPr>
              <a: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[P1] "Hacia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futuro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roadmap </a:t>
            </a:r>
            <a:r>
              <a:rPr lang="en-US" sz="2400" kern="1200" dirty="0" err="1">
                <a:solidFill>
                  <a:srgbClr val="000000"/>
                </a:solidFill>
                <a:effectLst/>
                <a:latin typeface="Avenir Roman" charset="0"/>
                <a:ea typeface="Avenir Roman" charset="0"/>
                <a:cs typeface="Avenir Roman" charset="0"/>
                <a:sym typeface="Avenir Roman" charset="0"/>
              </a:rPr>
              <a:t>que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ven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diagrama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tiene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tres</a:t>
            </a:r>
            <a:r>
              <a:rPr lang="en-US" sz="2400" kern="1200" dirty="0">
                <a:solidFill>
                  <a:srgbClr val="000000"/>
                </a:solidFill>
                <a:effectLst/>
                <a:latin typeface="Avenir Roman" charset="0"/>
                <a:ea typeface="Avenir Roman" charset="0"/>
                <a:cs typeface="Avenir Roman" charset="0"/>
                <a:sym typeface="Avenir Roman" charset="0"/>
              </a:rPr>
              <a:t> pasos claros: </a:t>
            </a:r>
            <a:r>
              <a:rPr lang="en-US" sz="2400" kern="1200" dirty="0" err="1">
                <a:solidFill>
                  <a:srgbClr val="000000"/>
                </a:solidFill>
                <a:effectLst/>
                <a:latin typeface="Avenir Roman" charset="0"/>
                <a:ea typeface="Avenir Roman" charset="0"/>
                <a:cs typeface="Avenir Roman" charset="0"/>
                <a:sym typeface="Avenir Roman" charset="0"/>
              </a:rPr>
              <a:t>conectar</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sistema</a:t>
            </a:r>
            <a:r>
              <a:rPr lang="en-US" sz="2400" kern="1200" dirty="0">
                <a:solidFill>
                  <a:srgbClr val="000000"/>
                </a:solidFill>
                <a:effectLst/>
                <a:latin typeface="Avenir Roman" charset="0"/>
                <a:ea typeface="Avenir Roman" charset="0"/>
                <a:cs typeface="Avenir Roman" charset="0"/>
                <a:sym typeface="Avenir Roman" charset="0"/>
              </a:rPr>
              <a:t> a </a:t>
            </a:r>
            <a:r>
              <a:rPr lang="en-US" sz="2400" kern="1200" dirty="0" err="1">
                <a:solidFill>
                  <a:srgbClr val="000000"/>
                </a:solidFill>
                <a:effectLst/>
                <a:latin typeface="Avenir Roman" charset="0"/>
                <a:ea typeface="Avenir Roman" charset="0"/>
                <a:cs typeface="Avenir Roman" charset="0"/>
                <a:sym typeface="Avenir Roman" charset="0"/>
              </a:rPr>
              <a:t>bolsas</a:t>
            </a:r>
            <a:r>
              <a:rPr lang="en-US" sz="2400" kern="1200" dirty="0">
                <a:solidFill>
                  <a:srgbClr val="000000"/>
                </a:solidFill>
                <a:effectLst/>
                <a:latin typeface="Avenir Roman" charset="0"/>
                <a:ea typeface="Avenir Roman" charset="0"/>
                <a:cs typeface="Avenir Roman" charset="0"/>
                <a:sym typeface="Avenir Roman" charset="0"/>
              </a:rPr>
              <a:t> de </a:t>
            </a:r>
            <a:r>
              <a:rPr lang="en-US" sz="2400" kern="1200" dirty="0" err="1">
                <a:solidFill>
                  <a:srgbClr val="000000"/>
                </a:solidFill>
                <a:effectLst/>
                <a:latin typeface="Avenir Roman" charset="0"/>
                <a:ea typeface="Avenir Roman" charset="0"/>
                <a:cs typeface="Avenir Roman" charset="0"/>
                <a:sym typeface="Avenir Roman" charset="0"/>
              </a:rPr>
              <a:t>valores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agrícolas</a:t>
            </a:r>
            <a:r>
              <a:rPr lang="en-US" sz="2400" kern="1200" dirty="0">
                <a:solidFill>
                  <a:srgbClr val="000000"/>
                </a:solidFill>
                <a:effectLst/>
                <a:latin typeface="Avenir Roman" charset="0"/>
                <a:ea typeface="Avenir Roman" charset="0"/>
                <a:cs typeface="Avenir Roman" charset="0"/>
                <a:sym typeface="Avenir Roman" charset="0"/>
              </a:rPr>
              <a:t> para </a:t>
            </a:r>
            <a:r>
              <a:rPr lang="en-US" sz="2400" kern="1200" dirty="0" err="1">
                <a:solidFill>
                  <a:srgbClr val="000000"/>
                </a:solidFill>
                <a:effectLst/>
                <a:latin typeface="Avenir Roman" charset="0"/>
                <a:ea typeface="Avenir Roman" charset="0"/>
                <a:cs typeface="Avenir Roman" charset="0"/>
                <a:sym typeface="Avenir Roman" charset="0"/>
              </a:rPr>
              <a:t>que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los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precios</a:t>
            </a:r>
            <a:r>
              <a:rPr lang="en-US" sz="2400" kern="1200" dirty="0">
                <a:solidFill>
                  <a:srgbClr val="000000"/>
                </a:solidFill>
                <a:effectLst/>
                <a:latin typeface="Avenir Roman" charset="0"/>
                <a:ea typeface="Avenir Roman" charset="0"/>
                <a:cs typeface="Avenir Roman" charset="0"/>
                <a:sym typeface="Avenir Roman" charset="0"/>
              </a:rPr>
              <a:t> se </a:t>
            </a:r>
            <a:r>
              <a:rPr lang="en-US" sz="2400" kern="1200" dirty="0" err="1">
                <a:solidFill>
                  <a:srgbClr val="000000"/>
                </a:solidFill>
                <a:effectLst/>
                <a:latin typeface="Avenir Roman" charset="0"/>
                <a:ea typeface="Avenir Roman" charset="0"/>
                <a:cs typeface="Avenir Roman" charset="0"/>
                <a:sym typeface="Avenir Roman" charset="0"/>
              </a:rPr>
              <a:t>actualicen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automáticamente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llevar</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motor de </a:t>
            </a:r>
            <a:r>
              <a:rPr lang="en-US" sz="2400" kern="1200" dirty="0" err="1">
                <a:solidFill>
                  <a:srgbClr val="000000"/>
                </a:solidFill>
                <a:effectLst/>
                <a:latin typeface="Avenir Roman" charset="0"/>
                <a:ea typeface="Avenir Roman" charset="0"/>
                <a:cs typeface="Avenir Roman" charset="0"/>
                <a:sym typeface="Avenir Roman" charset="0"/>
              </a:rPr>
              <a:t>cómputo</a:t>
            </a:r>
            <a:r>
              <a:rPr lang="en-US" sz="2400" kern="1200" dirty="0">
                <a:solidFill>
                  <a:srgbClr val="000000"/>
                </a:solidFill>
                <a:effectLst/>
                <a:latin typeface="Avenir Roman" charset="0"/>
                <a:ea typeface="Avenir Roman" charset="0"/>
                <a:cs typeface="Avenir Roman" charset="0"/>
                <a:sym typeface="Avenir Roman" charset="0"/>
              </a:rPr>
              <a:t> al </a:t>
            </a:r>
            <a:r>
              <a:rPr lang="en-US" sz="2400" kern="1200" dirty="0" err="1">
                <a:solidFill>
                  <a:srgbClr val="000000"/>
                </a:solidFill>
                <a:effectLst/>
                <a:latin typeface="Avenir Roman" charset="0"/>
                <a:ea typeface="Avenir Roman" charset="0"/>
                <a:cs typeface="Avenir Roman" charset="0"/>
                <a:sym typeface="Avenir Roman" charset="0"/>
              </a:rPr>
              <a:t>dispositivo</a:t>
            </a:r>
            <a:r>
              <a:rPr lang="en-US" sz="2400" kern="1200" dirty="0">
                <a:solidFill>
                  <a:srgbClr val="000000"/>
                </a:solidFill>
                <a:effectLst/>
                <a:latin typeface="Avenir Roman" charset="0"/>
                <a:ea typeface="Avenir Roman" charset="0"/>
                <a:cs typeface="Avenir Roman" charset="0"/>
                <a:sym typeface="Avenir Roman" charset="0"/>
              </a:rPr>
              <a:t> del productor con Edge AI para zonas sin internet; y </a:t>
            </a:r>
            <a:r>
              <a:rPr lang="en-US" sz="2400" kern="1200" dirty="0" err="1">
                <a:solidFill>
                  <a:srgbClr val="000000"/>
                </a:solidFill>
                <a:effectLst/>
                <a:latin typeface="Avenir Roman" charset="0"/>
                <a:ea typeface="Avenir Roman" charset="0"/>
                <a:cs typeface="Avenir Roman" charset="0"/>
                <a:sym typeface="Avenir Roman" charset="0"/>
              </a:rPr>
              <a:t>aplicar</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mismo</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modelo</a:t>
            </a:r>
            <a:r>
              <a:rPr lang="en-US" sz="2400" kern="1200" dirty="0">
                <a:solidFill>
                  <a:srgbClr val="000000"/>
                </a:solidFill>
                <a:effectLst/>
                <a:latin typeface="Avenir Roman" charset="0"/>
                <a:ea typeface="Avenir Roman" charset="0"/>
                <a:cs typeface="Avenir Roman" charset="0"/>
                <a:sym typeface="Avenir Roman" charset="0"/>
              </a:rPr>
              <a:t> a </a:t>
            </a:r>
            <a:r>
              <a:rPr lang="en-US" sz="2400" kern="1200" dirty="0" err="1">
                <a:solidFill>
                  <a:srgbClr val="000000"/>
                </a:solidFill>
                <a:effectLst/>
                <a:latin typeface="Avenir Roman" charset="0"/>
                <a:ea typeface="Avenir Roman" charset="0"/>
                <a:cs typeface="Avenir Roman" charset="0"/>
                <a:sym typeface="Avenir Roman" charset="0"/>
              </a:rPr>
              <a:t>avicultura</a:t>
            </a:r>
            <a:r>
              <a:rPr lang="en-US" sz="2400" kern="1200" dirty="0">
                <a:solidFill>
                  <a:srgbClr val="000000"/>
                </a:solidFill>
                <a:effectLst/>
                <a:latin typeface="Avenir Roman" charset="0"/>
                <a:ea typeface="Avenir Roman" charset="0"/>
                <a:cs typeface="Avenir Roman" charset="0"/>
                <a:sym typeface="Avenir Roman" charset="0"/>
              </a:rPr>
              <a:t> y </a:t>
            </a:r>
            <a:r>
              <a:rPr lang="en-US" sz="2400" kern="1200" dirty="0" err="1">
                <a:solidFill>
                  <a:srgbClr val="000000"/>
                </a:solidFill>
                <a:effectLst/>
                <a:latin typeface="Avenir Roman" charset="0"/>
                <a:ea typeface="Avenir Roman" charset="0"/>
                <a:cs typeface="Avenir Roman" charset="0"/>
                <a:sym typeface="Avenir Roman" charset="0"/>
              </a:rPr>
              <a:t>porcicultura</a:t>
            </a:r>
            <a:r>
              <a:rPr lang="en-US" sz="2400" kern="1200" dirty="0">
                <a:solidFill>
                  <a:srgbClr val="000000"/>
                </a:solidFill>
                <a:effectLst/>
                <a:latin typeface="Avenir Roman" charset="0"/>
                <a:ea typeface="Avenir Roman" charset="0"/>
                <a:cs typeface="Avenir Roman" charset="0"/>
                <a:sym typeface="Avenir Roman" charset="0"/>
              </a:rPr>
              <a: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[P3] "El motor </a:t>
            </a:r>
            <a:r>
              <a:rPr lang="en-US" sz="2400" kern="1200" dirty="0" err="1">
                <a:solidFill>
                  <a:srgbClr val="000000"/>
                </a:solidFill>
                <a:effectLst/>
                <a:latin typeface="Avenir Roman" charset="0"/>
                <a:ea typeface="Avenir Roman" charset="0"/>
                <a:cs typeface="Avenir Roman" charset="0"/>
                <a:sym typeface="Avenir Roman" charset="0"/>
              </a:rPr>
              <a:t>matemático</a:t>
            </a:r>
            <a:r>
              <a:rPr lang="en-US" sz="2400" kern="1200" dirty="0">
                <a:solidFill>
                  <a:srgbClr val="000000"/>
                </a:solidFill>
                <a:effectLst/>
                <a:latin typeface="Avenir Roman" charset="0"/>
                <a:ea typeface="Avenir Roman" charset="0"/>
                <a:cs typeface="Avenir Roman" charset="0"/>
                <a:sym typeface="Avenir Roman" charset="0"/>
              </a:rPr>
              <a:t> y la </a:t>
            </a:r>
            <a:r>
              <a:rPr lang="en-US" sz="2400" kern="1200" dirty="0" err="1">
                <a:solidFill>
                  <a:srgbClr val="000000"/>
                </a:solidFill>
                <a:effectLst/>
                <a:latin typeface="Avenir Roman" charset="0"/>
                <a:ea typeface="Avenir Roman" charset="0"/>
                <a:cs typeface="Avenir Roman" charset="0"/>
                <a:sym typeface="Avenir Roman" charset="0"/>
              </a:rPr>
              <a:t>arquitectura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que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construimos</a:t>
            </a:r>
            <a:r>
              <a:rPr lang="en-US" sz="2400" kern="1200" dirty="0">
                <a:solidFill>
                  <a:srgbClr val="000000"/>
                </a:solidFill>
                <a:effectLst/>
                <a:latin typeface="Avenir Roman" charset="0"/>
                <a:ea typeface="Avenir Roman" charset="0"/>
                <a:cs typeface="Avenir Roman" charset="0"/>
                <a:sym typeface="Avenir Roman" charset="0"/>
              </a:rPr>
              <a:t> son </a:t>
            </a:r>
            <a:r>
              <a:rPr lang="en-US" sz="2400" kern="1200" dirty="0" err="1">
                <a:solidFill>
                  <a:srgbClr val="000000"/>
                </a:solidFill>
                <a:effectLst/>
                <a:latin typeface="Avenir Roman" charset="0"/>
                <a:ea typeface="Avenir Roman" charset="0"/>
                <a:cs typeface="Avenir Roman" charset="0"/>
                <a:sym typeface="Avenir Roman" charset="0"/>
              </a:rPr>
              <a:t>reutilizables</a:t>
            </a:r>
            <a:r>
              <a:rPr lang="en-US" sz="2400" kern="1200" dirty="0">
                <a:solidFill>
                  <a:srgbClr val="000000"/>
                </a:solidFill>
                <a:effectLst/>
                <a:latin typeface="Avenir Roman" charset="0"/>
                <a:ea typeface="Avenir Roman" charset="0"/>
                <a:cs typeface="Avenir Roman" charset="0"/>
                <a:sym typeface="Avenir Roman" charset="0"/>
              </a:rPr>
              <a:t> para </a:t>
            </a:r>
            <a:r>
              <a:rPr lang="en-US" sz="2400" kern="1200" dirty="0" err="1">
                <a:solidFill>
                  <a:srgbClr val="000000"/>
                </a:solidFill>
                <a:effectLst/>
                <a:latin typeface="Avenir Roman" charset="0"/>
                <a:ea typeface="Avenir Roman" charset="0"/>
                <a:cs typeface="Avenir Roman" charset="0"/>
                <a:sym typeface="Avenir Roman" charset="0"/>
              </a:rPr>
              <a:t>cualquier</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especie</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productiva</a:t>
            </a:r>
            <a:r>
              <a:rPr lang="en-US" sz="2400" kern="1200" dirty="0">
                <a:solidFill>
                  <a:srgbClr val="000000"/>
                </a:solidFill>
                <a:effectLst/>
                <a:latin typeface="Avenir Roman" charset="0"/>
                <a:ea typeface="Avenir Roman" charset="0"/>
                <a:cs typeface="Avenir Roman" charset="0"/>
                <a:sym typeface="Avenir Roman" charset="0"/>
              </a:rPr>
              <a:t>. Caporal AI es, </a:t>
            </a:r>
            <a:r>
              <a:rPr lang="en-US" sz="2400" kern="1200" dirty="0" err="1">
                <a:solidFill>
                  <a:srgbClr val="000000"/>
                </a:solidFill>
                <a:effectLst/>
                <a:latin typeface="Avenir Roman" charset="0"/>
                <a:ea typeface="Avenir Roman" charset="0"/>
                <a:cs typeface="Avenir Roman" charset="0"/>
                <a:sym typeface="Avenir Roman" charset="0"/>
              </a:rPr>
              <a:t>en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esencia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una</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plataforma</a:t>
            </a:r>
            <a:r>
              <a:rPr lang="en-US" sz="2400" kern="1200" dirty="0">
                <a:solidFill>
                  <a:srgbClr val="000000"/>
                </a:solidFill>
                <a:effectLst/>
                <a:latin typeface="Avenir Roman" charset="0"/>
                <a:ea typeface="Avenir Roman" charset="0"/>
                <a:cs typeface="Avenir Roman" charset="0"/>
                <a:sym typeface="Avenir Roman" charset="0"/>
              </a:rPr>
              <a:t> de </a:t>
            </a:r>
            <a:r>
              <a:rPr lang="en-US" sz="2400" kern="1200" dirty="0" err="1">
                <a:solidFill>
                  <a:srgbClr val="000000"/>
                </a:solidFill>
                <a:effectLst/>
                <a:latin typeface="Avenir Roman" charset="0"/>
                <a:ea typeface="Avenir Roman" charset="0"/>
                <a:cs typeface="Avenir Roman" charset="0"/>
                <a:sym typeface="Avenir Roman" charset="0"/>
              </a:rPr>
              <a:t>optimización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nutricional</a:t>
            </a:r>
            <a:r>
              <a:rPr lang="en-US" sz="2400" kern="1200" dirty="0">
                <a:solidFill>
                  <a:srgbClr val="000000"/>
                </a:solidFill>
                <a:effectLst/>
                <a:latin typeface="Avenir Roman" charset="0"/>
                <a:ea typeface="Avenir Roman" charset="0"/>
                <a:cs typeface="Avenir Roman" charset="0"/>
                <a:sym typeface="Avenir Roman" charset="0"/>
              </a:rPr>
              <a:t> con IA </a:t>
            </a:r>
            <a:r>
              <a:rPr lang="en-US" sz="2400" kern="1200" dirty="0" err="1">
                <a:solidFill>
                  <a:srgbClr val="000000"/>
                </a:solidFill>
                <a:effectLst/>
                <a:latin typeface="Avenir Roman" charset="0"/>
                <a:ea typeface="Avenir Roman" charset="0"/>
                <a:cs typeface="Avenir Roman" charset="0"/>
                <a:sym typeface="Avenir Roman" charset="0"/>
              </a:rPr>
              <a:t>conversacional</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Muchas</a:t>
            </a:r>
            <a:r>
              <a:rPr lang="en-US" sz="2400" kern="1200" dirty="0">
                <a:solidFill>
                  <a:srgbClr val="000000"/>
                </a:solidFill>
                <a:effectLst/>
                <a:latin typeface="Avenir Roman" charset="0"/>
                <a:ea typeface="Avenir Roman" charset="0"/>
                <a:cs typeface="Avenir Roman" charset="0"/>
                <a:sym typeface="Avenir Roman" charset="0"/>
              </a:rPr>
              <a:t> gracias </a:t>
            </a:r>
            <a:r>
              <a:rPr lang="en-US" sz="2400" kern="1200" dirty="0" err="1">
                <a:solidFill>
                  <a:srgbClr val="000000"/>
                </a:solidFill>
                <a:effectLst/>
                <a:latin typeface="Avenir Roman" charset="0"/>
                <a:ea typeface="Avenir Roman" charset="0"/>
                <a:cs typeface="Avenir Roman" charset="0"/>
                <a:sym typeface="Avenir Roman" charset="0"/>
              </a:rPr>
              <a:t>por</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su</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atención</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estamos</a:t>
            </a:r>
            <a:r>
              <a:rPr lang="en-US" sz="2400" kern="1200" dirty="0">
                <a:solidFill>
                  <a:srgbClr val="000000"/>
                </a:solidFill>
                <a:effectLst/>
                <a:latin typeface="Avenir Roman" charset="0"/>
                <a:ea typeface="Avenir Roman" charset="0"/>
                <a:cs typeface="Avenir Roman" charset="0"/>
                <a:sym typeface="Avenir Roman" charset="0"/>
              </a:rPr>
              <a:t> a </a:t>
            </a:r>
            <a:r>
              <a:rPr lang="en-US" sz="2400" kern="1200" dirty="0" err="1">
                <a:solidFill>
                  <a:srgbClr val="000000"/>
                </a:solidFill>
                <a:effectLst/>
                <a:latin typeface="Avenir Roman" charset="0"/>
                <a:ea typeface="Avenir Roman" charset="0"/>
                <a:cs typeface="Avenir Roman" charset="0"/>
                <a:sym typeface="Avenir Roman" charset="0"/>
              </a:rPr>
              <a:t>su</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disposición</a:t>
            </a:r>
            <a:r>
              <a:rPr lang="en-US" sz="2400" kern="1200" dirty="0">
                <a:solidFill>
                  <a:srgbClr val="000000"/>
                </a:solidFill>
                <a:effectLst/>
                <a:latin typeface="Avenir Roman" charset="0"/>
                <a:ea typeface="Avenir Roman" charset="0"/>
                <a:cs typeface="Avenir Roman" charset="0"/>
                <a:sym typeface="Avenir Roman" charset="0"/>
              </a:rPr>
              <a:t> para </a:t>
            </a:r>
            <a:r>
              <a:rPr lang="en-US" sz="2400" kern="1200" dirty="0" err="1">
                <a:solidFill>
                  <a:srgbClr val="000000"/>
                </a:solidFill>
                <a:effectLst/>
                <a:latin typeface="Avenir Roman" charset="0"/>
                <a:ea typeface="Avenir Roman" charset="0"/>
                <a:cs typeface="Avenir Roman" charset="0"/>
                <a:sym typeface="Avenir Roman" charset="0"/>
              </a:rPr>
              <a:t>cualquier</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pregunta</a:t>
            </a:r>
            <a:r>
              <a:rPr lang="en-US" sz="2400" kern="1200" dirty="0">
                <a:solidFill>
                  <a:srgbClr val="000000"/>
                </a:solidFill>
                <a:effectLst/>
                <a:latin typeface="Avenir Roman" charset="0"/>
                <a:ea typeface="Avenir Roman" charset="0"/>
                <a:cs typeface="Avenir Roman" charset="0"/>
                <a:sym typeface="Avenir Roman" charset="0"/>
              </a:rPr>
              <a:t>."</a:t>
            </a:r>
            <a:br>
              <a:rPr lang="en-US" sz="2400" kern="1200" dirty="0">
                <a:solidFill>
                  <a:srgbClr val="000000"/>
                </a:solidFill>
                <a:effectLst/>
                <a:latin typeface="Avenir Roman" charset="0"/>
                <a:ea typeface="Avenir Roman" charset="0"/>
                <a:cs typeface="Avenir Roman" charset="0"/>
                <a:sym typeface="Avenir Roman" charset="0"/>
              </a:rPr>
            </a:br>
            <a:br>
              <a:rPr lang="en-US" sz="2400" kern="1200" dirty="0">
                <a:solidFill>
                  <a:srgbClr val="000000"/>
                </a:solidFill>
                <a:effectLst/>
                <a:latin typeface="Avenir Roman" charset="0"/>
                <a:ea typeface="Avenir Roman" charset="0"/>
                <a:cs typeface="Avenir Roman" charset="0"/>
                <a:sym typeface="Avenir Roman" charset="0"/>
              </a:rPr>
            </a:br>
            <a:r>
              <a:rPr lang="en-US" sz="2400" kern="1200" dirty="0">
                <a:solidFill>
                  <a:srgbClr val="000000"/>
                </a:solidFill>
                <a:effectLst/>
                <a:latin typeface="Avenir Roman" charset="0"/>
                <a:ea typeface="Avenir Roman" charset="0"/>
                <a:cs typeface="Avenir Roman" charset="0"/>
                <a:sym typeface="Avenir Roman" charset="0"/>
              </a:rPr>
              <a:t>⏱ ~1:00 min. | 💡 Reglas de Oro (</a:t>
            </a:r>
            <a:r>
              <a:rPr lang="en-US" sz="2400" kern="1200" dirty="0" err="1">
                <a:solidFill>
                  <a:srgbClr val="000000"/>
                </a:solidFill>
                <a:effectLst/>
                <a:latin typeface="Avenir Roman" charset="0"/>
                <a:ea typeface="Avenir Roman" charset="0"/>
                <a:cs typeface="Avenir Roman" charset="0"/>
                <a:sym typeface="Avenir Roman" charset="0"/>
              </a:rPr>
              <a:t>recordatorio</a:t>
            </a:r>
            <a:r>
              <a:rPr lang="en-US" sz="2400" kern="1200" dirty="0">
                <a:solidFill>
                  <a:srgbClr val="000000"/>
                </a:solidFill>
                <a:effectLst/>
                <a:latin typeface="Avenir Roman" charset="0"/>
                <a:ea typeface="Avenir Roman" charset="0"/>
                <a:cs typeface="Avenir Roman" charset="0"/>
                <a:sym typeface="Avenir Roman" charset="0"/>
              </a:rPr>
              <a:t>): No leer, </a:t>
            </a:r>
            <a:r>
              <a:rPr lang="en-US" sz="2400" kern="1200" dirty="0" err="1">
                <a:solidFill>
                  <a:srgbClr val="000000"/>
                </a:solidFill>
                <a:effectLst/>
                <a:latin typeface="Avenir Roman" charset="0"/>
                <a:ea typeface="Avenir Roman" charset="0"/>
                <a:cs typeface="Avenir Roman" charset="0"/>
                <a:sym typeface="Avenir Roman" charset="0"/>
              </a:rPr>
              <a:t>cámaras</a:t>
            </a:r>
            <a:r>
              <a:rPr lang="en-US" sz="2400" kern="1200" dirty="0">
                <a:solidFill>
                  <a:srgbClr val="000000"/>
                </a:solidFill>
                <a:effectLst/>
                <a:latin typeface="Avenir Roman" charset="0"/>
                <a:ea typeface="Avenir Roman" charset="0"/>
                <a:cs typeface="Avenir Roman" charset="0"/>
                <a:sym typeface="Avenir Roman" charset="0"/>
              </a:rPr>
              <a:t> </a:t>
            </a:r>
            <a:r>
              <a:rPr lang="en-US" sz="2400" kern="1200" dirty="0" err="1">
                <a:solidFill>
                  <a:srgbClr val="000000"/>
                </a:solidFill>
                <a:effectLst/>
                <a:latin typeface="Avenir Roman" charset="0"/>
                <a:ea typeface="Avenir Roman" charset="0"/>
                <a:cs typeface="Avenir Roman" charset="0"/>
                <a:sym typeface="Avenir Roman" charset="0"/>
              </a:rPr>
              <a:t>encendidas</a:t>
            </a:r>
            <a:r>
              <a:rPr lang="en-US" sz="2400" kern="1200" dirty="0">
                <a:solidFill>
                  <a:srgbClr val="000000"/>
                </a:solidFill>
                <a:effectLst/>
                <a:latin typeface="Avenir Roman" charset="0"/>
                <a:ea typeface="Avenir Roman" charset="0"/>
                <a:cs typeface="Avenir Roman" charset="0"/>
                <a:sym typeface="Avenir Roman" charset="0"/>
              </a:rPr>
              <a:t>, ≤10-15 min total.</a:t>
            </a:r>
            <a:endParaRPr lang="en-US" dirty="0">
              <a:effectLst/>
            </a:endParaRPr>
          </a:p>
          <a:p>
            <a:pPr marL="0" indent="0">
              <a:buFont typeface="Arial" panose="020B0604020202020204" pitchFamily="34" charset="0"/>
              <a:buNone/>
            </a:pPr>
            <a:endParaRPr lang="es-ES" dirty="0"/>
          </a:p>
        </p:txBody>
      </p:sp>
    </p:spTree>
    <p:extLst>
      <p:ext uri="{BB962C8B-B14F-4D97-AF65-F5344CB8AC3E}">
        <p14:creationId xmlns:p14="http://schemas.microsoft.com/office/powerpoint/2010/main" val="16159017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es-ES_tradnl"/>
              <a:t>Clic para editar título</a:t>
            </a:r>
          </a:p>
        </p:txBody>
      </p:sp>
      <p:sp>
        <p:nvSpPr>
          <p:cNvPr id="3" name="Subtítulo 2"/>
          <p:cNvSpPr>
            <a:spLocks noGrp="1"/>
          </p:cNvSpPr>
          <p:nvPr>
            <p:ph type="subTitle" idx="1"/>
          </p:nvPr>
        </p:nvSpPr>
        <p:spPr>
          <a:xfrm>
            <a:off x="1371600" y="3886200"/>
            <a:ext cx="6400800" cy="1752600"/>
          </a:xfrm>
          <a:prstGeom prst="rect">
            <a:avLst/>
          </a:prstGeom>
        </p:spPr>
        <p:txBody>
          <a:bodyPr vert="horz"/>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s-ES_tradnl"/>
              <a:t>Haga clic para modificar el estilo de subtítulo del patrón</a:t>
            </a:r>
          </a:p>
        </p:txBody>
      </p:sp>
    </p:spTree>
    <p:extLst>
      <p:ext uri="{BB962C8B-B14F-4D97-AF65-F5344CB8AC3E}">
        <p14:creationId xmlns:p14="http://schemas.microsoft.com/office/powerpoint/2010/main" val="491833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_tradnl"/>
              <a:t>Clic para editar título</a:t>
            </a:r>
          </a:p>
        </p:txBody>
      </p:sp>
      <p:sp>
        <p:nvSpPr>
          <p:cNvPr id="3" name="Marcador de contenido 2"/>
          <p:cNvSpPr>
            <a:spLocks noGrp="1"/>
          </p:cNvSpPr>
          <p:nvPr>
            <p:ph idx="1"/>
          </p:nvPr>
        </p:nvSpPr>
        <p:spPr>
          <a:xfrm>
            <a:off x="457200" y="1600200"/>
            <a:ext cx="8229600" cy="4525963"/>
          </a:xfrm>
          <a:prstGeom prst="rect">
            <a:avLst/>
          </a:prstGeom>
        </p:spPr>
        <p:txBody>
          <a:bodyPr vert="horz"/>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Tree>
    <p:extLst>
      <p:ext uri="{BB962C8B-B14F-4D97-AF65-F5344CB8AC3E}">
        <p14:creationId xmlns:p14="http://schemas.microsoft.com/office/powerpoint/2010/main" val="26929033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es-ES_tradnl"/>
              <a:t>Clic para editar título</a:t>
            </a:r>
          </a:p>
        </p:txBody>
      </p:sp>
      <p:sp>
        <p:nvSpPr>
          <p:cNvPr id="3" name="Marcador de texto 2"/>
          <p:cNvSpPr>
            <a:spLocks noGrp="1"/>
          </p:cNvSpPr>
          <p:nvPr>
            <p:ph type="body" idx="1"/>
          </p:nvPr>
        </p:nvSpPr>
        <p:spPr>
          <a:xfrm>
            <a:off x="722313" y="2906713"/>
            <a:ext cx="7772400" cy="1500187"/>
          </a:xfrm>
          <a:prstGeom prst="rect">
            <a:avLst/>
          </a:prstGeom>
        </p:spPr>
        <p:txBody>
          <a:bodyPr vert="horz"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s-ES_tradnl"/>
              <a:t>Haga clic para modificar el estilo de texto del patrón</a:t>
            </a:r>
          </a:p>
        </p:txBody>
      </p:sp>
    </p:spTree>
    <p:extLst>
      <p:ext uri="{BB962C8B-B14F-4D97-AF65-F5344CB8AC3E}">
        <p14:creationId xmlns:p14="http://schemas.microsoft.com/office/powerpoint/2010/main" val="381191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_tradnl"/>
              <a:t>Clic para editar título</a:t>
            </a:r>
          </a:p>
        </p:txBody>
      </p:sp>
      <p:sp>
        <p:nvSpPr>
          <p:cNvPr id="3" name="Marcador de contenido 2"/>
          <p:cNvSpPr>
            <a:spLocks noGrp="1"/>
          </p:cNvSpPr>
          <p:nvPr>
            <p:ph sz="half" idx="1"/>
          </p:nvPr>
        </p:nvSpPr>
        <p:spPr>
          <a:xfrm>
            <a:off x="457200" y="1600200"/>
            <a:ext cx="4038600" cy="4525963"/>
          </a:xfrm>
          <a:prstGeom prst="rect">
            <a:avLst/>
          </a:prstGeom>
        </p:spPr>
        <p:txBody>
          <a:bodyPr vert="horz"/>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Marcador de contenido 3"/>
          <p:cNvSpPr>
            <a:spLocks noGrp="1"/>
          </p:cNvSpPr>
          <p:nvPr>
            <p:ph sz="half" idx="2"/>
          </p:nvPr>
        </p:nvSpPr>
        <p:spPr>
          <a:xfrm>
            <a:off x="4648200" y="1600200"/>
            <a:ext cx="4038600" cy="4525963"/>
          </a:xfrm>
          <a:prstGeom prst="rect">
            <a:avLst/>
          </a:prstGeom>
        </p:spPr>
        <p:txBody>
          <a:bodyPr vert="horz"/>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Tree>
    <p:extLst>
      <p:ext uri="{BB962C8B-B14F-4D97-AF65-F5344CB8AC3E}">
        <p14:creationId xmlns:p14="http://schemas.microsoft.com/office/powerpoint/2010/main" val="3461311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p:spPr>
        <p:txBody>
          <a:bodyPr/>
          <a:lstStyle>
            <a:lvl1pPr>
              <a:defRPr/>
            </a:lvl1pPr>
          </a:lstStyle>
          <a:p>
            <a:r>
              <a:rPr lang="es-ES_tradnl"/>
              <a:t>Clic para editar título</a:t>
            </a:r>
          </a:p>
        </p:txBody>
      </p:sp>
      <p:sp>
        <p:nvSpPr>
          <p:cNvPr id="3" name="Marcador de texto 2"/>
          <p:cNvSpPr>
            <a:spLocks noGrp="1"/>
          </p:cNvSpPr>
          <p:nvPr>
            <p:ph type="body" idx="1"/>
          </p:nvPr>
        </p:nvSpPr>
        <p:spPr>
          <a:xfrm>
            <a:off x="457200" y="1535113"/>
            <a:ext cx="4040188" cy="639762"/>
          </a:xfrm>
          <a:prstGeom prst="rect">
            <a:avLst/>
          </a:prstGeom>
        </p:spPr>
        <p:txBody>
          <a:bodyPr vert="horz"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a:t>Haga clic para modificar el estilo de texto del patrón</a:t>
            </a:r>
          </a:p>
        </p:txBody>
      </p:sp>
      <p:sp>
        <p:nvSpPr>
          <p:cNvPr id="4" name="Marcador de contenido 3"/>
          <p:cNvSpPr>
            <a:spLocks noGrp="1"/>
          </p:cNvSpPr>
          <p:nvPr>
            <p:ph sz="half" idx="2"/>
          </p:nvPr>
        </p:nvSpPr>
        <p:spPr>
          <a:xfrm>
            <a:off x="457200" y="2174875"/>
            <a:ext cx="4040188" cy="3951288"/>
          </a:xfrm>
          <a:prstGeom prst="rect">
            <a:avLst/>
          </a:prstGeom>
        </p:spPr>
        <p:txBody>
          <a:bodyPr vert="horz"/>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5" name="Marcador de texto 4"/>
          <p:cNvSpPr>
            <a:spLocks noGrp="1"/>
          </p:cNvSpPr>
          <p:nvPr>
            <p:ph type="body" sz="quarter" idx="3"/>
          </p:nvPr>
        </p:nvSpPr>
        <p:spPr>
          <a:xfrm>
            <a:off x="4645025" y="1535113"/>
            <a:ext cx="4041775" cy="639762"/>
          </a:xfrm>
          <a:prstGeom prst="rect">
            <a:avLst/>
          </a:prstGeom>
        </p:spPr>
        <p:txBody>
          <a:bodyPr vert="horz"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a:t>Haga clic para modificar el estilo de texto del patrón</a:t>
            </a:r>
          </a:p>
        </p:txBody>
      </p:sp>
      <p:sp>
        <p:nvSpPr>
          <p:cNvPr id="6" name="Marcador de contenido 5"/>
          <p:cNvSpPr>
            <a:spLocks noGrp="1"/>
          </p:cNvSpPr>
          <p:nvPr>
            <p:ph sz="quarter" idx="4"/>
          </p:nvPr>
        </p:nvSpPr>
        <p:spPr>
          <a:xfrm>
            <a:off x="4645025" y="2174875"/>
            <a:ext cx="4041775" cy="3951288"/>
          </a:xfrm>
          <a:prstGeom prst="rect">
            <a:avLst/>
          </a:prstGeom>
        </p:spPr>
        <p:txBody>
          <a:bodyPr vert="horz"/>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Tree>
    <p:extLst>
      <p:ext uri="{BB962C8B-B14F-4D97-AF65-F5344CB8AC3E}">
        <p14:creationId xmlns:p14="http://schemas.microsoft.com/office/powerpoint/2010/main" val="42712038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_tradnl"/>
              <a:t>Clic para editar título</a:t>
            </a:r>
          </a:p>
        </p:txBody>
      </p:sp>
    </p:spTree>
    <p:extLst>
      <p:ext uri="{BB962C8B-B14F-4D97-AF65-F5344CB8AC3E}">
        <p14:creationId xmlns:p14="http://schemas.microsoft.com/office/powerpoint/2010/main" val="31284868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14373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es-ES_tradnl"/>
              <a:t>Clic para editar título</a:t>
            </a:r>
          </a:p>
        </p:txBody>
      </p:sp>
      <p:sp>
        <p:nvSpPr>
          <p:cNvPr id="3" name="Marcador de contenido 2"/>
          <p:cNvSpPr>
            <a:spLocks noGrp="1"/>
          </p:cNvSpPr>
          <p:nvPr>
            <p:ph idx="1"/>
          </p:nvPr>
        </p:nvSpPr>
        <p:spPr>
          <a:xfrm>
            <a:off x="3575050" y="273050"/>
            <a:ext cx="5111750" cy="5853113"/>
          </a:xfrm>
          <a:prstGeom prst="rect">
            <a:avLst/>
          </a:prstGeom>
        </p:spPr>
        <p:txBody>
          <a:bodyPr vert="horz"/>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Marcador de texto 3"/>
          <p:cNvSpPr>
            <a:spLocks noGrp="1"/>
          </p:cNvSpPr>
          <p:nvPr>
            <p:ph type="body" sz="half" idx="2"/>
          </p:nvPr>
        </p:nvSpPr>
        <p:spPr>
          <a:xfrm>
            <a:off x="457200" y="1435100"/>
            <a:ext cx="3008313" cy="4691063"/>
          </a:xfrm>
          <a:prstGeom prst="rect">
            <a:avLst/>
          </a:prstGeom>
        </p:spPr>
        <p:txBody>
          <a:bodyPr vert="horz"/>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a:t>Haga clic para modificar el estilo de texto del patrón</a:t>
            </a:r>
          </a:p>
        </p:txBody>
      </p:sp>
    </p:spTree>
    <p:extLst>
      <p:ext uri="{BB962C8B-B14F-4D97-AF65-F5344CB8AC3E}">
        <p14:creationId xmlns:p14="http://schemas.microsoft.com/office/powerpoint/2010/main" val="29276069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es-ES_tradnl"/>
              <a:t>Clic para editar título</a:t>
            </a:r>
          </a:p>
        </p:txBody>
      </p:sp>
      <p:sp>
        <p:nvSpPr>
          <p:cNvPr id="3" name="Marcador de posición de imagen 2"/>
          <p:cNvSpPr>
            <a:spLocks noGrp="1"/>
          </p:cNvSpPr>
          <p:nvPr>
            <p:ph type="pic" idx="1"/>
          </p:nvPr>
        </p:nvSpPr>
        <p:spPr>
          <a:xfrm>
            <a:off x="1792288" y="612775"/>
            <a:ext cx="5486400" cy="4114800"/>
          </a:xfrm>
          <a:prstGeom prst="rect">
            <a:avLst/>
          </a:prstGeom>
        </p:spPr>
        <p:txBody>
          <a:bodyPr vert="horz"/>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s-ES_tradnl" noProof="0">
              <a:sym typeface="Arial" charset="0"/>
            </a:endParaRPr>
          </a:p>
        </p:txBody>
      </p:sp>
      <p:sp>
        <p:nvSpPr>
          <p:cNvPr id="4" name="Marcador de texto 3"/>
          <p:cNvSpPr>
            <a:spLocks noGrp="1"/>
          </p:cNvSpPr>
          <p:nvPr>
            <p:ph type="body" sz="half" idx="2"/>
          </p:nvPr>
        </p:nvSpPr>
        <p:spPr>
          <a:xfrm>
            <a:off x="1792288" y="5367338"/>
            <a:ext cx="5486400" cy="804862"/>
          </a:xfrm>
          <a:prstGeom prst="rect">
            <a:avLst/>
          </a:prstGeom>
        </p:spPr>
        <p:txBody>
          <a:bodyPr vert="horz"/>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a:t>Haga clic para modificar el estilo de texto del patrón</a:t>
            </a:r>
          </a:p>
        </p:txBody>
      </p:sp>
    </p:spTree>
    <p:extLst>
      <p:ext uri="{BB962C8B-B14F-4D97-AF65-F5344CB8AC3E}">
        <p14:creationId xmlns:p14="http://schemas.microsoft.com/office/powerpoint/2010/main" val="19395808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_tradnl"/>
              <a:t>Clic para editar título</a:t>
            </a:r>
          </a:p>
        </p:txBody>
      </p:sp>
      <p:sp>
        <p:nvSpPr>
          <p:cNvPr id="3" name="Marcador de texto vertical 2"/>
          <p:cNvSpPr>
            <a:spLocks noGrp="1"/>
          </p:cNvSpPr>
          <p:nvPr>
            <p:ph type="body" orient="vert" idx="1"/>
          </p:nvPr>
        </p:nvSpPr>
        <p:spPr>
          <a:xfrm>
            <a:off x="457200" y="1600200"/>
            <a:ext cx="8229600" cy="4525963"/>
          </a:xfrm>
          <a:prstGeom prst="rect">
            <a:avLst/>
          </a:prstGeom>
        </p:spPr>
        <p:txBody>
          <a:bodyPr vert="eaVert"/>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Tree>
    <p:extLst>
      <p:ext uri="{BB962C8B-B14F-4D97-AF65-F5344CB8AC3E}">
        <p14:creationId xmlns:p14="http://schemas.microsoft.com/office/powerpoint/2010/main" val="39602654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858000" y="1600200"/>
            <a:ext cx="2286000" cy="4525963"/>
          </a:xfrm>
        </p:spPr>
        <p:txBody>
          <a:bodyPr vert="eaVert"/>
          <a:lstStyle/>
          <a:p>
            <a:r>
              <a:rPr lang="es-ES_tradnl"/>
              <a:t>Clic para editar título</a:t>
            </a:r>
          </a:p>
        </p:txBody>
      </p:sp>
      <p:sp>
        <p:nvSpPr>
          <p:cNvPr id="3" name="Marcador de texto vertical 2"/>
          <p:cNvSpPr>
            <a:spLocks noGrp="1"/>
          </p:cNvSpPr>
          <p:nvPr>
            <p:ph type="body" orient="vert" idx="1"/>
          </p:nvPr>
        </p:nvSpPr>
        <p:spPr>
          <a:xfrm>
            <a:off x="0" y="1600200"/>
            <a:ext cx="6705600" cy="4525963"/>
          </a:xfrm>
          <a:prstGeom prst="rect">
            <a:avLst/>
          </a:prstGeom>
        </p:spPr>
        <p:txBody>
          <a:bodyPr vert="eaVert"/>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Tree>
    <p:extLst>
      <p:ext uri="{BB962C8B-B14F-4D97-AF65-F5344CB8AC3E}">
        <p14:creationId xmlns:p14="http://schemas.microsoft.com/office/powerpoint/2010/main" val="6607536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a:prstGeom prst="rect">
            <a:avLst/>
          </a:prstGeom>
        </p:spPr>
        <p:txBody>
          <a:bodyPr vert="horz"/>
          <a:lstStyle/>
          <a:p>
            <a:r>
              <a:rPr lang="es-ES_tradnl"/>
              <a:t>Clic para editar título</a:t>
            </a:r>
          </a:p>
        </p:txBody>
      </p:sp>
      <p:sp>
        <p:nvSpPr>
          <p:cNvPr id="3" name="Subtítulo 2"/>
          <p:cNvSpPr>
            <a:spLocks noGrp="1"/>
          </p:cNvSpPr>
          <p:nvPr>
            <p:ph type="subTitle" idx="1"/>
          </p:nvPr>
        </p:nvSpPr>
        <p:spPr>
          <a:xfrm>
            <a:off x="1371600" y="3886200"/>
            <a:ext cx="6400800" cy="1752600"/>
          </a:xfrm>
          <a:prstGeom prst="rect">
            <a:avLst/>
          </a:prstGeom>
        </p:spPr>
        <p:txBody>
          <a:bodyPr vert="horz"/>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s-ES_tradnl"/>
              <a:t>Haga clic para modificar el estilo de subtítulo del patrón</a:t>
            </a:r>
          </a:p>
        </p:txBody>
      </p:sp>
      <p:sp>
        <p:nvSpPr>
          <p:cNvPr id="4" name="Rectangle 6">
            <a:extLst>
              <a:ext uri="{FF2B5EF4-FFF2-40B4-BE49-F238E27FC236}">
                <a16:creationId xmlns:a16="http://schemas.microsoft.com/office/drawing/2014/main" id="{7BC97BEC-C7C9-BB5A-EDED-E6B48E17A33B}"/>
              </a:ext>
            </a:extLst>
          </p:cNvPr>
          <p:cNvSpPr>
            <a:spLocks noGrp="1"/>
          </p:cNvSpPr>
          <p:nvPr>
            <p:ph type="sldNum" sz="quarter" idx="10"/>
          </p:nvPr>
        </p:nvSpPr>
        <p:spPr/>
        <p:txBody>
          <a:bodyPr/>
          <a:lstStyle>
            <a:lvl1pPr>
              <a:defRPr/>
            </a:lvl1pPr>
          </a:lstStyle>
          <a:p>
            <a:pPr>
              <a:defRPr/>
            </a:pPr>
            <a:fld id="{8518B997-67B0-4933-9FBB-5898B4B14D7F}" type="slidenum">
              <a:rPr lang="es-ES_tradnl" altLang="es-ES"/>
              <a:pPr>
                <a:defRPr/>
              </a:pPr>
              <a:t>‹#›</a:t>
            </a:fld>
            <a:endParaRPr lang="es-ES_tradnl" altLang="es-ES"/>
          </a:p>
        </p:txBody>
      </p:sp>
    </p:spTree>
    <p:extLst>
      <p:ext uri="{BB962C8B-B14F-4D97-AF65-F5344CB8AC3E}">
        <p14:creationId xmlns:p14="http://schemas.microsoft.com/office/powerpoint/2010/main" val="22683764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a:prstGeom prst="rect">
            <a:avLst/>
          </a:prstGeom>
        </p:spPr>
        <p:txBody>
          <a:bodyPr vert="horz"/>
          <a:lstStyle/>
          <a:p>
            <a:r>
              <a:rPr lang="es-ES_tradnl"/>
              <a:t>Clic para editar título</a:t>
            </a:r>
          </a:p>
        </p:txBody>
      </p:sp>
      <p:sp>
        <p:nvSpPr>
          <p:cNvPr id="3" name="Marcador de contenido 2"/>
          <p:cNvSpPr>
            <a:spLocks noGrp="1"/>
          </p:cNvSpPr>
          <p:nvPr>
            <p:ph idx="1"/>
          </p:nvPr>
        </p:nvSpPr>
        <p:spPr>
          <a:xfrm>
            <a:off x="457200" y="1600200"/>
            <a:ext cx="8229600" cy="4525963"/>
          </a:xfrm>
          <a:prstGeom prst="rect">
            <a:avLst/>
          </a:prstGeom>
        </p:spPr>
        <p:txBody>
          <a:bodyPr vert="horz"/>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Rectangle 6">
            <a:extLst>
              <a:ext uri="{FF2B5EF4-FFF2-40B4-BE49-F238E27FC236}">
                <a16:creationId xmlns:a16="http://schemas.microsoft.com/office/drawing/2014/main" id="{83EDD3D3-4911-CC8B-0E6E-FF89BF9F995D}"/>
              </a:ext>
            </a:extLst>
          </p:cNvPr>
          <p:cNvSpPr>
            <a:spLocks noGrp="1"/>
          </p:cNvSpPr>
          <p:nvPr>
            <p:ph type="sldNum" sz="quarter" idx="10"/>
          </p:nvPr>
        </p:nvSpPr>
        <p:spPr/>
        <p:txBody>
          <a:bodyPr/>
          <a:lstStyle>
            <a:lvl1pPr>
              <a:defRPr/>
            </a:lvl1pPr>
          </a:lstStyle>
          <a:p>
            <a:pPr>
              <a:defRPr/>
            </a:pPr>
            <a:fld id="{9CB90437-C89A-4F86-9C3F-53CCC0E1A127}" type="slidenum">
              <a:rPr lang="es-ES_tradnl" altLang="es-ES"/>
              <a:pPr>
                <a:defRPr/>
              </a:pPr>
              <a:t>‹#›</a:t>
            </a:fld>
            <a:endParaRPr lang="es-ES_tradnl" altLang="es-ES"/>
          </a:p>
        </p:txBody>
      </p:sp>
    </p:spTree>
    <p:extLst>
      <p:ext uri="{BB962C8B-B14F-4D97-AF65-F5344CB8AC3E}">
        <p14:creationId xmlns:p14="http://schemas.microsoft.com/office/powerpoint/2010/main" val="7458294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a:prstGeom prst="rect">
            <a:avLst/>
          </a:prstGeom>
        </p:spPr>
        <p:txBody>
          <a:bodyPr vert="horz" anchor="t"/>
          <a:lstStyle>
            <a:lvl1pPr algn="l">
              <a:defRPr sz="4000" b="1" cap="all"/>
            </a:lvl1pPr>
          </a:lstStyle>
          <a:p>
            <a:r>
              <a:rPr lang="es-ES_tradnl"/>
              <a:t>Clic para editar título</a:t>
            </a:r>
          </a:p>
        </p:txBody>
      </p:sp>
      <p:sp>
        <p:nvSpPr>
          <p:cNvPr id="3" name="Marcador de texto 2"/>
          <p:cNvSpPr>
            <a:spLocks noGrp="1"/>
          </p:cNvSpPr>
          <p:nvPr>
            <p:ph type="body" idx="1"/>
          </p:nvPr>
        </p:nvSpPr>
        <p:spPr>
          <a:xfrm>
            <a:off x="722313" y="2906713"/>
            <a:ext cx="7772400" cy="1500187"/>
          </a:xfrm>
          <a:prstGeom prst="rect">
            <a:avLst/>
          </a:prstGeom>
        </p:spPr>
        <p:txBody>
          <a:bodyPr vert="horz"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s-ES_tradnl"/>
              <a:t>Haga clic para modificar el estilo de texto del patrón</a:t>
            </a:r>
          </a:p>
        </p:txBody>
      </p:sp>
      <p:sp>
        <p:nvSpPr>
          <p:cNvPr id="4" name="Rectangle 6">
            <a:extLst>
              <a:ext uri="{FF2B5EF4-FFF2-40B4-BE49-F238E27FC236}">
                <a16:creationId xmlns:a16="http://schemas.microsoft.com/office/drawing/2014/main" id="{1DF5D46B-2589-7EDF-AFAD-7DDDDDCF6EAE}"/>
              </a:ext>
            </a:extLst>
          </p:cNvPr>
          <p:cNvSpPr>
            <a:spLocks noGrp="1"/>
          </p:cNvSpPr>
          <p:nvPr>
            <p:ph type="sldNum" sz="quarter" idx="10"/>
          </p:nvPr>
        </p:nvSpPr>
        <p:spPr/>
        <p:txBody>
          <a:bodyPr/>
          <a:lstStyle>
            <a:lvl1pPr>
              <a:defRPr/>
            </a:lvl1pPr>
          </a:lstStyle>
          <a:p>
            <a:pPr>
              <a:defRPr/>
            </a:pPr>
            <a:fld id="{F361BA16-5CD5-4455-9DF7-D747FE23BEF5}" type="slidenum">
              <a:rPr lang="es-ES_tradnl" altLang="es-ES"/>
              <a:pPr>
                <a:defRPr/>
              </a:pPr>
              <a:t>‹#›</a:t>
            </a:fld>
            <a:endParaRPr lang="es-ES_tradnl" altLang="es-ES"/>
          </a:p>
        </p:txBody>
      </p:sp>
    </p:spTree>
    <p:extLst>
      <p:ext uri="{BB962C8B-B14F-4D97-AF65-F5344CB8AC3E}">
        <p14:creationId xmlns:p14="http://schemas.microsoft.com/office/powerpoint/2010/main" val="12878635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a:prstGeom prst="rect">
            <a:avLst/>
          </a:prstGeom>
        </p:spPr>
        <p:txBody>
          <a:bodyPr vert="horz"/>
          <a:lstStyle/>
          <a:p>
            <a:r>
              <a:rPr lang="es-ES_tradnl"/>
              <a:t>Clic para editar título</a:t>
            </a:r>
          </a:p>
        </p:txBody>
      </p:sp>
      <p:sp>
        <p:nvSpPr>
          <p:cNvPr id="3" name="Marcador de contenido 2"/>
          <p:cNvSpPr>
            <a:spLocks noGrp="1"/>
          </p:cNvSpPr>
          <p:nvPr>
            <p:ph sz="half" idx="1"/>
          </p:nvPr>
        </p:nvSpPr>
        <p:spPr>
          <a:xfrm>
            <a:off x="457200" y="1600200"/>
            <a:ext cx="4038600" cy="4525963"/>
          </a:xfrm>
          <a:prstGeom prst="rect">
            <a:avLst/>
          </a:prstGeom>
        </p:spPr>
        <p:txBody>
          <a:bodyPr vert="horz"/>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Marcador de contenido 3"/>
          <p:cNvSpPr>
            <a:spLocks noGrp="1"/>
          </p:cNvSpPr>
          <p:nvPr>
            <p:ph sz="half" idx="2"/>
          </p:nvPr>
        </p:nvSpPr>
        <p:spPr>
          <a:xfrm>
            <a:off x="4648200" y="1600200"/>
            <a:ext cx="4038600" cy="4525963"/>
          </a:xfrm>
          <a:prstGeom prst="rect">
            <a:avLst/>
          </a:prstGeom>
        </p:spPr>
        <p:txBody>
          <a:bodyPr vert="horz"/>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5" name="Rectangle 6">
            <a:extLst>
              <a:ext uri="{FF2B5EF4-FFF2-40B4-BE49-F238E27FC236}">
                <a16:creationId xmlns:a16="http://schemas.microsoft.com/office/drawing/2014/main" id="{BE5AFC6F-2B92-598C-8287-061F301E1675}"/>
              </a:ext>
            </a:extLst>
          </p:cNvPr>
          <p:cNvSpPr>
            <a:spLocks noGrp="1"/>
          </p:cNvSpPr>
          <p:nvPr>
            <p:ph type="sldNum" sz="quarter" idx="10"/>
          </p:nvPr>
        </p:nvSpPr>
        <p:spPr/>
        <p:txBody>
          <a:bodyPr/>
          <a:lstStyle>
            <a:lvl1pPr>
              <a:defRPr/>
            </a:lvl1pPr>
          </a:lstStyle>
          <a:p>
            <a:pPr>
              <a:defRPr/>
            </a:pPr>
            <a:fld id="{2DB5FBE0-12FA-4CFC-AAA6-D2EDAB884E1A}" type="slidenum">
              <a:rPr lang="es-ES_tradnl" altLang="es-ES"/>
              <a:pPr>
                <a:defRPr/>
              </a:pPr>
              <a:t>‹#›</a:t>
            </a:fld>
            <a:endParaRPr lang="es-ES_tradnl" altLang="es-ES"/>
          </a:p>
        </p:txBody>
      </p:sp>
    </p:spTree>
    <p:extLst>
      <p:ext uri="{BB962C8B-B14F-4D97-AF65-F5344CB8AC3E}">
        <p14:creationId xmlns:p14="http://schemas.microsoft.com/office/powerpoint/2010/main" val="274009740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a:prstGeom prst="rect">
            <a:avLst/>
          </a:prstGeom>
        </p:spPr>
        <p:txBody>
          <a:bodyPr vert="horz"/>
          <a:lstStyle>
            <a:lvl1pPr>
              <a:defRPr/>
            </a:lvl1pPr>
          </a:lstStyle>
          <a:p>
            <a:r>
              <a:rPr lang="es-ES_tradnl"/>
              <a:t>Clic para editar título</a:t>
            </a:r>
          </a:p>
        </p:txBody>
      </p:sp>
      <p:sp>
        <p:nvSpPr>
          <p:cNvPr id="3" name="Marcador de texto 2"/>
          <p:cNvSpPr>
            <a:spLocks noGrp="1"/>
          </p:cNvSpPr>
          <p:nvPr>
            <p:ph type="body" idx="1"/>
          </p:nvPr>
        </p:nvSpPr>
        <p:spPr>
          <a:xfrm>
            <a:off x="457200" y="1535113"/>
            <a:ext cx="4040188" cy="639762"/>
          </a:xfrm>
          <a:prstGeom prst="rect">
            <a:avLst/>
          </a:prstGeom>
        </p:spPr>
        <p:txBody>
          <a:bodyPr vert="horz"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a:t>Haga clic para modificar el estilo de texto del patrón</a:t>
            </a:r>
          </a:p>
        </p:txBody>
      </p:sp>
      <p:sp>
        <p:nvSpPr>
          <p:cNvPr id="4" name="Marcador de contenido 3"/>
          <p:cNvSpPr>
            <a:spLocks noGrp="1"/>
          </p:cNvSpPr>
          <p:nvPr>
            <p:ph sz="half" idx="2"/>
          </p:nvPr>
        </p:nvSpPr>
        <p:spPr>
          <a:xfrm>
            <a:off x="457200" y="2174875"/>
            <a:ext cx="4040188" cy="3951288"/>
          </a:xfrm>
          <a:prstGeom prst="rect">
            <a:avLst/>
          </a:prstGeom>
        </p:spPr>
        <p:txBody>
          <a:bodyPr vert="horz"/>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5" name="Marcador de texto 4"/>
          <p:cNvSpPr>
            <a:spLocks noGrp="1"/>
          </p:cNvSpPr>
          <p:nvPr>
            <p:ph type="body" sz="quarter" idx="3"/>
          </p:nvPr>
        </p:nvSpPr>
        <p:spPr>
          <a:xfrm>
            <a:off x="4645025" y="1535113"/>
            <a:ext cx="4041775" cy="639762"/>
          </a:xfrm>
          <a:prstGeom prst="rect">
            <a:avLst/>
          </a:prstGeom>
        </p:spPr>
        <p:txBody>
          <a:bodyPr vert="horz"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a:t>Haga clic para modificar el estilo de texto del patrón</a:t>
            </a:r>
          </a:p>
        </p:txBody>
      </p:sp>
      <p:sp>
        <p:nvSpPr>
          <p:cNvPr id="6" name="Marcador de contenido 5"/>
          <p:cNvSpPr>
            <a:spLocks noGrp="1"/>
          </p:cNvSpPr>
          <p:nvPr>
            <p:ph sz="quarter" idx="4"/>
          </p:nvPr>
        </p:nvSpPr>
        <p:spPr>
          <a:xfrm>
            <a:off x="4645025" y="2174875"/>
            <a:ext cx="4041775" cy="3951288"/>
          </a:xfrm>
          <a:prstGeom prst="rect">
            <a:avLst/>
          </a:prstGeom>
        </p:spPr>
        <p:txBody>
          <a:bodyPr vert="horz"/>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7" name="Rectangle 6">
            <a:extLst>
              <a:ext uri="{FF2B5EF4-FFF2-40B4-BE49-F238E27FC236}">
                <a16:creationId xmlns:a16="http://schemas.microsoft.com/office/drawing/2014/main" id="{C27B3D36-2026-F622-1665-E8BF944FD05D}"/>
              </a:ext>
            </a:extLst>
          </p:cNvPr>
          <p:cNvSpPr>
            <a:spLocks noGrp="1"/>
          </p:cNvSpPr>
          <p:nvPr>
            <p:ph type="sldNum" sz="quarter" idx="10"/>
          </p:nvPr>
        </p:nvSpPr>
        <p:spPr/>
        <p:txBody>
          <a:bodyPr/>
          <a:lstStyle>
            <a:lvl1pPr>
              <a:defRPr/>
            </a:lvl1pPr>
          </a:lstStyle>
          <a:p>
            <a:pPr>
              <a:defRPr/>
            </a:pPr>
            <a:fld id="{BFF7D05E-C194-4444-9DF5-AC0AE221B558}" type="slidenum">
              <a:rPr lang="es-ES_tradnl" altLang="es-ES"/>
              <a:pPr>
                <a:defRPr/>
              </a:pPr>
              <a:t>‹#›</a:t>
            </a:fld>
            <a:endParaRPr lang="es-ES_tradnl" altLang="es-ES"/>
          </a:p>
        </p:txBody>
      </p:sp>
    </p:spTree>
    <p:extLst>
      <p:ext uri="{BB962C8B-B14F-4D97-AF65-F5344CB8AC3E}">
        <p14:creationId xmlns:p14="http://schemas.microsoft.com/office/powerpoint/2010/main" val="1429441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a:prstGeom prst="rect">
            <a:avLst/>
          </a:prstGeom>
        </p:spPr>
        <p:txBody>
          <a:bodyPr vert="horz"/>
          <a:lstStyle/>
          <a:p>
            <a:r>
              <a:rPr lang="es-ES_tradnl"/>
              <a:t>Clic para editar título</a:t>
            </a:r>
          </a:p>
        </p:txBody>
      </p:sp>
      <p:sp>
        <p:nvSpPr>
          <p:cNvPr id="3" name="Rectangle 6">
            <a:extLst>
              <a:ext uri="{FF2B5EF4-FFF2-40B4-BE49-F238E27FC236}">
                <a16:creationId xmlns:a16="http://schemas.microsoft.com/office/drawing/2014/main" id="{BF1014E5-7389-C66D-8C47-27770068BB30}"/>
              </a:ext>
            </a:extLst>
          </p:cNvPr>
          <p:cNvSpPr>
            <a:spLocks noGrp="1"/>
          </p:cNvSpPr>
          <p:nvPr>
            <p:ph type="sldNum" sz="quarter" idx="10"/>
          </p:nvPr>
        </p:nvSpPr>
        <p:spPr/>
        <p:txBody>
          <a:bodyPr/>
          <a:lstStyle>
            <a:lvl1pPr>
              <a:defRPr/>
            </a:lvl1pPr>
          </a:lstStyle>
          <a:p>
            <a:pPr>
              <a:defRPr/>
            </a:pPr>
            <a:fld id="{3AF47615-10AE-444D-B1E7-A912194595CE}" type="slidenum">
              <a:rPr lang="es-ES_tradnl" altLang="es-ES"/>
              <a:pPr>
                <a:defRPr/>
              </a:pPr>
              <a:t>‹#›</a:t>
            </a:fld>
            <a:endParaRPr lang="es-ES_tradnl" altLang="es-ES"/>
          </a:p>
        </p:txBody>
      </p:sp>
    </p:spTree>
    <p:extLst>
      <p:ext uri="{BB962C8B-B14F-4D97-AF65-F5344CB8AC3E}">
        <p14:creationId xmlns:p14="http://schemas.microsoft.com/office/powerpoint/2010/main" val="31485015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0B02B5F6-47CF-CED2-DFDE-81809EB55FD5}"/>
              </a:ext>
            </a:extLst>
          </p:cNvPr>
          <p:cNvSpPr>
            <a:spLocks noGrp="1"/>
          </p:cNvSpPr>
          <p:nvPr>
            <p:ph type="sldNum" sz="quarter" idx="10"/>
          </p:nvPr>
        </p:nvSpPr>
        <p:spPr/>
        <p:txBody>
          <a:bodyPr/>
          <a:lstStyle>
            <a:lvl1pPr>
              <a:defRPr/>
            </a:lvl1pPr>
          </a:lstStyle>
          <a:p>
            <a:pPr>
              <a:defRPr/>
            </a:pPr>
            <a:fld id="{42428B9C-6E99-449A-A6A2-304F7D45901C}" type="slidenum">
              <a:rPr lang="es-ES_tradnl" altLang="es-ES"/>
              <a:pPr>
                <a:defRPr/>
              </a:pPr>
              <a:t>‹#›</a:t>
            </a:fld>
            <a:endParaRPr lang="es-ES_tradnl" altLang="es-ES"/>
          </a:p>
        </p:txBody>
      </p:sp>
    </p:spTree>
    <p:extLst>
      <p:ext uri="{BB962C8B-B14F-4D97-AF65-F5344CB8AC3E}">
        <p14:creationId xmlns:p14="http://schemas.microsoft.com/office/powerpoint/2010/main" val="5390443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a:prstGeom prst="rect">
            <a:avLst/>
          </a:prstGeom>
        </p:spPr>
        <p:txBody>
          <a:bodyPr vert="horz" anchor="b"/>
          <a:lstStyle>
            <a:lvl1pPr algn="l">
              <a:defRPr sz="2000" b="1"/>
            </a:lvl1pPr>
          </a:lstStyle>
          <a:p>
            <a:r>
              <a:rPr lang="es-ES_tradnl"/>
              <a:t>Clic para editar título</a:t>
            </a:r>
          </a:p>
        </p:txBody>
      </p:sp>
      <p:sp>
        <p:nvSpPr>
          <p:cNvPr id="3" name="Marcador de contenido 2"/>
          <p:cNvSpPr>
            <a:spLocks noGrp="1"/>
          </p:cNvSpPr>
          <p:nvPr>
            <p:ph idx="1"/>
          </p:nvPr>
        </p:nvSpPr>
        <p:spPr>
          <a:xfrm>
            <a:off x="3575050" y="273050"/>
            <a:ext cx="5111750" cy="5853113"/>
          </a:xfrm>
          <a:prstGeom prst="rect">
            <a:avLst/>
          </a:prstGeom>
        </p:spPr>
        <p:txBody>
          <a:bodyPr vert="horz"/>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Marcador de texto 3"/>
          <p:cNvSpPr>
            <a:spLocks noGrp="1"/>
          </p:cNvSpPr>
          <p:nvPr>
            <p:ph type="body" sz="half" idx="2"/>
          </p:nvPr>
        </p:nvSpPr>
        <p:spPr>
          <a:xfrm>
            <a:off x="457200" y="1435100"/>
            <a:ext cx="3008313" cy="4691063"/>
          </a:xfrm>
          <a:prstGeom prst="rect">
            <a:avLst/>
          </a:prstGeom>
        </p:spPr>
        <p:txBody>
          <a:bodyPr vert="horz"/>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a:t>Haga clic para modificar el estilo de texto del patrón</a:t>
            </a:r>
          </a:p>
        </p:txBody>
      </p:sp>
      <p:sp>
        <p:nvSpPr>
          <p:cNvPr id="5" name="Rectangle 6">
            <a:extLst>
              <a:ext uri="{FF2B5EF4-FFF2-40B4-BE49-F238E27FC236}">
                <a16:creationId xmlns:a16="http://schemas.microsoft.com/office/drawing/2014/main" id="{D5ED577B-AD06-96A7-4170-B2ABAA62BC1C}"/>
              </a:ext>
            </a:extLst>
          </p:cNvPr>
          <p:cNvSpPr>
            <a:spLocks noGrp="1"/>
          </p:cNvSpPr>
          <p:nvPr>
            <p:ph type="sldNum" sz="quarter" idx="10"/>
          </p:nvPr>
        </p:nvSpPr>
        <p:spPr/>
        <p:txBody>
          <a:bodyPr/>
          <a:lstStyle>
            <a:lvl1pPr>
              <a:defRPr/>
            </a:lvl1pPr>
          </a:lstStyle>
          <a:p>
            <a:pPr>
              <a:defRPr/>
            </a:pPr>
            <a:fld id="{55C12A44-0F04-44F1-A23D-36773C77D453}" type="slidenum">
              <a:rPr lang="es-ES_tradnl" altLang="es-ES"/>
              <a:pPr>
                <a:defRPr/>
              </a:pPr>
              <a:t>‹#›</a:t>
            </a:fld>
            <a:endParaRPr lang="es-ES_tradnl" altLang="es-ES"/>
          </a:p>
        </p:txBody>
      </p:sp>
    </p:spTree>
    <p:extLst>
      <p:ext uri="{BB962C8B-B14F-4D97-AF65-F5344CB8AC3E}">
        <p14:creationId xmlns:p14="http://schemas.microsoft.com/office/powerpoint/2010/main" val="32249377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a:prstGeom prst="rect">
            <a:avLst/>
          </a:prstGeom>
        </p:spPr>
        <p:txBody>
          <a:bodyPr vert="horz" anchor="b"/>
          <a:lstStyle>
            <a:lvl1pPr algn="l">
              <a:defRPr sz="2000" b="1"/>
            </a:lvl1pPr>
          </a:lstStyle>
          <a:p>
            <a:r>
              <a:rPr lang="es-ES_tradnl"/>
              <a:t>Clic para editar título</a:t>
            </a:r>
          </a:p>
        </p:txBody>
      </p:sp>
      <p:sp>
        <p:nvSpPr>
          <p:cNvPr id="3" name="Marcador de posición de imagen 2"/>
          <p:cNvSpPr>
            <a:spLocks noGrp="1"/>
          </p:cNvSpPr>
          <p:nvPr>
            <p:ph type="pic" idx="1"/>
          </p:nvPr>
        </p:nvSpPr>
        <p:spPr>
          <a:xfrm>
            <a:off x="1792288" y="612775"/>
            <a:ext cx="5486400" cy="4114800"/>
          </a:xfrm>
          <a:prstGeom prst="rect">
            <a:avLst/>
          </a:prstGeom>
        </p:spPr>
        <p:txBody>
          <a:bodyPr vert="horz"/>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s-ES_tradnl" noProof="0">
              <a:sym typeface="Arial" charset="0"/>
            </a:endParaRPr>
          </a:p>
        </p:txBody>
      </p:sp>
      <p:sp>
        <p:nvSpPr>
          <p:cNvPr id="4" name="Marcador de texto 3"/>
          <p:cNvSpPr>
            <a:spLocks noGrp="1"/>
          </p:cNvSpPr>
          <p:nvPr>
            <p:ph type="body" sz="half" idx="2"/>
          </p:nvPr>
        </p:nvSpPr>
        <p:spPr>
          <a:xfrm>
            <a:off x="1792288" y="5367338"/>
            <a:ext cx="5486400" cy="804862"/>
          </a:xfrm>
          <a:prstGeom prst="rect">
            <a:avLst/>
          </a:prstGeom>
        </p:spPr>
        <p:txBody>
          <a:bodyPr vert="horz"/>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a:t>Haga clic para modificar el estilo de texto del patrón</a:t>
            </a:r>
          </a:p>
        </p:txBody>
      </p:sp>
      <p:sp>
        <p:nvSpPr>
          <p:cNvPr id="5" name="Rectangle 6">
            <a:extLst>
              <a:ext uri="{FF2B5EF4-FFF2-40B4-BE49-F238E27FC236}">
                <a16:creationId xmlns:a16="http://schemas.microsoft.com/office/drawing/2014/main" id="{DDEB7059-6678-384A-3EA3-E570A4633C2D}"/>
              </a:ext>
            </a:extLst>
          </p:cNvPr>
          <p:cNvSpPr>
            <a:spLocks noGrp="1"/>
          </p:cNvSpPr>
          <p:nvPr>
            <p:ph type="sldNum" sz="quarter" idx="10"/>
          </p:nvPr>
        </p:nvSpPr>
        <p:spPr/>
        <p:txBody>
          <a:bodyPr/>
          <a:lstStyle>
            <a:lvl1pPr>
              <a:defRPr/>
            </a:lvl1pPr>
          </a:lstStyle>
          <a:p>
            <a:pPr>
              <a:defRPr/>
            </a:pPr>
            <a:fld id="{99730367-E7DB-4CFB-AAB4-E67AEAA2CE09}" type="slidenum">
              <a:rPr lang="es-ES_tradnl" altLang="es-ES"/>
              <a:pPr>
                <a:defRPr/>
              </a:pPr>
              <a:t>‹#›</a:t>
            </a:fld>
            <a:endParaRPr lang="es-ES_tradnl" altLang="es-ES"/>
          </a:p>
        </p:txBody>
      </p:sp>
    </p:spTree>
    <p:extLst>
      <p:ext uri="{BB962C8B-B14F-4D97-AF65-F5344CB8AC3E}">
        <p14:creationId xmlns:p14="http://schemas.microsoft.com/office/powerpoint/2010/main" val="34765812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a:prstGeom prst="rect">
            <a:avLst/>
          </a:prstGeom>
        </p:spPr>
        <p:txBody>
          <a:bodyPr vert="horz"/>
          <a:lstStyle/>
          <a:p>
            <a:r>
              <a:rPr lang="es-ES_tradnl"/>
              <a:t>Clic para editar título</a:t>
            </a:r>
          </a:p>
        </p:txBody>
      </p:sp>
      <p:sp>
        <p:nvSpPr>
          <p:cNvPr id="3" name="Marcador de texto vertical 2"/>
          <p:cNvSpPr>
            <a:spLocks noGrp="1"/>
          </p:cNvSpPr>
          <p:nvPr>
            <p:ph type="body" orient="vert" idx="1"/>
          </p:nvPr>
        </p:nvSpPr>
        <p:spPr>
          <a:xfrm>
            <a:off x="457200" y="1600200"/>
            <a:ext cx="8229600" cy="4525963"/>
          </a:xfrm>
          <a:prstGeom prst="rect">
            <a:avLst/>
          </a:prstGeom>
        </p:spPr>
        <p:txBody>
          <a:bodyPr vert="eaVert"/>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Rectangle 6">
            <a:extLst>
              <a:ext uri="{FF2B5EF4-FFF2-40B4-BE49-F238E27FC236}">
                <a16:creationId xmlns:a16="http://schemas.microsoft.com/office/drawing/2014/main" id="{B5D6EB88-23F4-7C56-0151-28106D521EF5}"/>
              </a:ext>
            </a:extLst>
          </p:cNvPr>
          <p:cNvSpPr>
            <a:spLocks noGrp="1"/>
          </p:cNvSpPr>
          <p:nvPr>
            <p:ph type="sldNum" sz="quarter" idx="10"/>
          </p:nvPr>
        </p:nvSpPr>
        <p:spPr/>
        <p:txBody>
          <a:bodyPr/>
          <a:lstStyle>
            <a:lvl1pPr>
              <a:defRPr/>
            </a:lvl1pPr>
          </a:lstStyle>
          <a:p>
            <a:pPr>
              <a:defRPr/>
            </a:pPr>
            <a:fld id="{7C2D4719-C7F3-492E-9AF3-E4A51152EF88}" type="slidenum">
              <a:rPr lang="es-ES_tradnl" altLang="es-ES"/>
              <a:pPr>
                <a:defRPr/>
              </a:pPr>
              <a:t>‹#›</a:t>
            </a:fld>
            <a:endParaRPr lang="es-ES_tradnl" altLang="es-ES"/>
          </a:p>
        </p:txBody>
      </p:sp>
    </p:spTree>
    <p:extLst>
      <p:ext uri="{BB962C8B-B14F-4D97-AF65-F5344CB8AC3E}">
        <p14:creationId xmlns:p14="http://schemas.microsoft.com/office/powerpoint/2010/main" val="14852420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29400" y="274638"/>
            <a:ext cx="2057400" cy="5851525"/>
          </a:xfrm>
          <a:prstGeom prst="rect">
            <a:avLst/>
          </a:prstGeom>
        </p:spPr>
        <p:txBody>
          <a:bodyPr vert="eaVert"/>
          <a:lstStyle/>
          <a:p>
            <a:r>
              <a:rPr lang="es-ES_tradnl"/>
              <a:t>Clic para editar título</a:t>
            </a:r>
          </a:p>
        </p:txBody>
      </p:sp>
      <p:sp>
        <p:nvSpPr>
          <p:cNvPr id="3" name="Marcador de texto vertical 2"/>
          <p:cNvSpPr>
            <a:spLocks noGrp="1"/>
          </p:cNvSpPr>
          <p:nvPr>
            <p:ph type="body" orient="vert" idx="1"/>
          </p:nvPr>
        </p:nvSpPr>
        <p:spPr>
          <a:xfrm>
            <a:off x="457200" y="274638"/>
            <a:ext cx="6019800" cy="5851525"/>
          </a:xfrm>
          <a:prstGeom prst="rect">
            <a:avLst/>
          </a:prstGeom>
        </p:spPr>
        <p:txBody>
          <a:bodyPr vert="eaVert"/>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p>
        </p:txBody>
      </p:sp>
      <p:sp>
        <p:nvSpPr>
          <p:cNvPr id="4" name="Rectangle 6">
            <a:extLst>
              <a:ext uri="{FF2B5EF4-FFF2-40B4-BE49-F238E27FC236}">
                <a16:creationId xmlns:a16="http://schemas.microsoft.com/office/drawing/2014/main" id="{C785599A-BD51-33BE-C6AA-F62466A86565}"/>
              </a:ext>
            </a:extLst>
          </p:cNvPr>
          <p:cNvSpPr>
            <a:spLocks noGrp="1"/>
          </p:cNvSpPr>
          <p:nvPr>
            <p:ph type="sldNum" sz="quarter" idx="10"/>
          </p:nvPr>
        </p:nvSpPr>
        <p:spPr/>
        <p:txBody>
          <a:bodyPr/>
          <a:lstStyle>
            <a:lvl1pPr>
              <a:defRPr/>
            </a:lvl1pPr>
          </a:lstStyle>
          <a:p>
            <a:pPr>
              <a:defRPr/>
            </a:pPr>
            <a:fld id="{A9116F08-8A41-4EFB-B343-851DEF99609A}" type="slidenum">
              <a:rPr lang="es-ES_tradnl" altLang="es-ES"/>
              <a:pPr>
                <a:defRPr/>
              </a:pPr>
              <a:t>‹#›</a:t>
            </a:fld>
            <a:endParaRPr lang="es-ES_tradnl" altLang="es-ES"/>
          </a:p>
        </p:txBody>
      </p:sp>
    </p:spTree>
    <p:extLst>
      <p:ext uri="{BB962C8B-B14F-4D97-AF65-F5344CB8AC3E}">
        <p14:creationId xmlns:p14="http://schemas.microsoft.com/office/powerpoint/2010/main" val="4260523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1026" name="Rectangle 1">
            <a:extLst>
              <a:ext uri="{FF2B5EF4-FFF2-40B4-BE49-F238E27FC236}">
                <a16:creationId xmlns:a16="http://schemas.microsoft.com/office/drawing/2014/main" id="{E6881766-938A-B164-D09B-DE7192D62A4D}"/>
              </a:ext>
            </a:extLst>
          </p:cNvPr>
          <p:cNvSpPr>
            <a:spLocks noGrp="1"/>
          </p:cNvSpPr>
          <p:nvPr>
            <p:ph type="title"/>
          </p:nvPr>
        </p:nvSpPr>
        <p:spPr bwMode="auto">
          <a:xfrm>
            <a:off x="0" y="2957513"/>
            <a:ext cx="9144000" cy="614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vert="horz" wrap="square" lIns="0" tIns="0" rIns="0" bIns="0" numCol="1" anchor="ctr" anchorCtr="0" compatLnSpc="1">
            <a:prstTxWarp prst="textNoShape">
              <a:avLst/>
            </a:prstTxWarp>
          </a:bodyPr>
          <a:lstStyle/>
          <a:p>
            <a:pPr lvl="0"/>
            <a:r>
              <a:rPr lang="es-ES_tradnl" altLang="es-ES">
                <a:sym typeface="Arial Narrow" panose="020B0606020202030204" pitchFamily="34" charset="0"/>
              </a:rPr>
              <a:t>Click to edit Master title style</a:t>
            </a:r>
          </a:p>
        </p:txBody>
      </p:sp>
      <p:pic>
        <p:nvPicPr>
          <p:cNvPr id="1027" name="Picture 2" descr="logoblanco.png">
            <a:extLst>
              <a:ext uri="{FF2B5EF4-FFF2-40B4-BE49-F238E27FC236}">
                <a16:creationId xmlns:a16="http://schemas.microsoft.com/office/drawing/2014/main" id="{C0555D94-5BA2-CB6D-9A52-D6CEE51EE072}"/>
              </a:ext>
            </a:extLst>
          </p:cNvPr>
          <p:cNvPicPr>
            <a:picLocks noChangeAspect="1"/>
          </p:cNvPicPr>
          <p:nvPr/>
        </p:nvPicPr>
        <p:blipFill>
          <a:blip r:embed="rId13">
            <a:extLst>
              <a:ext uri="{28A0092B-C50C-407E-A947-70E740481C1C}">
                <a14:useLocalDpi xmlns:a14="http://schemas.microsoft.com/office/drawing/2010/main" val="0"/>
              </a:ext>
            </a:extLst>
          </a:blip>
          <a:srcRect/>
          <a:stretch>
            <a:fillRect/>
          </a:stretch>
        </p:blipFill>
        <p:spPr bwMode="auto">
          <a:xfrm>
            <a:off x="7475538" y="3106738"/>
            <a:ext cx="1222375" cy="388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pic>
    </p:spTree>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hf hdr="0" ftr="0" dt="0"/>
  <p:txStyles>
    <p:titleStyle>
      <a:lvl1pPr algn="l" defTabSz="457200" rtl="0" eaLnBrk="0" fontAlgn="base" hangingPunct="0">
        <a:spcBef>
          <a:spcPct val="0"/>
        </a:spcBef>
        <a:spcAft>
          <a:spcPct val="0"/>
        </a:spcAft>
        <a:defRPr sz="4000">
          <a:solidFill>
            <a:srgbClr val="FFFFFF"/>
          </a:solidFill>
          <a:latin typeface="+mj-lt"/>
          <a:ea typeface="+mj-ea"/>
          <a:cs typeface="+mj-cs"/>
          <a:sym typeface="Arial Narrow" panose="020B0606020202030204" pitchFamily="34" charset="0"/>
        </a:defRPr>
      </a:lvl1pPr>
      <a:lvl2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2pPr>
      <a:lvl3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3pPr>
      <a:lvl4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4pPr>
      <a:lvl5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5pPr>
      <a:lvl6pPr marL="4572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6pPr>
      <a:lvl7pPr marL="9144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7pPr>
      <a:lvl8pPr marL="13716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8pPr>
      <a:lvl9pPr marL="18288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9pPr>
    </p:titleStyle>
    <p:bodyStyle>
      <a:lvl1pPr marL="342900" indent="-3429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1pPr>
      <a:lvl2pPr marL="742950" indent="-28575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2pPr>
      <a:lvl3pPr marL="1143000" indent="-2286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3pPr>
      <a:lvl4pPr marL="1600200" indent="-2286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4pPr>
      <a:lvl5pPr marL="2057400" indent="-2286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5pPr>
      <a:lvl6pPr marL="25146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6pPr>
      <a:lvl7pPr marL="29718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7pPr>
      <a:lvl8pPr marL="34290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8pPr>
      <a:lvl9pPr marL="38862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9pPr>
    </p:bodyStyle>
    <p:otherStyle>
      <a:defPPr>
        <a:defRPr lang="es-ES_tradnl"/>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grpSp>
        <p:nvGrpSpPr>
          <p:cNvPr id="2050" name="Group 1">
            <a:extLst>
              <a:ext uri="{FF2B5EF4-FFF2-40B4-BE49-F238E27FC236}">
                <a16:creationId xmlns:a16="http://schemas.microsoft.com/office/drawing/2014/main" id="{247157AE-0B66-F11B-BD37-7D2A304E2E32}"/>
              </a:ext>
            </a:extLst>
          </p:cNvPr>
          <p:cNvGrpSpPr>
            <a:grpSpLocks/>
          </p:cNvGrpSpPr>
          <p:nvPr/>
        </p:nvGrpSpPr>
        <p:grpSpPr bwMode="auto">
          <a:xfrm>
            <a:off x="0" y="6402388"/>
            <a:ext cx="9150350" cy="463550"/>
            <a:chOff x="0" y="0"/>
            <a:chExt cx="9151698" cy="464252"/>
          </a:xfrm>
        </p:grpSpPr>
        <p:sp>
          <p:nvSpPr>
            <p:cNvPr id="2" name="Rectangle 2">
              <a:extLst>
                <a:ext uri="{FF2B5EF4-FFF2-40B4-BE49-F238E27FC236}">
                  <a16:creationId xmlns:a16="http://schemas.microsoft.com/office/drawing/2014/main" id="{BF2EC0A8-9E77-8D10-7AB9-380BB9EA9FEC}"/>
                </a:ext>
              </a:extLst>
            </p:cNvPr>
            <p:cNvSpPr>
              <a:spLocks/>
            </p:cNvSpPr>
            <p:nvPr/>
          </p:nvSpPr>
          <p:spPr bwMode="auto">
            <a:xfrm>
              <a:off x="0" y="0"/>
              <a:ext cx="9151698" cy="464252"/>
            </a:xfrm>
            <a:prstGeom prst="rect">
              <a:avLst/>
            </a:prstGeom>
            <a:solidFill>
              <a:srgbClr val="0098CD"/>
            </a:solidFill>
            <a:ln w="12700" cap="flat" cmpd="sng">
              <a:noFill/>
              <a:prstDash val="solid"/>
              <a:miter lim="0"/>
              <a:headEnd type="none" w="med" len="med"/>
              <a:tailEnd type="none" w="med" len="med"/>
            </a:ln>
            <a:effectLst/>
          </p:spPr>
          <p:txBody>
            <a:bodyPr lIns="0" tIns="0" rIns="0" bIns="0" anchor="ct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ctr" eaLnBrk="1">
                <a:defRPr/>
              </a:pPr>
              <a:endParaRPr lang="es-ES" altLang="es-ES">
                <a:solidFill>
                  <a:srgbClr val="FFFFFF"/>
                </a:solidFill>
              </a:endParaRPr>
            </a:p>
          </p:txBody>
        </p:sp>
        <p:sp>
          <p:nvSpPr>
            <p:cNvPr id="3" name="Line 3">
              <a:extLst>
                <a:ext uri="{FF2B5EF4-FFF2-40B4-BE49-F238E27FC236}">
                  <a16:creationId xmlns:a16="http://schemas.microsoft.com/office/drawing/2014/main" id="{75650778-FC80-1134-391A-618214F1E53C}"/>
                </a:ext>
              </a:extLst>
            </p:cNvPr>
            <p:cNvSpPr>
              <a:spLocks noChangeShapeType="1"/>
            </p:cNvSpPr>
            <p:nvPr/>
          </p:nvSpPr>
          <p:spPr bwMode="auto">
            <a:xfrm flipV="1">
              <a:off x="8453095" y="174889"/>
              <a:ext cx="1588" cy="136732"/>
            </a:xfrm>
            <a:prstGeom prst="line">
              <a:avLst/>
            </a:prstGeom>
            <a:noFill/>
            <a:ln w="9525">
              <a:solidFill>
                <a:srgbClr val="FFFFFF"/>
              </a:solidFill>
              <a:round/>
              <a:headEnd/>
              <a:tailEnd/>
            </a:ln>
            <a:extLst>
              <a:ext uri="{909E8E84-426E-40DD-AFC4-6F175D3DCCD1}">
                <a14:hiddenFill xmlns:a14="http://schemas.microsoft.com/office/drawing/2010/main">
                  <a:noFill/>
                </a14:hiddenFill>
              </a:ext>
            </a:extLst>
          </p:spPr>
          <p:txBody>
            <a:bodyPr lIns="0" tIns="0" rIns="0" bIns="0"/>
            <a:lstStyle/>
            <a:p>
              <a:endParaRPr lang="en-US"/>
            </a:p>
          </p:txBody>
        </p:sp>
      </p:grpSp>
      <p:sp>
        <p:nvSpPr>
          <p:cNvPr id="2054" name="Rectangle 6">
            <a:extLst>
              <a:ext uri="{FF2B5EF4-FFF2-40B4-BE49-F238E27FC236}">
                <a16:creationId xmlns:a16="http://schemas.microsoft.com/office/drawing/2014/main" id="{DC12314C-BED9-1005-C0E6-EC2FD1177F9B}"/>
              </a:ext>
            </a:extLst>
          </p:cNvPr>
          <p:cNvSpPr>
            <a:spLocks noGrp="1"/>
          </p:cNvSpPr>
          <p:nvPr>
            <p:ph type="sldNum" sz="quarter" idx="2"/>
          </p:nvPr>
        </p:nvSpPr>
        <p:spPr bwMode="auto">
          <a:xfrm>
            <a:off x="8485188" y="6559550"/>
            <a:ext cx="273050" cy="173038"/>
          </a:xfrm>
          <a:prstGeom prst="rect">
            <a:avLst/>
          </a:prstGeom>
          <a:noFill/>
          <a:ln w="12700" cap="flat" cmpd="sng">
            <a:noFill/>
            <a:prstDash val="solid"/>
            <a:miter lim="0"/>
            <a:headEnd type="none" w="med" len="med"/>
            <a:tailEnd type="none" w="med" len="med"/>
          </a:ln>
          <a:effectLst/>
        </p:spPr>
        <p:txBody>
          <a:bodyPr vert="horz" wrap="square" lIns="0" tIns="0" rIns="0" bIns="0" numCol="1" anchor="t" anchorCtr="0" compatLnSpc="1">
            <a:prstTxWarp prst="textNoShape">
              <a:avLst/>
            </a:prstTxWarp>
          </a:bodyPr>
          <a:lstStyle>
            <a:lvl1pPr algn="r" eaLnBrk="1">
              <a:defRPr sz="1200" smtClean="0">
                <a:solidFill>
                  <a:srgbClr val="FFFFFF"/>
                </a:solidFill>
              </a:defRPr>
            </a:lvl1pPr>
          </a:lstStyle>
          <a:p>
            <a:pPr>
              <a:defRPr/>
            </a:pPr>
            <a:fld id="{3442075F-3417-4FC6-BF5C-9CF38CC98857}" type="slidenum">
              <a:rPr lang="es-ES_tradnl" altLang="es-ES"/>
              <a:pPr>
                <a:defRPr/>
              </a:pPr>
              <a:t>‹#›</a:t>
            </a:fld>
            <a:endParaRPr lang="es-ES_tradnl" altLang="es-ES"/>
          </a:p>
        </p:txBody>
      </p:sp>
      <p:pic>
        <p:nvPicPr>
          <p:cNvPr id="2052" name="Picture 3">
            <a:extLst>
              <a:ext uri="{FF2B5EF4-FFF2-40B4-BE49-F238E27FC236}">
                <a16:creationId xmlns:a16="http://schemas.microsoft.com/office/drawing/2014/main" id="{26000AC0-6AB3-DD55-8427-E2414EC45AE0}"/>
              </a:ext>
            </a:extLst>
          </p:cNvPr>
          <p:cNvPicPr>
            <a:picLocks noChangeAspect="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179388" y="6402388"/>
            <a:ext cx="16732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457200" rtl="0" eaLnBrk="0" fontAlgn="base" hangingPunct="0">
        <a:spcBef>
          <a:spcPct val="0"/>
        </a:spcBef>
        <a:spcAft>
          <a:spcPct val="0"/>
        </a:spcAft>
        <a:defRPr sz="4000">
          <a:solidFill>
            <a:srgbClr val="FFFFFF"/>
          </a:solidFill>
          <a:latin typeface="+mj-lt"/>
          <a:ea typeface="+mj-ea"/>
          <a:cs typeface="+mj-cs"/>
          <a:sym typeface="Arial Narrow" panose="020B0606020202030204" pitchFamily="34" charset="0"/>
        </a:defRPr>
      </a:lvl1pPr>
      <a:lvl2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2pPr>
      <a:lvl3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3pPr>
      <a:lvl4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4pPr>
      <a:lvl5pPr algn="l" defTabSz="457200" rtl="0" eaLnBrk="0" fontAlgn="base" hangingPunct="0">
        <a:spcBef>
          <a:spcPct val="0"/>
        </a:spcBef>
        <a:spcAft>
          <a:spcPct val="0"/>
        </a:spcAft>
        <a:defRPr sz="4000">
          <a:solidFill>
            <a:srgbClr val="FFFFFF"/>
          </a:solidFill>
          <a:latin typeface="Arial Narrow" charset="0"/>
          <a:ea typeface="Arial Narrow" charset="0"/>
          <a:cs typeface="Arial Narrow" charset="0"/>
          <a:sym typeface="Arial Narrow" panose="020B0606020202030204" pitchFamily="34" charset="0"/>
        </a:defRPr>
      </a:lvl5pPr>
      <a:lvl6pPr marL="4572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6pPr>
      <a:lvl7pPr marL="9144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7pPr>
      <a:lvl8pPr marL="13716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8pPr>
      <a:lvl9pPr marL="1828800" algn="l" defTabSz="457200" rtl="0" fontAlgn="base" hangingPunct="0">
        <a:spcBef>
          <a:spcPct val="0"/>
        </a:spcBef>
        <a:spcAft>
          <a:spcPct val="0"/>
        </a:spcAft>
        <a:defRPr sz="4000">
          <a:solidFill>
            <a:srgbClr val="FFFFFF"/>
          </a:solidFill>
          <a:latin typeface="Arial Narrow" charset="0"/>
          <a:ea typeface="Arial Narrow" charset="0"/>
          <a:cs typeface="Arial Narrow" charset="0"/>
          <a:sym typeface="Arial Narrow" charset="0"/>
        </a:defRPr>
      </a:lvl9pPr>
    </p:titleStyle>
    <p:bodyStyle>
      <a:lvl1pPr marL="342900" indent="-3429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1pPr>
      <a:lvl2pPr marL="742950" indent="-28575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2pPr>
      <a:lvl3pPr marL="1143000" indent="-2286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3pPr>
      <a:lvl4pPr marL="1600200" indent="-2286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4pPr>
      <a:lvl5pPr marL="2057400" indent="-228600" algn="l" defTabSz="457200" rtl="0" eaLnBrk="0" fontAlgn="base" hangingPunct="0">
        <a:spcBef>
          <a:spcPts val="400"/>
        </a:spcBef>
        <a:spcAft>
          <a:spcPct val="0"/>
        </a:spcAft>
        <a:buSzPct val="100000"/>
        <a:buFont typeface="Arial" panose="020B0604020202020204" pitchFamily="34" charset="0"/>
        <a:buChar char="»"/>
        <a:defRPr sz="2000">
          <a:solidFill>
            <a:srgbClr val="666666"/>
          </a:solidFill>
          <a:latin typeface="+mn-lt"/>
          <a:ea typeface="+mn-ea"/>
          <a:cs typeface="+mn-cs"/>
          <a:sym typeface="Arial" panose="020B0604020202020204" pitchFamily="34" charset="0"/>
        </a:defRPr>
      </a:lvl5pPr>
      <a:lvl6pPr marL="25146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6pPr>
      <a:lvl7pPr marL="29718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7pPr>
      <a:lvl8pPr marL="34290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8pPr>
      <a:lvl9pPr marL="3886200" indent="-228600" algn="l" defTabSz="457200" rtl="0" fontAlgn="base" hangingPunct="0">
        <a:spcBef>
          <a:spcPts val="400"/>
        </a:spcBef>
        <a:spcAft>
          <a:spcPct val="0"/>
        </a:spcAft>
        <a:buSzPct val="100000"/>
        <a:buFont typeface="Arial" charset="0"/>
        <a:buChar char="»"/>
        <a:defRPr sz="2000">
          <a:solidFill>
            <a:srgbClr val="666666"/>
          </a:solidFill>
          <a:latin typeface="+mn-lt"/>
          <a:ea typeface="+mn-ea"/>
          <a:cs typeface="+mn-cs"/>
          <a:sym typeface="Arial" charset="0"/>
        </a:defRPr>
      </a:lvl9pPr>
    </p:bodyStyle>
    <p:otherStyle>
      <a:defPPr>
        <a:defRPr lang="es-ES_tradnl"/>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image" Target="../media/image6.png"/><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122" name="Rectangle 1">
            <a:extLst>
              <a:ext uri="{FF2B5EF4-FFF2-40B4-BE49-F238E27FC236}">
                <a16:creationId xmlns:a16="http://schemas.microsoft.com/office/drawing/2014/main" id="{366C0D6B-F09F-1A2B-C6F0-20B382F931C3}"/>
              </a:ext>
            </a:extLst>
          </p:cNvPr>
          <p:cNvSpPr>
            <a:spLocks/>
          </p:cNvSpPr>
          <p:nvPr/>
        </p:nvSpPr>
        <p:spPr bwMode="auto">
          <a:xfrm>
            <a:off x="0" y="5611813"/>
            <a:ext cx="9144000" cy="133350"/>
          </a:xfrm>
          <a:prstGeom prst="rect">
            <a:avLst/>
          </a:prstGeom>
          <a:solidFill>
            <a:srgbClr val="0098CD"/>
          </a:solidFill>
          <a:ln>
            <a:noFill/>
          </a:ln>
          <a:extLst>
            <a:ext uri="{91240B29-F687-4F45-9708-019B960494DF}">
              <a14:hiddenLine xmlns:a14="http://schemas.microsoft.com/office/drawing/2010/main" w="12700">
                <a:solidFill>
                  <a:srgbClr val="000000"/>
                </a:solidFill>
                <a:miter lim="0"/>
                <a:headEnd/>
                <a:tailEnd/>
              </a14:hiddenLine>
            </a:ext>
          </a:extLst>
        </p:spPr>
        <p:txBody>
          <a:bodyPr lIns="0" tIns="0" rIns="0" bIns="0" anchor="ct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ctr" eaLnBrk="1"/>
            <a:endParaRPr lang="es-ES" altLang="es-ES">
              <a:solidFill>
                <a:srgbClr val="0098CD"/>
              </a:solidFill>
            </a:endParaRPr>
          </a:p>
        </p:txBody>
      </p:sp>
      <p:sp>
        <p:nvSpPr>
          <p:cNvPr id="5123" name="Rectangle 6">
            <a:extLst>
              <a:ext uri="{FF2B5EF4-FFF2-40B4-BE49-F238E27FC236}">
                <a16:creationId xmlns:a16="http://schemas.microsoft.com/office/drawing/2014/main" id="{BAC376B0-EA17-E59A-640A-2349995C3E1E}"/>
              </a:ext>
            </a:extLst>
          </p:cNvPr>
          <p:cNvSpPr>
            <a:spLocks noGrp="1"/>
          </p:cNvSpPr>
          <p:nvPr>
            <p:ph type="title" idx="4294967295"/>
          </p:nvPr>
        </p:nvSpPr>
        <p:spPr>
          <a:xfrm>
            <a:off x="533400" y="228600"/>
            <a:ext cx="8988425" cy="495300"/>
          </a:xfrm>
        </p:spPr>
        <p:txBody>
          <a:bodyPr anchor="t"/>
          <a:lstStyle/>
          <a:p>
            <a:pPr eaLnBrk="1">
              <a:lnSpc>
                <a:spcPct val="70000"/>
              </a:lnSpc>
            </a:pPr>
            <a:r>
              <a:rPr lang="es-ES" altLang="es-ES" sz="2400" dirty="0">
                <a:solidFill>
                  <a:srgbClr val="0098CD"/>
                </a:solidFill>
                <a:latin typeface="Arial" panose="020B0604020202020204" pitchFamily="34" charset="0"/>
              </a:rPr>
              <a:t>Sistema para Optimización Económica de Dietas Bovinas en Entornos de Datos Escaso (Caporal AI)</a:t>
            </a:r>
            <a:br>
              <a:rPr lang="es-ES" altLang="es-ES" sz="2400" dirty="0">
                <a:solidFill>
                  <a:srgbClr val="0098CD"/>
                </a:solidFill>
                <a:latin typeface="Arial" panose="020B0604020202020204" pitchFamily="34" charset="0"/>
              </a:rPr>
            </a:br>
            <a:br>
              <a:rPr lang="es-ES" altLang="es-ES" sz="2400" dirty="0">
                <a:solidFill>
                  <a:srgbClr val="0098CD"/>
                </a:solidFill>
                <a:latin typeface="Arial" panose="020B0604020202020204" pitchFamily="34" charset="0"/>
              </a:rPr>
            </a:br>
            <a:br>
              <a:rPr lang="es-ES" altLang="es-ES" sz="2400" dirty="0">
                <a:solidFill>
                  <a:srgbClr val="0098CD"/>
                </a:solidFill>
                <a:latin typeface="Arial" panose="020B0604020202020204" pitchFamily="34" charset="0"/>
              </a:rPr>
            </a:br>
            <a:br>
              <a:rPr lang="es-ES" altLang="es-ES" sz="2400" dirty="0">
                <a:solidFill>
                  <a:srgbClr val="0098CD"/>
                </a:solidFill>
                <a:latin typeface="Arial" panose="020B0604020202020204" pitchFamily="34" charset="0"/>
              </a:rPr>
            </a:br>
            <a:br>
              <a:rPr lang="es-ES" altLang="es-ES" sz="2400" dirty="0">
                <a:solidFill>
                  <a:srgbClr val="0098CD"/>
                </a:solidFill>
                <a:latin typeface="Arial" panose="020B0604020202020204" pitchFamily="34" charset="0"/>
              </a:rPr>
            </a:br>
            <a:r>
              <a:rPr lang="es-ES" altLang="es-ES" sz="2400" dirty="0">
                <a:solidFill>
                  <a:srgbClr val="0098CD"/>
                </a:solidFill>
                <a:latin typeface="Arial" panose="020B0604020202020204" pitchFamily="34" charset="0"/>
              </a:rPr>
              <a:t>Trabajo de Innovación en IA</a:t>
            </a:r>
            <a:endParaRPr lang="es-ES_tradnl" altLang="es-ES" sz="1800" dirty="0">
              <a:solidFill>
                <a:srgbClr val="0098CD"/>
              </a:solidFill>
              <a:latin typeface="Arial" panose="020B0604020202020204" pitchFamily="34" charset="0"/>
            </a:endParaRPr>
          </a:p>
        </p:txBody>
      </p:sp>
      <p:sp>
        <p:nvSpPr>
          <p:cNvPr id="5124" name="Rectangle 7">
            <a:extLst>
              <a:ext uri="{FF2B5EF4-FFF2-40B4-BE49-F238E27FC236}">
                <a16:creationId xmlns:a16="http://schemas.microsoft.com/office/drawing/2014/main" id="{84A374D2-79C0-2E52-5A8C-124E7C92FE06}"/>
              </a:ext>
            </a:extLst>
          </p:cNvPr>
          <p:cNvSpPr>
            <a:spLocks/>
          </p:cNvSpPr>
          <p:nvPr/>
        </p:nvSpPr>
        <p:spPr bwMode="auto">
          <a:xfrm>
            <a:off x="-381000" y="4610100"/>
            <a:ext cx="8986838" cy="495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lstStyle>
            <a:lvl1pPr defTabSz="350838">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defTabSz="350838">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defTabSz="350838">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defTabSz="350838">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defTabSz="350838">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350838"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350838"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350838"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350838"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lnSpc>
                <a:spcPct val="70000"/>
              </a:lnSpc>
            </a:pPr>
            <a:r>
              <a:rPr lang="es-ES_tradnl" altLang="es-ES" sz="3000" dirty="0">
                <a:solidFill>
                  <a:srgbClr val="000000"/>
                </a:solidFill>
                <a:sym typeface="Arial Narrow" panose="020B0606020202030204" pitchFamily="34" charset="0"/>
              </a:rPr>
              <a:t>Caporal AI</a:t>
            </a:r>
          </a:p>
        </p:txBody>
      </p:sp>
      <p:sp>
        <p:nvSpPr>
          <p:cNvPr id="5125" name="Rectangle 8">
            <a:extLst>
              <a:ext uri="{FF2B5EF4-FFF2-40B4-BE49-F238E27FC236}">
                <a16:creationId xmlns:a16="http://schemas.microsoft.com/office/drawing/2014/main" id="{7117B49C-83B5-56BE-AAB6-E9C7815770E2}"/>
              </a:ext>
            </a:extLst>
          </p:cNvPr>
          <p:cNvSpPr>
            <a:spLocks/>
          </p:cNvSpPr>
          <p:nvPr/>
        </p:nvSpPr>
        <p:spPr bwMode="auto">
          <a:xfrm>
            <a:off x="554038" y="611188"/>
            <a:ext cx="5289550" cy="655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r>
              <a:rPr lang="es-ES_tradnl" altLang="es-ES" dirty="0">
                <a:solidFill>
                  <a:srgbClr val="0098CD"/>
                </a:solidFill>
                <a:sym typeface="Arial Narrow" panose="020B0606020202030204" pitchFamily="34" charset="0"/>
              </a:rPr>
              <a:t>Juan Carlos Ávila Reséndiz</a:t>
            </a: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r>
              <a:rPr lang="es-ES_tradnl" altLang="es-ES" dirty="0">
                <a:solidFill>
                  <a:srgbClr val="0098CD"/>
                </a:solidFill>
                <a:sym typeface="Arial Narrow" panose="020B0606020202030204" pitchFamily="34" charset="0"/>
              </a:rPr>
              <a:t>Axel Jonathan Trujillo Olvera</a:t>
            </a:r>
          </a:p>
          <a:p>
            <a:pPr eaLnBrk="1">
              <a:lnSpc>
                <a:spcPct val="70000"/>
              </a:lnSpc>
            </a:pPr>
            <a:endParaRPr lang="es-ES_tradnl" altLang="es-ES" dirty="0">
              <a:solidFill>
                <a:srgbClr val="0098CD"/>
              </a:solidFill>
              <a:sym typeface="Arial Narrow" panose="020B0606020202030204" pitchFamily="34" charset="0"/>
            </a:endParaRPr>
          </a:p>
          <a:p>
            <a:pPr eaLnBrk="1">
              <a:lnSpc>
                <a:spcPct val="70000"/>
              </a:lnSpc>
            </a:pPr>
            <a:r>
              <a:rPr lang="es-ES_tradnl" altLang="es-ES" dirty="0">
                <a:solidFill>
                  <a:srgbClr val="0098CD"/>
                </a:solidFill>
                <a:sym typeface="Arial Narrow" panose="020B0606020202030204" pitchFamily="34" charset="0"/>
              </a:rPr>
              <a:t>Leopoldo Edgardo Lara Hernández</a:t>
            </a:r>
          </a:p>
        </p:txBody>
      </p:sp>
      <p:pic>
        <p:nvPicPr>
          <p:cNvPr id="5126" name="Picture 1">
            <a:extLst>
              <a:ext uri="{FF2B5EF4-FFF2-40B4-BE49-F238E27FC236}">
                <a16:creationId xmlns:a16="http://schemas.microsoft.com/office/drawing/2014/main" id="{7FB584AD-D2A3-849D-C8B9-A34795A8DC1D}"/>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23850" y="5949950"/>
            <a:ext cx="2497138" cy="67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7" name="Rectangle 2">
            <a:extLst>
              <a:ext uri="{FF2B5EF4-FFF2-40B4-BE49-F238E27FC236}">
                <a16:creationId xmlns:a16="http://schemas.microsoft.com/office/drawing/2014/main" id="{96F2F192-EB02-3366-3125-2CB42F2DBB5E}"/>
              </a:ext>
            </a:extLst>
          </p:cNvPr>
          <p:cNvSpPr>
            <a:spLocks noChangeArrowheads="1"/>
          </p:cNvSpPr>
          <p:nvPr/>
        </p:nvSpPr>
        <p:spPr bwMode="auto">
          <a:xfrm>
            <a:off x="5364163" y="6154738"/>
            <a:ext cx="3168650"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a:r>
              <a:rPr lang="en-US" altLang="es-ES" sz="1300">
                <a:solidFill>
                  <a:srgbClr val="0098CD"/>
                </a:solidFill>
                <a:latin typeface="Unit"/>
              </a:rPr>
              <a:t>Universidad Internacional de La Rioja</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
            <a:extLst>
              <a:ext uri="{FF2B5EF4-FFF2-40B4-BE49-F238E27FC236}">
                <a16:creationId xmlns:a16="http://schemas.microsoft.com/office/drawing/2014/main" id="{D842DF98-6135-1F83-FAD9-1F7EF32D5534}"/>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7A379EF5-15A7-4F6F-9825-4A9C31A036E5}" type="slidenum">
              <a:rPr lang="es-ES_tradnl" altLang="es-ES" sz="1200">
                <a:solidFill>
                  <a:srgbClr val="FFFFFF"/>
                </a:solidFill>
              </a:rPr>
              <a:pPr algn="r" eaLnBrk="1"/>
              <a:t>2</a:t>
            </a:fld>
            <a:endParaRPr lang="es-ES_tradnl" altLang="es-ES">
              <a:solidFill>
                <a:srgbClr val="000000"/>
              </a:solidFill>
            </a:endParaRPr>
          </a:p>
        </p:txBody>
      </p:sp>
      <p:sp>
        <p:nvSpPr>
          <p:cNvPr id="6147" name="Rectangle 2">
            <a:extLst>
              <a:ext uri="{FF2B5EF4-FFF2-40B4-BE49-F238E27FC236}">
                <a16:creationId xmlns:a16="http://schemas.microsoft.com/office/drawing/2014/main" id="{E1C48B04-89CA-3A1B-F073-850D40D5327A}"/>
              </a:ext>
            </a:extLst>
          </p:cNvPr>
          <p:cNvSpPr>
            <a:spLocks/>
          </p:cNvSpPr>
          <p:nvPr/>
        </p:nvSpPr>
        <p:spPr bwMode="auto">
          <a:xfrm>
            <a:off x="419100" y="255588"/>
            <a:ext cx="5614988"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800">
                <a:solidFill>
                  <a:srgbClr val="0098CD"/>
                </a:solidFill>
                <a:latin typeface="Arial " charset="0"/>
                <a:sym typeface="Arial Narrow" panose="020B0606020202030204" pitchFamily="34" charset="0"/>
              </a:rPr>
              <a:t>Índice</a:t>
            </a:r>
            <a:endParaRPr lang="es-ES_tradnl" altLang="es-ES">
              <a:solidFill>
                <a:srgbClr val="000000"/>
              </a:solidFill>
              <a:latin typeface="Arial " charset="0"/>
              <a:sym typeface="Arial Narrow" panose="020B0606020202030204" pitchFamily="34" charset="0"/>
            </a:endParaRPr>
          </a:p>
        </p:txBody>
      </p:sp>
      <p:sp>
        <p:nvSpPr>
          <p:cNvPr id="6148" name="Rectangle 3">
            <a:extLst>
              <a:ext uri="{FF2B5EF4-FFF2-40B4-BE49-F238E27FC236}">
                <a16:creationId xmlns:a16="http://schemas.microsoft.com/office/drawing/2014/main" id="{156C6D0B-2929-F05F-7E34-166A8681F09B}"/>
              </a:ext>
            </a:extLst>
          </p:cNvPr>
          <p:cNvSpPr>
            <a:spLocks/>
          </p:cNvSpPr>
          <p:nvPr/>
        </p:nvSpPr>
        <p:spPr bwMode="auto">
          <a:xfrm>
            <a:off x="512763" y="1358900"/>
            <a:ext cx="7997825" cy="2805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marL="373063" indent="-373063">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lnSpc>
                <a:spcPct val="150000"/>
              </a:lnSpc>
              <a:buClr>
                <a:srgbClr val="0098CD"/>
              </a:buClr>
              <a:buSzPct val="50000"/>
              <a:buFont typeface="Arial Narrow" panose="020B0606020202030204" pitchFamily="34" charset="0"/>
              <a:buChar char="►"/>
            </a:pPr>
            <a:r>
              <a:rPr lang="es-ES_tradnl" altLang="es-ES" sz="2000">
                <a:solidFill>
                  <a:srgbClr val="0098CD"/>
                </a:solidFill>
                <a:latin typeface="Arial " charset="0"/>
                <a:sym typeface="Arial Narrow" panose="020B0606020202030204" pitchFamily="34" charset="0"/>
              </a:rPr>
              <a:t>Introducción</a:t>
            </a:r>
          </a:p>
          <a:p>
            <a:pPr eaLnBrk="1">
              <a:lnSpc>
                <a:spcPct val="150000"/>
              </a:lnSpc>
              <a:buClr>
                <a:srgbClr val="0098CD"/>
              </a:buClr>
              <a:buSzPct val="50000"/>
              <a:buFont typeface="Arial Narrow" panose="020B0606020202030204" pitchFamily="34" charset="0"/>
              <a:buChar char="►"/>
            </a:pPr>
            <a:r>
              <a:rPr lang="es-ES_tradnl" altLang="es-ES" sz="2000">
                <a:solidFill>
                  <a:srgbClr val="0098CD"/>
                </a:solidFill>
                <a:latin typeface="Arial " charset="0"/>
                <a:sym typeface="Arial Narrow" panose="020B0606020202030204" pitchFamily="34" charset="0"/>
              </a:rPr>
              <a:t>Objetivos</a:t>
            </a:r>
          </a:p>
          <a:p>
            <a:pPr eaLnBrk="1">
              <a:lnSpc>
                <a:spcPct val="150000"/>
              </a:lnSpc>
              <a:buClr>
                <a:srgbClr val="0098CD"/>
              </a:buClr>
              <a:buSzPct val="50000"/>
              <a:buFont typeface="Arial Narrow" panose="020B0606020202030204" pitchFamily="34" charset="0"/>
              <a:buChar char="►"/>
            </a:pPr>
            <a:r>
              <a:rPr lang="es-ES_tradnl" altLang="es-ES" sz="2000">
                <a:solidFill>
                  <a:srgbClr val="0098CD"/>
                </a:solidFill>
                <a:latin typeface="Arial " charset="0"/>
                <a:sym typeface="Arial Narrow" panose="020B0606020202030204" pitchFamily="34" charset="0"/>
              </a:rPr>
              <a:t>Desarrollo de la Propuesta</a:t>
            </a:r>
          </a:p>
          <a:p>
            <a:pPr eaLnBrk="1">
              <a:lnSpc>
                <a:spcPct val="150000"/>
              </a:lnSpc>
              <a:buClr>
                <a:srgbClr val="0098CD"/>
              </a:buClr>
              <a:buSzPct val="50000"/>
              <a:buFont typeface="Arial Narrow" panose="020B0606020202030204" pitchFamily="34" charset="0"/>
              <a:buChar char="►"/>
            </a:pPr>
            <a:r>
              <a:rPr lang="es-ES_tradnl" altLang="es-ES" sz="2000">
                <a:solidFill>
                  <a:srgbClr val="0098CD"/>
                </a:solidFill>
                <a:latin typeface="Arial " charset="0"/>
                <a:sym typeface="Arial Narrow" panose="020B0606020202030204" pitchFamily="34" charset="0"/>
              </a:rPr>
              <a:t>Evaluación </a:t>
            </a:r>
          </a:p>
          <a:p>
            <a:pPr eaLnBrk="1">
              <a:lnSpc>
                <a:spcPct val="150000"/>
              </a:lnSpc>
              <a:buClr>
                <a:srgbClr val="0098CD"/>
              </a:buClr>
              <a:buSzPct val="50000"/>
              <a:buFont typeface="Arial Narrow" panose="020B0606020202030204" pitchFamily="34" charset="0"/>
              <a:buChar char="►"/>
            </a:pPr>
            <a:r>
              <a:rPr lang="es-ES_tradnl" altLang="es-ES" sz="2000">
                <a:solidFill>
                  <a:srgbClr val="0098CD"/>
                </a:solidFill>
                <a:latin typeface="Arial " charset="0"/>
                <a:sym typeface="Arial Narrow" panose="020B0606020202030204" pitchFamily="34" charset="0"/>
              </a:rPr>
              <a:t>Conclusiones</a:t>
            </a:r>
          </a:p>
          <a:p>
            <a:pPr eaLnBrk="1">
              <a:lnSpc>
                <a:spcPct val="150000"/>
              </a:lnSpc>
              <a:buClr>
                <a:srgbClr val="0098CD"/>
              </a:buClr>
              <a:buSzPct val="50000"/>
              <a:buFont typeface="Arial Narrow" panose="020B0606020202030204" pitchFamily="34" charset="0"/>
              <a:buChar char="►"/>
            </a:pPr>
            <a:endParaRPr lang="es-ES_tradnl" altLang="es-ES" sz="2000">
              <a:solidFill>
                <a:srgbClr val="0098CD"/>
              </a:solidFill>
              <a:latin typeface="Arial " charset="0"/>
              <a:sym typeface="Arial Narrow" panose="020B0606020202030204" pitchFamily="34" charset="0"/>
            </a:endParaRPr>
          </a:p>
        </p:txBody>
      </p:sp>
      <p:sp>
        <p:nvSpPr>
          <p:cNvPr id="6149" name="Marcador de número de diapositiva 1">
            <a:extLst>
              <a:ext uri="{FF2B5EF4-FFF2-40B4-BE49-F238E27FC236}">
                <a16:creationId xmlns:a16="http://schemas.microsoft.com/office/drawing/2014/main" id="{2209AB4E-791B-2815-4E31-5EF859630D71}"/>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A9332509-EC46-440F-8F41-D88258C67108}" type="slidenum">
              <a:rPr lang="es-ES_tradnl" altLang="es-ES">
                <a:solidFill>
                  <a:srgbClr val="FFFFFF"/>
                </a:solidFill>
              </a:rPr>
              <a:pPr/>
              <a:t>2</a:t>
            </a:fld>
            <a:endParaRPr lang="es-ES_tradnl" altLang="es-ES">
              <a:solidFill>
                <a:srgbClr val="FFFFFF"/>
              </a:solidFill>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1">
            <a:extLst>
              <a:ext uri="{FF2B5EF4-FFF2-40B4-BE49-F238E27FC236}">
                <a16:creationId xmlns:a16="http://schemas.microsoft.com/office/drawing/2014/main" id="{8783B260-C581-3FB2-CEC7-6918EBD32755}"/>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B33C9D29-9B7C-4A28-A075-684355D77B2A}" type="slidenum">
              <a:rPr lang="es-ES_tradnl" altLang="es-ES" sz="1200" smtClean="0">
                <a:solidFill>
                  <a:srgbClr val="FFFFFF"/>
                </a:solidFill>
              </a:rPr>
              <a:pPr algn="r" eaLnBrk="1"/>
              <a:t>3</a:t>
            </a:fld>
            <a:endParaRPr lang="es-ES_tradnl" altLang="es-ES">
              <a:solidFill>
                <a:srgbClr val="000000"/>
              </a:solidFill>
            </a:endParaRPr>
          </a:p>
        </p:txBody>
      </p:sp>
      <p:sp>
        <p:nvSpPr>
          <p:cNvPr id="7171" name="Rectangle 2">
            <a:extLst>
              <a:ext uri="{FF2B5EF4-FFF2-40B4-BE49-F238E27FC236}">
                <a16:creationId xmlns:a16="http://schemas.microsoft.com/office/drawing/2014/main" id="{6E833A89-B77F-6ADF-DD2F-C7AC1AF23C41}"/>
              </a:ext>
            </a:extLst>
          </p:cNvPr>
          <p:cNvSpPr>
            <a:spLocks/>
          </p:cNvSpPr>
          <p:nvPr/>
        </p:nvSpPr>
        <p:spPr bwMode="auto">
          <a:xfrm>
            <a:off x="446088" y="303213"/>
            <a:ext cx="561498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800" dirty="0">
                <a:solidFill>
                  <a:srgbClr val="0098CD"/>
                </a:solidFill>
                <a:latin typeface="Arial " charset="0"/>
                <a:sym typeface="Arial Narrow" panose="020B0606020202030204" pitchFamily="34" charset="0"/>
              </a:rPr>
              <a:t>Introducción</a:t>
            </a:r>
            <a:endParaRPr lang="es-ES_tradnl" altLang="es-ES" dirty="0">
              <a:solidFill>
                <a:srgbClr val="000000"/>
              </a:solidFill>
              <a:sym typeface="Arial Narrow" panose="020B0606020202030204" pitchFamily="34" charset="0"/>
            </a:endParaRPr>
          </a:p>
        </p:txBody>
      </p:sp>
      <p:sp>
        <p:nvSpPr>
          <p:cNvPr id="7172" name="Rectangle 3">
            <a:extLst>
              <a:ext uri="{FF2B5EF4-FFF2-40B4-BE49-F238E27FC236}">
                <a16:creationId xmlns:a16="http://schemas.microsoft.com/office/drawing/2014/main" id="{48C598B4-17F0-77F7-6C3A-A63A316B2E7C}"/>
              </a:ext>
            </a:extLst>
          </p:cNvPr>
          <p:cNvSpPr>
            <a:spLocks/>
          </p:cNvSpPr>
          <p:nvPr/>
        </p:nvSpPr>
        <p:spPr bwMode="auto">
          <a:xfrm>
            <a:off x="114400" y="1074509"/>
            <a:ext cx="3960440"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marL="2286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buClr>
                <a:srgbClr val="0098CD"/>
              </a:buClr>
              <a:buSzPct val="50000"/>
              <a:buFont typeface="Arial Narrow" panose="020B0606020202030204" pitchFamily="34" charset="0"/>
              <a:buChar char="►"/>
            </a:pPr>
            <a:r>
              <a:rPr lang="es-ES" altLang="es-ES" sz="2000" dirty="0">
                <a:sym typeface="Arial Narrow" panose="020B0606020202030204" pitchFamily="34" charset="0"/>
              </a:rPr>
              <a:t>El Problema: Volatilidad de precios en granos y acceso nulo a zootecnia de precisión para pequeños/medianos productores (50-500 cabezas).</a:t>
            </a:r>
          </a:p>
          <a:p>
            <a:pPr marL="0" indent="0" eaLnBrk="1">
              <a:buClr>
                <a:srgbClr val="0098CD"/>
              </a:buClr>
              <a:buSzPct val="50000"/>
            </a:pPr>
            <a:endParaRPr lang="es-ES_tradnl" altLang="es-ES" sz="2000" dirty="0">
              <a:solidFill>
                <a:srgbClr val="0098CD"/>
              </a:solidFill>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sz="2000" dirty="0">
                <a:sym typeface="Arial Narrow" panose="020B0606020202030204" pitchFamily="34" charset="0"/>
              </a:rPr>
              <a:t>La Solución: </a:t>
            </a:r>
            <a:r>
              <a:rPr lang="es-ES" altLang="es-ES" sz="2000" b="1" dirty="0">
                <a:sym typeface="Arial Narrow" panose="020B0606020202030204" pitchFamily="34" charset="0"/>
              </a:rPr>
              <a:t>Caporal AI </a:t>
            </a:r>
            <a:r>
              <a:rPr lang="es-ES" altLang="es-ES" sz="2000" dirty="0">
                <a:sym typeface="Arial Narrow" panose="020B0606020202030204" pitchFamily="34" charset="0"/>
              </a:rPr>
              <a:t>(Inteligencia Artificial Híbrida: Optimización + Lenguaje Natural).</a:t>
            </a:r>
          </a:p>
          <a:p>
            <a:pPr marL="0" indent="0" eaLnBrk="1">
              <a:buClr>
                <a:srgbClr val="0098CD"/>
              </a:buClr>
              <a:buSzPct val="50000"/>
            </a:pPr>
            <a:endParaRPr lang="es-ES_tradnl" altLang="es-ES" sz="2000" dirty="0">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sz="2000" dirty="0">
                <a:sym typeface="Arial Narrow" panose="020B0606020202030204" pitchFamily="34" charset="0"/>
              </a:rPr>
              <a:t>Comparativa: Supera el registro pasivo (Ganadero SG) y la inaccesibilidad técnica/financiera (NDS).</a:t>
            </a:r>
            <a:endParaRPr lang="es-ES_tradnl" altLang="es-ES" sz="2000" dirty="0">
              <a:sym typeface="Arial Narrow" panose="020B0606020202030204" pitchFamily="34" charset="0"/>
            </a:endParaRPr>
          </a:p>
        </p:txBody>
      </p:sp>
      <p:sp>
        <p:nvSpPr>
          <p:cNvPr id="7173" name="Marcador de número de diapositiva 1">
            <a:extLst>
              <a:ext uri="{FF2B5EF4-FFF2-40B4-BE49-F238E27FC236}">
                <a16:creationId xmlns:a16="http://schemas.microsoft.com/office/drawing/2014/main" id="{A9F52ADC-FE3C-7E19-3F75-D7391C749115}"/>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DA261441-3D6B-4E99-BD9C-CD35B58EA5A0}" type="slidenum">
              <a:rPr lang="es-ES_tradnl" altLang="es-ES" smtClean="0">
                <a:solidFill>
                  <a:srgbClr val="FFFFFF"/>
                </a:solidFill>
              </a:rPr>
              <a:pPr/>
              <a:t>3</a:t>
            </a:fld>
            <a:endParaRPr lang="es-ES_tradnl" altLang="es-ES">
              <a:solidFill>
                <a:srgbClr val="FFFFFF"/>
              </a:solidFill>
            </a:endParaRPr>
          </a:p>
        </p:txBody>
      </p:sp>
      <p:pic>
        <p:nvPicPr>
          <p:cNvPr id="5" name="Picture 4">
            <a:extLst>
              <a:ext uri="{FF2B5EF4-FFF2-40B4-BE49-F238E27FC236}">
                <a16:creationId xmlns:a16="http://schemas.microsoft.com/office/drawing/2014/main" id="{A1BB5066-0517-43BA-14E1-EC7A74A3D426}"/>
              </a:ext>
            </a:extLst>
          </p:cNvPr>
          <p:cNvPicPr>
            <a:picLocks noChangeAspect="1"/>
          </p:cNvPicPr>
          <p:nvPr/>
        </p:nvPicPr>
        <p:blipFill>
          <a:blip r:embed="rId3"/>
          <a:stretch>
            <a:fillRect/>
          </a:stretch>
        </p:blipFill>
        <p:spPr>
          <a:xfrm>
            <a:off x="4130851" y="1469499"/>
            <a:ext cx="4898749" cy="3918999"/>
          </a:xfrm>
          <a:prstGeom prst="rect">
            <a:avLst/>
          </a:prstGeom>
        </p:spPr>
      </p:pic>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1">
            <a:extLst>
              <a:ext uri="{FF2B5EF4-FFF2-40B4-BE49-F238E27FC236}">
                <a16:creationId xmlns:a16="http://schemas.microsoft.com/office/drawing/2014/main" id="{9D592EB3-BD17-7F75-A47F-CFCA38BB57C6}"/>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764664F6-C129-4022-8AA1-B6904A510EFF}" type="slidenum">
              <a:rPr lang="es-ES_tradnl" altLang="es-ES" sz="1200">
                <a:solidFill>
                  <a:srgbClr val="FFFFFF"/>
                </a:solidFill>
              </a:rPr>
              <a:pPr algn="r" eaLnBrk="1"/>
              <a:t>4</a:t>
            </a:fld>
            <a:endParaRPr lang="es-ES_tradnl" altLang="es-ES">
              <a:solidFill>
                <a:srgbClr val="000000"/>
              </a:solidFill>
            </a:endParaRPr>
          </a:p>
        </p:txBody>
      </p:sp>
      <p:sp>
        <p:nvSpPr>
          <p:cNvPr id="8195" name="Rectangle 2">
            <a:extLst>
              <a:ext uri="{FF2B5EF4-FFF2-40B4-BE49-F238E27FC236}">
                <a16:creationId xmlns:a16="http://schemas.microsoft.com/office/drawing/2014/main" id="{7BDB8CFE-A636-0A1C-AF67-58A7662840B6}"/>
              </a:ext>
            </a:extLst>
          </p:cNvPr>
          <p:cNvSpPr>
            <a:spLocks/>
          </p:cNvSpPr>
          <p:nvPr/>
        </p:nvSpPr>
        <p:spPr bwMode="auto">
          <a:xfrm>
            <a:off x="446088" y="303213"/>
            <a:ext cx="561498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800" dirty="0">
                <a:solidFill>
                  <a:srgbClr val="0098CD"/>
                </a:solidFill>
                <a:latin typeface="Arial " charset="0"/>
                <a:sym typeface="Arial Narrow" panose="020B0606020202030204" pitchFamily="34" charset="0"/>
              </a:rPr>
              <a:t>Objetivos y Metodología</a:t>
            </a:r>
            <a:endParaRPr lang="es-ES_tradnl" altLang="es-ES" dirty="0">
              <a:solidFill>
                <a:srgbClr val="000000"/>
              </a:solidFill>
              <a:sym typeface="Arial Narrow" panose="020B0606020202030204" pitchFamily="34" charset="0"/>
            </a:endParaRPr>
          </a:p>
        </p:txBody>
      </p:sp>
      <p:sp>
        <p:nvSpPr>
          <p:cNvPr id="8196" name="Rectangle 3">
            <a:extLst>
              <a:ext uri="{FF2B5EF4-FFF2-40B4-BE49-F238E27FC236}">
                <a16:creationId xmlns:a16="http://schemas.microsoft.com/office/drawing/2014/main" id="{5900D477-6580-7AEE-ADC7-95DCCC9BF8A0}"/>
              </a:ext>
            </a:extLst>
          </p:cNvPr>
          <p:cNvSpPr>
            <a:spLocks/>
          </p:cNvSpPr>
          <p:nvPr/>
        </p:nvSpPr>
        <p:spPr bwMode="auto">
          <a:xfrm>
            <a:off x="179512" y="1001713"/>
            <a:ext cx="8784976"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marL="2286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Objetivo Principal: Reducir costos operativos entre 5% y 10% manteniendo estándares biológicos NRC.</a:t>
            </a:r>
          </a:p>
          <a:p>
            <a:pPr marL="0" indent="0" eaLnBrk="1">
              <a:buClr>
                <a:srgbClr val="0098CD"/>
              </a:buClr>
              <a:buSzPct val="50000"/>
            </a:pPr>
            <a:endParaRPr lang="es-ES_tradnl" altLang="es-ES" dirty="0">
              <a:solidFill>
                <a:srgbClr val="0098CD"/>
              </a:solidFill>
              <a:sym typeface="Arial Narrow" panose="020B0606020202030204" pitchFamily="34" charset="0"/>
            </a:endParaRPr>
          </a:p>
          <a:p>
            <a:pPr eaLnBrk="1">
              <a:buClr>
                <a:srgbClr val="0098CD"/>
              </a:buClr>
              <a:buSzPct val="50000"/>
              <a:buFont typeface="Arial Narrow" panose="020B0606020202030204" pitchFamily="34" charset="0"/>
              <a:buChar char="►"/>
            </a:pPr>
            <a:r>
              <a:rPr lang="pt-BR" altLang="es-ES" dirty="0">
                <a:sym typeface="Arial Narrow" panose="020B0606020202030204" pitchFamily="34" charset="0"/>
              </a:rPr>
              <a:t>Objetivos Específicos: Motor matemático determinista (Simplex) e Interfaz de IA (RAG) en Arquitectura Hexagonal.</a:t>
            </a:r>
          </a:p>
          <a:p>
            <a:pPr eaLnBrk="1">
              <a:buClr>
                <a:srgbClr val="0098CD"/>
              </a:buClr>
              <a:buSzPct val="50000"/>
              <a:buFont typeface="Arial Narrow" panose="020B0606020202030204" pitchFamily="34" charset="0"/>
              <a:buChar char="►"/>
            </a:pPr>
            <a:endParaRPr lang="pt-BR" altLang="es-ES" dirty="0">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Metodología: Gestión con SCRUM (7 </a:t>
            </a:r>
            <a:r>
              <a:rPr lang="es-ES" altLang="es-ES" dirty="0" err="1">
                <a:sym typeface="Arial Narrow" panose="020B0606020202030204" pitchFamily="34" charset="0"/>
              </a:rPr>
              <a:t>Sprints</a:t>
            </a:r>
            <a:r>
              <a:rPr lang="es-ES" altLang="es-ES" dirty="0">
                <a:sym typeface="Arial Narrow" panose="020B0606020202030204" pitchFamily="34" charset="0"/>
              </a:rPr>
              <a:t>) y métricas LEAN Startup (Construir-Medir-Aprender).</a:t>
            </a:r>
            <a:endParaRPr lang="es-ES_tradnl" altLang="es-ES" dirty="0">
              <a:sym typeface="Arial Narrow" panose="020B0606020202030204" pitchFamily="34" charset="0"/>
            </a:endParaRPr>
          </a:p>
        </p:txBody>
      </p:sp>
      <p:sp>
        <p:nvSpPr>
          <p:cNvPr id="8197" name="Marcador de número de diapositiva 1">
            <a:extLst>
              <a:ext uri="{FF2B5EF4-FFF2-40B4-BE49-F238E27FC236}">
                <a16:creationId xmlns:a16="http://schemas.microsoft.com/office/drawing/2014/main" id="{9C845B5E-AE98-CC28-8628-AF21544B57E0}"/>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7A1708ED-1102-4D17-AF32-80B5C386E2B7}" type="slidenum">
              <a:rPr lang="es-ES_tradnl" altLang="es-ES">
                <a:solidFill>
                  <a:srgbClr val="FFFFFF"/>
                </a:solidFill>
              </a:rPr>
              <a:pPr/>
              <a:t>4</a:t>
            </a:fld>
            <a:endParaRPr lang="es-ES_tradnl" altLang="es-ES">
              <a:solidFill>
                <a:srgbClr val="FFFFFF"/>
              </a:solidFill>
            </a:endParaRPr>
          </a:p>
        </p:txBody>
      </p:sp>
      <p:pic>
        <p:nvPicPr>
          <p:cNvPr id="4" name="Picture 3">
            <a:extLst>
              <a:ext uri="{FF2B5EF4-FFF2-40B4-BE49-F238E27FC236}">
                <a16:creationId xmlns:a16="http://schemas.microsoft.com/office/drawing/2014/main" id="{54BFFAC3-1002-1B9F-703E-97091B67C0D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4342" b="90000" l="10000" r="90000">
                        <a14:foregroundMark x1="32262" y1="6974" x2="68095" y2="7763"/>
                        <a14:foregroundMark x1="33333" y1="4079" x2="46190" y2="7105"/>
                        <a14:foregroundMark x1="46190" y1="7105" x2="65476" y2="6184"/>
                        <a14:foregroundMark x1="63214" y1="4342" x2="57262" y2="5658"/>
                        <a14:foregroundMark x1="40476" y1="51184" x2="49762" y2="51842"/>
                        <a14:foregroundMark x1="49762" y1="51842" x2="52619" y2="58684"/>
                        <a14:foregroundMark x1="55238" y1="57763" x2="38452" y2="56711"/>
                        <a14:foregroundMark x1="43214" y1="52368" x2="55595" y2="52368"/>
                      </a14:backgroundRemoval>
                    </a14:imgEffect>
                  </a14:imgLayer>
                </a14:imgProps>
              </a:ext>
            </a:extLst>
          </a:blip>
          <a:stretch>
            <a:fillRect/>
          </a:stretch>
        </p:blipFill>
        <p:spPr>
          <a:xfrm>
            <a:off x="385762" y="3209594"/>
            <a:ext cx="4032448" cy="3648406"/>
          </a:xfrm>
          <a:prstGeom prst="rect">
            <a:avLst/>
          </a:prstGeom>
        </p:spPr>
      </p:pic>
      <p:pic>
        <p:nvPicPr>
          <p:cNvPr id="5" name="Picture 4">
            <a:extLst>
              <a:ext uri="{FF2B5EF4-FFF2-40B4-BE49-F238E27FC236}">
                <a16:creationId xmlns:a16="http://schemas.microsoft.com/office/drawing/2014/main" id="{2D020D28-9EFE-40A8-648A-E4B0FF31ED23}"/>
              </a:ext>
            </a:extLst>
          </p:cNvPr>
          <p:cNvPicPr>
            <a:picLocks noChangeAspect="1"/>
          </p:cNvPicPr>
          <p:nvPr/>
        </p:nvPicPr>
        <p:blipFill>
          <a:blip r:embed="rId5"/>
          <a:stretch>
            <a:fillRect/>
          </a:stretch>
        </p:blipFill>
        <p:spPr>
          <a:xfrm>
            <a:off x="5251475" y="3140968"/>
            <a:ext cx="2879748" cy="3218542"/>
          </a:xfrm>
          <a:prstGeom prst="rect">
            <a:avLst/>
          </a:prstGeom>
        </p:spPr>
      </p:pic>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1">
            <a:extLst>
              <a:ext uri="{FF2B5EF4-FFF2-40B4-BE49-F238E27FC236}">
                <a16:creationId xmlns:a16="http://schemas.microsoft.com/office/drawing/2014/main" id="{14C79CC2-D63D-455C-8943-DC2C7ECDFB16}"/>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9F1CC0D0-3C68-4580-9284-6730E02FF79F}" type="slidenum">
              <a:rPr lang="es-ES_tradnl" altLang="es-ES" sz="1200">
                <a:solidFill>
                  <a:srgbClr val="FFFFFF"/>
                </a:solidFill>
              </a:rPr>
              <a:pPr algn="r" eaLnBrk="1"/>
              <a:t>5</a:t>
            </a:fld>
            <a:endParaRPr lang="es-ES_tradnl" altLang="es-ES">
              <a:solidFill>
                <a:srgbClr val="000000"/>
              </a:solidFill>
            </a:endParaRPr>
          </a:p>
        </p:txBody>
      </p:sp>
      <p:sp>
        <p:nvSpPr>
          <p:cNvPr id="9219" name="Rectangle 2">
            <a:extLst>
              <a:ext uri="{FF2B5EF4-FFF2-40B4-BE49-F238E27FC236}">
                <a16:creationId xmlns:a16="http://schemas.microsoft.com/office/drawing/2014/main" id="{3F1E56B4-0CAD-5873-72C6-E391A6323B22}"/>
              </a:ext>
            </a:extLst>
          </p:cNvPr>
          <p:cNvSpPr>
            <a:spLocks/>
          </p:cNvSpPr>
          <p:nvPr/>
        </p:nvSpPr>
        <p:spPr bwMode="auto">
          <a:xfrm>
            <a:off x="446088" y="303213"/>
            <a:ext cx="5614987" cy="1231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 altLang="es-ES" sz="2800" dirty="0">
                <a:solidFill>
                  <a:srgbClr val="0098CD"/>
                </a:solidFill>
                <a:latin typeface="Arial " charset="0"/>
                <a:sym typeface="Arial Narrow" panose="020B0606020202030204" pitchFamily="34" charset="0"/>
              </a:rPr>
              <a:t>Desarrollo de la Propuesta: Arquitectura</a:t>
            </a:r>
          </a:p>
          <a:p>
            <a:pPr eaLnBrk="1"/>
            <a:endParaRPr lang="es-ES_tradnl" altLang="es-ES" dirty="0">
              <a:solidFill>
                <a:srgbClr val="000000"/>
              </a:solidFill>
              <a:sym typeface="Arial Narrow" panose="020B0606020202030204" pitchFamily="34" charset="0"/>
            </a:endParaRPr>
          </a:p>
        </p:txBody>
      </p:sp>
      <p:sp>
        <p:nvSpPr>
          <p:cNvPr id="9220" name="Rectangle 3">
            <a:extLst>
              <a:ext uri="{FF2B5EF4-FFF2-40B4-BE49-F238E27FC236}">
                <a16:creationId xmlns:a16="http://schemas.microsoft.com/office/drawing/2014/main" id="{DA6C3F57-5438-78F1-24BF-5A8E1DAC645E}"/>
              </a:ext>
            </a:extLst>
          </p:cNvPr>
          <p:cNvSpPr>
            <a:spLocks/>
          </p:cNvSpPr>
          <p:nvPr/>
        </p:nvSpPr>
        <p:spPr bwMode="auto">
          <a:xfrm>
            <a:off x="251520" y="2204864"/>
            <a:ext cx="5479453"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marL="2286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buClr>
                <a:srgbClr val="0098CD"/>
              </a:buClr>
              <a:buSzPct val="50000"/>
              <a:buFont typeface="Arial Narrow" panose="020B0606020202030204" pitchFamily="34" charset="0"/>
              <a:buChar char="►"/>
            </a:pPr>
            <a:r>
              <a:rPr lang="es-ES_tradnl" altLang="es-ES" sz="2000" dirty="0">
                <a:sym typeface="Arial Narrow" panose="020B0606020202030204" pitchFamily="34" charset="0"/>
              </a:rPr>
              <a:t>Arquitectura Hexagonal</a:t>
            </a:r>
            <a:endParaRPr lang="es-ES_tradnl" altLang="es-ES" sz="2000" dirty="0">
              <a:solidFill>
                <a:srgbClr val="0098CD"/>
              </a:solidFill>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sz="2000" dirty="0">
                <a:sym typeface="Arial Narrow" panose="020B0606020202030204" pitchFamily="34" charset="0"/>
              </a:rPr>
              <a:t>Motor de Optimización (</a:t>
            </a:r>
            <a:r>
              <a:rPr lang="es-ES" altLang="es-ES" sz="2000" dirty="0" err="1">
                <a:sym typeface="Arial Narrow" panose="020B0606020202030204" pitchFamily="34" charset="0"/>
              </a:rPr>
              <a:t>Solver</a:t>
            </a:r>
            <a:r>
              <a:rPr lang="es-ES" altLang="es-ES" sz="2000" dirty="0">
                <a:sym typeface="Arial Narrow" panose="020B0606020202030204" pitchFamily="34" charset="0"/>
              </a:rPr>
              <a:t>)</a:t>
            </a:r>
          </a:p>
          <a:p>
            <a:pPr eaLnBrk="1">
              <a:buClr>
                <a:srgbClr val="0098CD"/>
              </a:buClr>
              <a:buSzPct val="50000"/>
              <a:buFont typeface="Arial Narrow" panose="020B0606020202030204" pitchFamily="34" charset="0"/>
              <a:buChar char="►"/>
            </a:pPr>
            <a:r>
              <a:rPr lang="es-ES" altLang="es-ES" sz="2000" dirty="0">
                <a:sym typeface="Arial Narrow" panose="020B0606020202030204" pitchFamily="34" charset="0"/>
              </a:rPr>
              <a:t>Orquestador RAG (</a:t>
            </a:r>
            <a:r>
              <a:rPr lang="es-ES" altLang="es-ES" sz="2000" dirty="0" err="1">
                <a:sym typeface="Arial Narrow" panose="020B0606020202030204" pitchFamily="34" charset="0"/>
              </a:rPr>
              <a:t>LangChain</a:t>
            </a:r>
            <a:r>
              <a:rPr lang="es-ES" altLang="es-ES" sz="2000" dirty="0">
                <a:sym typeface="Arial Narrow" panose="020B0606020202030204" pitchFamily="34" charset="0"/>
              </a:rPr>
              <a:t>)</a:t>
            </a:r>
          </a:p>
          <a:p>
            <a:pPr eaLnBrk="1">
              <a:buClr>
                <a:srgbClr val="0098CD"/>
              </a:buClr>
              <a:buSzPct val="50000"/>
              <a:buFont typeface="Arial Narrow" panose="020B0606020202030204" pitchFamily="34" charset="0"/>
              <a:buChar char="►"/>
            </a:pPr>
            <a:r>
              <a:rPr lang="es-ES" altLang="es-ES" sz="2000" dirty="0" err="1">
                <a:sym typeface="Arial Narrow" panose="020B0606020202030204" pitchFamily="34" charset="0"/>
              </a:rPr>
              <a:t>Guardrail</a:t>
            </a:r>
            <a:r>
              <a:rPr lang="es-ES" altLang="es-ES" sz="2000" dirty="0">
                <a:sym typeface="Arial Narrow" panose="020B0606020202030204" pitchFamily="34" charset="0"/>
              </a:rPr>
              <a:t> NRC</a:t>
            </a:r>
            <a:endParaRPr lang="es-ES_tradnl" altLang="es-ES" sz="2000" dirty="0">
              <a:sym typeface="Arial Narrow" panose="020B0606020202030204" pitchFamily="34" charset="0"/>
            </a:endParaRPr>
          </a:p>
        </p:txBody>
      </p:sp>
      <p:sp>
        <p:nvSpPr>
          <p:cNvPr id="9221" name="Marcador de número de diapositiva 1">
            <a:extLst>
              <a:ext uri="{FF2B5EF4-FFF2-40B4-BE49-F238E27FC236}">
                <a16:creationId xmlns:a16="http://schemas.microsoft.com/office/drawing/2014/main" id="{FD083962-6E9B-9AAF-46D7-A6F31681DE3C}"/>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58686564-1021-4E50-A8CB-A563BA9F6AC5}" type="slidenum">
              <a:rPr lang="es-ES_tradnl" altLang="es-ES">
                <a:solidFill>
                  <a:srgbClr val="FFFFFF"/>
                </a:solidFill>
              </a:rPr>
              <a:pPr/>
              <a:t>5</a:t>
            </a:fld>
            <a:endParaRPr lang="es-ES_tradnl" altLang="es-ES">
              <a:solidFill>
                <a:srgbClr val="FFFFFF"/>
              </a:solidFill>
            </a:endParaRPr>
          </a:p>
        </p:txBody>
      </p:sp>
      <p:pic>
        <p:nvPicPr>
          <p:cNvPr id="4" name="Picture 3">
            <a:extLst>
              <a:ext uri="{FF2B5EF4-FFF2-40B4-BE49-F238E27FC236}">
                <a16:creationId xmlns:a16="http://schemas.microsoft.com/office/drawing/2014/main" id="{FC2094F4-EC66-3BD9-EFED-9F7B7C929CA6}"/>
              </a:ext>
            </a:extLst>
          </p:cNvPr>
          <p:cNvPicPr>
            <a:picLocks noChangeAspect="1"/>
          </p:cNvPicPr>
          <p:nvPr/>
        </p:nvPicPr>
        <p:blipFill>
          <a:blip r:embed="rId3"/>
          <a:stretch>
            <a:fillRect/>
          </a:stretch>
        </p:blipFill>
        <p:spPr>
          <a:xfrm>
            <a:off x="2737303" y="125412"/>
            <a:ext cx="6647544" cy="6210375"/>
          </a:xfrm>
          <a:prstGeom prst="rect">
            <a:avLst/>
          </a:prstGeom>
        </p:spPr>
      </p:pic>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6823D-9EFD-17A8-7B62-8BDE1F7435B3}"/>
            </a:ext>
          </a:extLst>
        </p:cNvPr>
        <p:cNvGrpSpPr/>
        <p:nvPr/>
      </p:nvGrpSpPr>
      <p:grpSpPr>
        <a:xfrm>
          <a:off x="0" y="0"/>
          <a:ext cx="0" cy="0"/>
          <a:chOff x="0" y="0"/>
          <a:chExt cx="0" cy="0"/>
        </a:xfrm>
      </p:grpSpPr>
      <p:sp>
        <p:nvSpPr>
          <p:cNvPr id="9218" name="Rectangle 1">
            <a:extLst>
              <a:ext uri="{FF2B5EF4-FFF2-40B4-BE49-F238E27FC236}">
                <a16:creationId xmlns:a16="http://schemas.microsoft.com/office/drawing/2014/main" id="{31B94F6F-6025-06CD-D297-863FA6B4A24C}"/>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9F1CC0D0-3C68-4580-9284-6730E02FF79F}" type="slidenum">
              <a:rPr lang="es-ES_tradnl" altLang="es-ES" sz="1200">
                <a:solidFill>
                  <a:srgbClr val="FFFFFF"/>
                </a:solidFill>
              </a:rPr>
              <a:pPr algn="r" eaLnBrk="1"/>
              <a:t>6</a:t>
            </a:fld>
            <a:endParaRPr lang="es-ES_tradnl" altLang="es-ES">
              <a:solidFill>
                <a:srgbClr val="000000"/>
              </a:solidFill>
            </a:endParaRPr>
          </a:p>
        </p:txBody>
      </p:sp>
      <p:sp>
        <p:nvSpPr>
          <p:cNvPr id="9219" name="Rectangle 2">
            <a:extLst>
              <a:ext uri="{FF2B5EF4-FFF2-40B4-BE49-F238E27FC236}">
                <a16:creationId xmlns:a16="http://schemas.microsoft.com/office/drawing/2014/main" id="{7D0C3D4C-9048-B100-4128-858CBA5488E6}"/>
              </a:ext>
            </a:extLst>
          </p:cNvPr>
          <p:cNvSpPr>
            <a:spLocks/>
          </p:cNvSpPr>
          <p:nvPr/>
        </p:nvSpPr>
        <p:spPr bwMode="auto">
          <a:xfrm>
            <a:off x="446088" y="303213"/>
            <a:ext cx="5614987" cy="1231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 altLang="es-ES" sz="2800" dirty="0">
                <a:solidFill>
                  <a:srgbClr val="0098CD"/>
                </a:solidFill>
                <a:latin typeface="Arial " charset="0"/>
                <a:sym typeface="Arial Narrow" panose="020B0606020202030204" pitchFamily="34" charset="0"/>
              </a:rPr>
              <a:t>Desarrollo de la Propuesta: El Prototipo Funcional (Demo)</a:t>
            </a:r>
          </a:p>
          <a:p>
            <a:pPr eaLnBrk="1"/>
            <a:endParaRPr lang="es-ES_tradnl" altLang="es-ES" dirty="0">
              <a:solidFill>
                <a:srgbClr val="000000"/>
              </a:solidFill>
              <a:sym typeface="Arial Narrow" panose="020B0606020202030204" pitchFamily="34" charset="0"/>
            </a:endParaRPr>
          </a:p>
        </p:txBody>
      </p:sp>
      <p:sp>
        <p:nvSpPr>
          <p:cNvPr id="9220" name="Rectangle 3">
            <a:extLst>
              <a:ext uri="{FF2B5EF4-FFF2-40B4-BE49-F238E27FC236}">
                <a16:creationId xmlns:a16="http://schemas.microsoft.com/office/drawing/2014/main" id="{9A33DF00-74EC-E790-DA34-A3F061E4F983}"/>
              </a:ext>
            </a:extLst>
          </p:cNvPr>
          <p:cNvSpPr>
            <a:spLocks/>
          </p:cNvSpPr>
          <p:nvPr/>
        </p:nvSpPr>
        <p:spPr bwMode="auto">
          <a:xfrm>
            <a:off x="6041603" y="303213"/>
            <a:ext cx="3672408"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marL="2286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buClr>
                <a:srgbClr val="0098CD"/>
              </a:buClr>
              <a:buSzPct val="50000"/>
              <a:buFont typeface="Arial Narrow" panose="020B0606020202030204" pitchFamily="34" charset="0"/>
              <a:buChar char="►"/>
            </a:pPr>
            <a:r>
              <a:rPr lang="es-ES" altLang="es-ES" sz="2000" dirty="0">
                <a:sym typeface="Arial Narrow" panose="020B0606020202030204" pitchFamily="34" charset="0"/>
              </a:rPr>
              <a:t>Gestión Operativa.</a:t>
            </a:r>
          </a:p>
          <a:p>
            <a:pPr eaLnBrk="1">
              <a:buClr>
                <a:srgbClr val="0098CD"/>
              </a:buClr>
              <a:buSzPct val="50000"/>
              <a:buFont typeface="Arial Narrow" panose="020B0606020202030204" pitchFamily="34" charset="0"/>
              <a:buChar char="►"/>
            </a:pPr>
            <a:r>
              <a:rPr lang="es-ES" altLang="es-ES" sz="2000" dirty="0">
                <a:sym typeface="Arial Narrow" panose="020B0606020202030204" pitchFamily="34" charset="0"/>
              </a:rPr>
              <a:t>Optimización Dinámica.</a:t>
            </a:r>
          </a:p>
          <a:p>
            <a:pPr eaLnBrk="1">
              <a:buClr>
                <a:srgbClr val="0098CD"/>
              </a:buClr>
              <a:buSzPct val="50000"/>
              <a:buFont typeface="Arial Narrow" panose="020B0606020202030204" pitchFamily="34" charset="0"/>
              <a:buChar char="►"/>
            </a:pPr>
            <a:r>
              <a:rPr lang="es-ES" altLang="es-ES" sz="2000" dirty="0" err="1">
                <a:sym typeface="Arial Narrow" panose="020B0606020202030204" pitchFamily="34" charset="0"/>
              </a:rPr>
              <a:t>Decision</a:t>
            </a:r>
            <a:r>
              <a:rPr lang="es-ES" altLang="es-ES" sz="2000" dirty="0">
                <a:sym typeface="Arial Narrow" panose="020B0606020202030204" pitchFamily="34" charset="0"/>
              </a:rPr>
              <a:t> </a:t>
            </a:r>
            <a:r>
              <a:rPr lang="es-ES" altLang="es-ES" sz="2000" dirty="0" err="1">
                <a:sym typeface="Arial Narrow" panose="020B0606020202030204" pitchFamily="34" charset="0"/>
              </a:rPr>
              <a:t>Copilot</a:t>
            </a:r>
            <a:r>
              <a:rPr lang="es-ES" altLang="es-ES" sz="2000" dirty="0">
                <a:sym typeface="Arial Narrow" panose="020B0606020202030204" pitchFamily="34" charset="0"/>
              </a:rPr>
              <a:t>.</a:t>
            </a:r>
          </a:p>
        </p:txBody>
      </p:sp>
      <p:sp>
        <p:nvSpPr>
          <p:cNvPr id="9221" name="Marcador de número de diapositiva 1">
            <a:extLst>
              <a:ext uri="{FF2B5EF4-FFF2-40B4-BE49-F238E27FC236}">
                <a16:creationId xmlns:a16="http://schemas.microsoft.com/office/drawing/2014/main" id="{4B880D82-4790-3E2F-5932-517ADD6DAE6E}"/>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58686564-1021-4E50-A8CB-A563BA9F6AC5}" type="slidenum">
              <a:rPr lang="es-ES_tradnl" altLang="es-ES">
                <a:solidFill>
                  <a:srgbClr val="FFFFFF"/>
                </a:solidFill>
              </a:rPr>
              <a:pPr/>
              <a:t>6</a:t>
            </a:fld>
            <a:endParaRPr lang="es-ES_tradnl" altLang="es-ES">
              <a:solidFill>
                <a:srgbClr val="FFFFFF"/>
              </a:solidFill>
            </a:endParaRPr>
          </a:p>
        </p:txBody>
      </p:sp>
      <p:pic>
        <p:nvPicPr>
          <p:cNvPr id="4" name="Picture 3">
            <a:extLst>
              <a:ext uri="{FF2B5EF4-FFF2-40B4-BE49-F238E27FC236}">
                <a16:creationId xmlns:a16="http://schemas.microsoft.com/office/drawing/2014/main" id="{B367E8E1-A1C5-6ABC-6456-FD1B59166DDD}"/>
              </a:ext>
            </a:extLst>
          </p:cNvPr>
          <p:cNvPicPr>
            <a:picLocks noChangeAspect="1"/>
          </p:cNvPicPr>
          <p:nvPr/>
        </p:nvPicPr>
        <p:blipFill>
          <a:blip r:embed="rId3"/>
          <a:stretch>
            <a:fillRect/>
          </a:stretch>
        </p:blipFill>
        <p:spPr>
          <a:xfrm>
            <a:off x="323528" y="1642040"/>
            <a:ext cx="8434710" cy="4733166"/>
          </a:xfrm>
          <a:prstGeom prst="rect">
            <a:avLst/>
          </a:prstGeom>
        </p:spPr>
      </p:pic>
    </p:spTree>
    <p:extLst>
      <p:ext uri="{BB962C8B-B14F-4D97-AF65-F5344CB8AC3E}">
        <p14:creationId xmlns:p14="http://schemas.microsoft.com/office/powerpoint/2010/main" val="119109990"/>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1">
            <a:extLst>
              <a:ext uri="{FF2B5EF4-FFF2-40B4-BE49-F238E27FC236}">
                <a16:creationId xmlns:a16="http://schemas.microsoft.com/office/drawing/2014/main" id="{14613F77-12BD-D1A4-94F5-8C067DAC4CBB}"/>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9017084D-3020-44DA-8389-0AAB1CAD9096}" type="slidenum">
              <a:rPr lang="es-ES_tradnl" altLang="es-ES" sz="1200">
                <a:solidFill>
                  <a:srgbClr val="FFFFFF"/>
                </a:solidFill>
              </a:rPr>
              <a:pPr algn="r" eaLnBrk="1"/>
              <a:t>7</a:t>
            </a:fld>
            <a:endParaRPr lang="es-ES_tradnl" altLang="es-ES">
              <a:solidFill>
                <a:srgbClr val="000000"/>
              </a:solidFill>
            </a:endParaRPr>
          </a:p>
        </p:txBody>
      </p:sp>
      <p:sp>
        <p:nvSpPr>
          <p:cNvPr id="10243" name="Rectangle 2">
            <a:extLst>
              <a:ext uri="{FF2B5EF4-FFF2-40B4-BE49-F238E27FC236}">
                <a16:creationId xmlns:a16="http://schemas.microsoft.com/office/drawing/2014/main" id="{759988DB-B1CE-192C-D42E-B68B17258A7D}"/>
              </a:ext>
            </a:extLst>
          </p:cNvPr>
          <p:cNvSpPr>
            <a:spLocks/>
          </p:cNvSpPr>
          <p:nvPr/>
        </p:nvSpPr>
        <p:spPr bwMode="auto">
          <a:xfrm>
            <a:off x="446088" y="303213"/>
            <a:ext cx="561498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800" dirty="0">
                <a:solidFill>
                  <a:srgbClr val="0098CD"/>
                </a:solidFill>
                <a:latin typeface="Arial " charset="0"/>
                <a:sym typeface="Arial Narrow" panose="020B0606020202030204" pitchFamily="34" charset="0"/>
              </a:rPr>
              <a:t>Evaluación y Validación</a:t>
            </a:r>
            <a:endParaRPr lang="es-ES_tradnl" altLang="es-ES" dirty="0">
              <a:solidFill>
                <a:srgbClr val="000000"/>
              </a:solidFill>
              <a:sym typeface="Arial Narrow" panose="020B0606020202030204" pitchFamily="34" charset="0"/>
            </a:endParaRPr>
          </a:p>
        </p:txBody>
      </p:sp>
      <p:sp>
        <p:nvSpPr>
          <p:cNvPr id="10244" name="Rectangle 3">
            <a:extLst>
              <a:ext uri="{FF2B5EF4-FFF2-40B4-BE49-F238E27FC236}">
                <a16:creationId xmlns:a16="http://schemas.microsoft.com/office/drawing/2014/main" id="{27970A69-9BE3-7DF5-BD54-75B3BBDB593F}"/>
              </a:ext>
            </a:extLst>
          </p:cNvPr>
          <p:cNvSpPr>
            <a:spLocks/>
          </p:cNvSpPr>
          <p:nvPr/>
        </p:nvSpPr>
        <p:spPr bwMode="auto">
          <a:xfrm>
            <a:off x="49064" y="764704"/>
            <a:ext cx="3240360" cy="5632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marL="2286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buClr>
                <a:srgbClr val="0098CD"/>
              </a:buClr>
              <a:buSzPct val="50000"/>
              <a:buFont typeface="Arial Narrow" panose="020B0606020202030204" pitchFamily="34" charset="0"/>
              <a:buChar char="►"/>
            </a:pPr>
            <a:r>
              <a:rPr lang="es-ES" altLang="es-ES" dirty="0" err="1">
                <a:sym typeface="Arial Narrow" panose="020B0606020202030204" pitchFamily="34" charset="0"/>
              </a:rPr>
              <a:t>Backtesting</a:t>
            </a:r>
            <a:r>
              <a:rPr lang="es-ES" altLang="es-ES" dirty="0">
                <a:sym typeface="Arial Narrow" panose="020B0606020202030204" pitchFamily="34" charset="0"/>
              </a:rPr>
              <a:t> Histórico: Simulación retrospectiva a 90 días con inyección de volatilidad de precios.</a:t>
            </a:r>
          </a:p>
          <a:p>
            <a:pPr marL="0" indent="0" eaLnBrk="1">
              <a:buClr>
                <a:srgbClr val="0098CD"/>
              </a:buClr>
              <a:buSzPct val="50000"/>
            </a:pPr>
            <a:endParaRPr lang="es-ES_tradnl" altLang="es-ES" dirty="0">
              <a:solidFill>
                <a:srgbClr val="0098CD"/>
              </a:solidFill>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Validación Biológica (KPI-3): 0.00 violaciones nutricionales (Restricciones NRC cumplidas).</a:t>
            </a:r>
          </a:p>
          <a:p>
            <a:pPr eaLnBrk="1">
              <a:buClr>
                <a:srgbClr val="0098CD"/>
              </a:buClr>
              <a:buSzPct val="50000"/>
              <a:buFont typeface="Arial Narrow" panose="020B0606020202030204" pitchFamily="34" charset="0"/>
              <a:buChar char="►"/>
            </a:pPr>
            <a:endParaRPr lang="es-ES" altLang="es-ES" dirty="0">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Calidad de la IA (KPI-1 y 2): &gt;92% de respuestas técnicas con citas verificables (Cero alucinaciones operativas).</a:t>
            </a:r>
          </a:p>
          <a:p>
            <a:pPr eaLnBrk="1">
              <a:buClr>
                <a:srgbClr val="0098CD"/>
              </a:buClr>
              <a:buSzPct val="50000"/>
              <a:buFont typeface="Arial Narrow" panose="020B0606020202030204" pitchFamily="34" charset="0"/>
              <a:buChar char="►"/>
            </a:pPr>
            <a:endParaRPr lang="es-ES" altLang="es-ES" dirty="0">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Éxito Económico (KPI-7): Reducción de costos consistente vs. la dieta empírica tradicional.</a:t>
            </a:r>
            <a:endParaRPr lang="es-ES_tradnl" altLang="es-ES" dirty="0">
              <a:sym typeface="Arial Narrow" panose="020B0606020202030204" pitchFamily="34" charset="0"/>
            </a:endParaRPr>
          </a:p>
        </p:txBody>
      </p:sp>
      <p:sp>
        <p:nvSpPr>
          <p:cNvPr id="10245" name="Marcador de número de diapositiva 1">
            <a:extLst>
              <a:ext uri="{FF2B5EF4-FFF2-40B4-BE49-F238E27FC236}">
                <a16:creationId xmlns:a16="http://schemas.microsoft.com/office/drawing/2014/main" id="{A2BF9D9B-E8F8-A56A-8561-8177AA0F61FD}"/>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AF944D2F-E8F5-42B9-B702-7664187F24A0}" type="slidenum">
              <a:rPr lang="es-ES_tradnl" altLang="es-ES">
                <a:solidFill>
                  <a:srgbClr val="FFFFFF"/>
                </a:solidFill>
              </a:rPr>
              <a:pPr/>
              <a:t>7</a:t>
            </a:fld>
            <a:endParaRPr lang="es-ES_tradnl" altLang="es-ES">
              <a:solidFill>
                <a:srgbClr val="FFFFFF"/>
              </a:solidFill>
            </a:endParaRPr>
          </a:p>
        </p:txBody>
      </p:sp>
      <p:pic>
        <p:nvPicPr>
          <p:cNvPr id="3" name="Picture 2">
            <a:extLst>
              <a:ext uri="{FF2B5EF4-FFF2-40B4-BE49-F238E27FC236}">
                <a16:creationId xmlns:a16="http://schemas.microsoft.com/office/drawing/2014/main" id="{D7CA2393-09A2-0A67-B212-BF066F66A412}"/>
              </a:ext>
            </a:extLst>
          </p:cNvPr>
          <p:cNvPicPr>
            <a:picLocks noChangeAspect="1"/>
          </p:cNvPicPr>
          <p:nvPr/>
        </p:nvPicPr>
        <p:blipFill>
          <a:blip r:embed="rId3"/>
          <a:stretch>
            <a:fillRect/>
          </a:stretch>
        </p:blipFill>
        <p:spPr>
          <a:xfrm>
            <a:off x="3468879" y="1066021"/>
            <a:ext cx="5493550" cy="1623094"/>
          </a:xfrm>
          <a:prstGeom prst="rect">
            <a:avLst/>
          </a:prstGeom>
        </p:spPr>
      </p:pic>
      <p:pic>
        <p:nvPicPr>
          <p:cNvPr id="5" name="Picture 4">
            <a:extLst>
              <a:ext uri="{FF2B5EF4-FFF2-40B4-BE49-F238E27FC236}">
                <a16:creationId xmlns:a16="http://schemas.microsoft.com/office/drawing/2014/main" id="{5D8296DA-9358-7FD1-08F9-9324E0ADD511}"/>
              </a:ext>
            </a:extLst>
          </p:cNvPr>
          <p:cNvPicPr>
            <a:picLocks noChangeAspect="1"/>
          </p:cNvPicPr>
          <p:nvPr/>
        </p:nvPicPr>
        <p:blipFill>
          <a:blip r:embed="rId4"/>
          <a:stretch>
            <a:fillRect/>
          </a:stretch>
        </p:blipFill>
        <p:spPr>
          <a:xfrm>
            <a:off x="3197301" y="3140968"/>
            <a:ext cx="5807182" cy="2815604"/>
          </a:xfrm>
          <a:prstGeom prst="rect">
            <a:avLst/>
          </a:prstGeom>
        </p:spPr>
      </p:pic>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1">
            <a:extLst>
              <a:ext uri="{FF2B5EF4-FFF2-40B4-BE49-F238E27FC236}">
                <a16:creationId xmlns:a16="http://schemas.microsoft.com/office/drawing/2014/main" id="{65CAF80F-7CEF-BDE5-A349-FA552D9C2FBE}"/>
              </a:ext>
            </a:extLst>
          </p:cNvPr>
          <p:cNvSpPr>
            <a:spLocks/>
          </p:cNvSpPr>
          <p:nvPr/>
        </p:nvSpPr>
        <p:spPr bwMode="auto">
          <a:xfrm>
            <a:off x="8485188" y="6559550"/>
            <a:ext cx="273050" cy="17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0" tIns="0" rIns="0" bIns="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algn="r" eaLnBrk="1"/>
            <a:fld id="{189C0FAF-C6A9-43A3-ABCD-39CEB2A3AE46}" type="slidenum">
              <a:rPr lang="es-ES_tradnl" altLang="es-ES" sz="1200">
                <a:solidFill>
                  <a:srgbClr val="FFFFFF"/>
                </a:solidFill>
              </a:rPr>
              <a:pPr algn="r" eaLnBrk="1"/>
              <a:t>8</a:t>
            </a:fld>
            <a:endParaRPr lang="es-ES_tradnl" altLang="es-ES">
              <a:solidFill>
                <a:srgbClr val="000000"/>
              </a:solidFill>
            </a:endParaRPr>
          </a:p>
        </p:txBody>
      </p:sp>
      <p:sp>
        <p:nvSpPr>
          <p:cNvPr id="11267" name="Rectangle 2">
            <a:extLst>
              <a:ext uri="{FF2B5EF4-FFF2-40B4-BE49-F238E27FC236}">
                <a16:creationId xmlns:a16="http://schemas.microsoft.com/office/drawing/2014/main" id="{1640C20A-2BCC-AC52-EB3A-ADD8E5044CC7}"/>
              </a:ext>
            </a:extLst>
          </p:cNvPr>
          <p:cNvSpPr>
            <a:spLocks/>
          </p:cNvSpPr>
          <p:nvPr/>
        </p:nvSpPr>
        <p:spPr bwMode="auto">
          <a:xfrm>
            <a:off x="446088" y="303213"/>
            <a:ext cx="561498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800">
                <a:solidFill>
                  <a:srgbClr val="0098CD"/>
                </a:solidFill>
                <a:latin typeface="Arial " charset="0"/>
                <a:sym typeface="Arial Narrow" panose="020B0606020202030204" pitchFamily="34" charset="0"/>
              </a:rPr>
              <a:t>Conclusiones</a:t>
            </a:r>
            <a:endParaRPr lang="es-ES_tradnl" altLang="es-ES">
              <a:solidFill>
                <a:srgbClr val="000000"/>
              </a:solidFill>
              <a:sym typeface="Arial Narrow" panose="020B0606020202030204" pitchFamily="34" charset="0"/>
            </a:endParaRPr>
          </a:p>
        </p:txBody>
      </p:sp>
      <p:sp>
        <p:nvSpPr>
          <p:cNvPr id="11268" name="Rectangle 3">
            <a:extLst>
              <a:ext uri="{FF2B5EF4-FFF2-40B4-BE49-F238E27FC236}">
                <a16:creationId xmlns:a16="http://schemas.microsoft.com/office/drawing/2014/main" id="{901AFA42-54E7-6F3E-ED09-85C368D8D462}"/>
              </a:ext>
            </a:extLst>
          </p:cNvPr>
          <p:cNvSpPr>
            <a:spLocks/>
          </p:cNvSpPr>
          <p:nvPr/>
        </p:nvSpPr>
        <p:spPr bwMode="auto">
          <a:xfrm>
            <a:off x="107504" y="980728"/>
            <a:ext cx="3463230" cy="25853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square" lIns="45720" rIns="45720">
            <a:spAutoFit/>
          </a:bodyPr>
          <a:lstStyle>
            <a:lvl1pPr marL="2286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Problema Resuelto: Democratización de la optimización matemática para el pequeño productor.</a:t>
            </a:r>
          </a:p>
          <a:p>
            <a:pPr eaLnBrk="1">
              <a:buClr>
                <a:srgbClr val="0098CD"/>
              </a:buClr>
              <a:buSzPct val="50000"/>
              <a:buFont typeface="Arial Narrow" panose="020B0606020202030204" pitchFamily="34" charset="0"/>
              <a:buChar char="►"/>
            </a:pPr>
            <a:endParaRPr lang="es-ES_tradnl" altLang="es-ES" dirty="0">
              <a:solidFill>
                <a:srgbClr val="0098CD"/>
              </a:solidFill>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Precisión Científica: El cálculo determinista elimina el riesgo de la IA Generativa.</a:t>
            </a:r>
          </a:p>
          <a:p>
            <a:pPr eaLnBrk="1">
              <a:buClr>
                <a:srgbClr val="0098CD"/>
              </a:buClr>
              <a:buSzPct val="50000"/>
              <a:buFont typeface="Arial Narrow" panose="020B0606020202030204" pitchFamily="34" charset="0"/>
              <a:buChar char="►"/>
            </a:pPr>
            <a:endParaRPr lang="es-ES" altLang="es-ES" dirty="0">
              <a:sym typeface="Arial Narrow" panose="020B0606020202030204" pitchFamily="34" charset="0"/>
            </a:endParaRPr>
          </a:p>
        </p:txBody>
      </p:sp>
      <p:sp>
        <p:nvSpPr>
          <p:cNvPr id="11269" name="Marcador de número de diapositiva 1">
            <a:extLst>
              <a:ext uri="{FF2B5EF4-FFF2-40B4-BE49-F238E27FC236}">
                <a16:creationId xmlns:a16="http://schemas.microsoft.com/office/drawing/2014/main" id="{E1F8AEA2-71E9-584C-19AC-46BF9E470E7F}"/>
              </a:ext>
            </a:extLst>
          </p:cNvPr>
          <p:cNvSpPr>
            <a:spLocks noGrp="1"/>
          </p:cNvSpPr>
          <p:nvPr>
            <p:ph type="sldNum" sz="quarter" idx="10"/>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742950" indent="-285750">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fld id="{1631B08D-D42A-4FD6-9899-6E113286B163}" type="slidenum">
              <a:rPr lang="es-ES_tradnl" altLang="es-ES">
                <a:solidFill>
                  <a:srgbClr val="FFFFFF"/>
                </a:solidFill>
              </a:rPr>
              <a:pPr/>
              <a:t>8</a:t>
            </a:fld>
            <a:endParaRPr lang="es-ES_tradnl" altLang="es-ES">
              <a:solidFill>
                <a:srgbClr val="FFFFFF"/>
              </a:solidFill>
            </a:endParaRPr>
          </a:p>
        </p:txBody>
      </p:sp>
      <p:sp>
        <p:nvSpPr>
          <p:cNvPr id="3" name="TextBox 2">
            <a:extLst>
              <a:ext uri="{FF2B5EF4-FFF2-40B4-BE49-F238E27FC236}">
                <a16:creationId xmlns:a16="http://schemas.microsoft.com/office/drawing/2014/main" id="{21CC4D07-FEA3-549A-41B4-992A184EBB6B}"/>
              </a:ext>
            </a:extLst>
          </p:cNvPr>
          <p:cNvSpPr txBox="1"/>
          <p:nvPr/>
        </p:nvSpPr>
        <p:spPr>
          <a:xfrm>
            <a:off x="3848200" y="980728"/>
            <a:ext cx="5313684" cy="2031325"/>
          </a:xfrm>
          <a:prstGeom prst="rect">
            <a:avLst/>
          </a:prstGeom>
          <a:noFill/>
        </p:spPr>
        <p:txBody>
          <a:bodyPr wrap="square">
            <a:spAutoFit/>
          </a:bodyPr>
          <a:lstStyle/>
          <a:p>
            <a:pPr marL="0" indent="0" eaLnBrk="1">
              <a:buClr>
                <a:srgbClr val="0098CD"/>
              </a:buClr>
              <a:buSzPct val="50000"/>
            </a:pPr>
            <a:r>
              <a:rPr lang="es-ES_tradnl" altLang="es-ES" dirty="0">
                <a:sym typeface="Arial Narrow" panose="020B0606020202030204" pitchFamily="34" charset="0"/>
              </a:rPr>
              <a:t>Trabajo Futuro:</a:t>
            </a:r>
          </a:p>
          <a:p>
            <a:pPr marL="0" indent="0" eaLnBrk="1">
              <a:buClr>
                <a:srgbClr val="0098CD"/>
              </a:buClr>
              <a:buSzPct val="50000"/>
            </a:pPr>
            <a:endParaRPr lang="es-ES_tradnl" altLang="es-ES" dirty="0">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Integración vía API con bolsas agrícolas.</a:t>
            </a:r>
          </a:p>
          <a:p>
            <a:pPr marL="0" indent="0" eaLnBrk="1">
              <a:buClr>
                <a:srgbClr val="0098CD"/>
              </a:buClr>
              <a:buSzPct val="50000"/>
            </a:pPr>
            <a:endParaRPr lang="es-ES" altLang="es-ES" dirty="0">
              <a:sym typeface="Arial Narrow" panose="020B0606020202030204" pitchFamily="34" charset="0"/>
            </a:endParaRPr>
          </a:p>
          <a:p>
            <a:pPr eaLnBrk="1">
              <a:buClr>
                <a:srgbClr val="0098CD"/>
              </a:buClr>
              <a:buSzPct val="50000"/>
              <a:buFont typeface="Arial Narrow" panose="020B0606020202030204" pitchFamily="34" charset="0"/>
              <a:buChar char="►"/>
            </a:pPr>
            <a:r>
              <a:rPr lang="es-ES_tradnl" altLang="es-ES" dirty="0">
                <a:sym typeface="Arial Narrow" panose="020B0606020202030204" pitchFamily="34" charset="0"/>
              </a:rPr>
              <a:t>Edge AI (Modelos SLM para operar sin internet).</a:t>
            </a:r>
          </a:p>
          <a:p>
            <a:pPr marL="0" indent="0" eaLnBrk="1">
              <a:buClr>
                <a:srgbClr val="0098CD"/>
              </a:buClr>
              <a:buSzPct val="50000"/>
            </a:pPr>
            <a:endParaRPr lang="es-ES_tradnl" altLang="es-ES" dirty="0">
              <a:sym typeface="Arial Narrow" panose="020B0606020202030204" pitchFamily="34" charset="0"/>
            </a:endParaRPr>
          </a:p>
          <a:p>
            <a:pPr eaLnBrk="1">
              <a:buClr>
                <a:srgbClr val="0098CD"/>
              </a:buClr>
              <a:buSzPct val="50000"/>
              <a:buFont typeface="Arial Narrow" panose="020B0606020202030204" pitchFamily="34" charset="0"/>
              <a:buChar char="►"/>
            </a:pPr>
            <a:r>
              <a:rPr lang="es-ES" altLang="es-ES" dirty="0">
                <a:sym typeface="Arial Narrow" panose="020B0606020202030204" pitchFamily="34" charset="0"/>
              </a:rPr>
              <a:t>Expansión transversal a avicultura y porcicultura.</a:t>
            </a:r>
            <a:endParaRPr lang="es-ES_tradnl" altLang="es-ES" dirty="0">
              <a:sym typeface="Arial Narrow" panose="020B0606020202030204" pitchFamily="34" charset="0"/>
            </a:endParaRPr>
          </a:p>
        </p:txBody>
      </p:sp>
      <p:pic>
        <p:nvPicPr>
          <p:cNvPr id="5" name="Picture 4">
            <a:extLst>
              <a:ext uri="{FF2B5EF4-FFF2-40B4-BE49-F238E27FC236}">
                <a16:creationId xmlns:a16="http://schemas.microsoft.com/office/drawing/2014/main" id="{916AB512-F6F0-A2B9-2C55-76310D77C5D9}"/>
              </a:ext>
            </a:extLst>
          </p:cNvPr>
          <p:cNvPicPr>
            <a:picLocks noChangeAspect="1"/>
          </p:cNvPicPr>
          <p:nvPr/>
        </p:nvPicPr>
        <p:blipFill>
          <a:blip r:embed="rId3"/>
          <a:stretch>
            <a:fillRect/>
          </a:stretch>
        </p:blipFill>
        <p:spPr>
          <a:xfrm>
            <a:off x="251520" y="2924944"/>
            <a:ext cx="7956376" cy="3409875"/>
          </a:xfrm>
          <a:prstGeom prst="rect">
            <a:avLst/>
          </a:prstGeom>
        </p:spPr>
      </p:pic>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B316E149-CA04-A8E0-3EB5-20D8FD9D6D7E}"/>
              </a:ext>
            </a:extLst>
          </p:cNvPr>
          <p:cNvSpPr>
            <a:spLocks/>
          </p:cNvSpPr>
          <p:nvPr/>
        </p:nvSpPr>
        <p:spPr bwMode="auto">
          <a:xfrm>
            <a:off x="3922713" y="5881688"/>
            <a:ext cx="1704975" cy="430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0"/>
                <a:headEnd/>
                <a:tailEnd/>
              </a14:hiddenLine>
            </a:ext>
          </a:extLst>
        </p:spPr>
        <p:txBody>
          <a:bodyPr wrap="none" lIns="45720" rIns="45720">
            <a:spAutoFit/>
          </a:bodyPr>
          <a:lstStyle>
            <a:lvl1pPr>
              <a:defRPr>
                <a:solidFill>
                  <a:srgbClr val="535353"/>
                </a:solidFill>
                <a:latin typeface="Arial" panose="020B0604020202020204" pitchFamily="34" charset="0"/>
                <a:cs typeface="Arial" panose="020B0604020202020204" pitchFamily="34" charset="0"/>
                <a:sym typeface="Arial" panose="020B0604020202020204" pitchFamily="34" charset="0"/>
              </a:defRPr>
            </a:lvl1pPr>
            <a:lvl2pPr marL="37931725" indent="-37474525">
              <a:defRPr>
                <a:solidFill>
                  <a:srgbClr val="535353"/>
                </a:solidFill>
                <a:latin typeface="Arial" panose="020B0604020202020204" pitchFamily="34" charset="0"/>
                <a:cs typeface="Arial" panose="020B0604020202020204" pitchFamily="34" charset="0"/>
                <a:sym typeface="Arial" panose="020B0604020202020204" pitchFamily="34" charset="0"/>
              </a:defRPr>
            </a:lvl2pPr>
            <a:lvl3pPr marL="11430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3pPr>
            <a:lvl4pPr marL="16002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4pPr>
            <a:lvl5pPr marL="2057400" indent="-228600">
              <a:defRPr>
                <a:solidFill>
                  <a:srgbClr val="535353"/>
                </a:solidFill>
                <a:latin typeface="Arial" panose="020B0604020202020204" pitchFamily="34" charset="0"/>
                <a:cs typeface="Arial" panose="020B0604020202020204" pitchFamily="34" charset="0"/>
                <a:sym typeface="Arial" panose="020B0604020202020204" pitchFamily="34" charset="0"/>
              </a:defRPr>
            </a:lvl5pPr>
            <a:lvl6pPr marL="25146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6pPr>
            <a:lvl7pPr marL="29718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7pPr>
            <a:lvl8pPr marL="34290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8pPr>
            <a:lvl9pPr marL="3886200" indent="-228600" defTabSz="457200" eaLnBrk="0" fontAlgn="base" hangingPunct="0">
              <a:spcBef>
                <a:spcPct val="0"/>
              </a:spcBef>
              <a:spcAft>
                <a:spcPct val="0"/>
              </a:spcAft>
              <a:defRPr>
                <a:solidFill>
                  <a:srgbClr val="535353"/>
                </a:solidFill>
                <a:latin typeface="Arial" panose="020B0604020202020204" pitchFamily="34" charset="0"/>
                <a:cs typeface="Arial" panose="020B0604020202020204" pitchFamily="34" charset="0"/>
                <a:sym typeface="Arial" panose="020B0604020202020204" pitchFamily="34" charset="0"/>
              </a:defRPr>
            </a:lvl9pPr>
          </a:lstStyle>
          <a:p>
            <a:pPr eaLnBrk="1"/>
            <a:r>
              <a:rPr lang="es-ES_tradnl" altLang="es-ES" sz="2200">
                <a:solidFill>
                  <a:srgbClr val="989898"/>
                </a:solidFill>
                <a:sym typeface="Arial Narrow" panose="020B0606020202030204" pitchFamily="34" charset="0"/>
              </a:rPr>
              <a:t>www.unir.net</a:t>
            </a:r>
            <a:endParaRPr lang="es-ES_tradnl" altLang="es-ES">
              <a:solidFill>
                <a:srgbClr val="000000"/>
              </a:solidFill>
              <a:sym typeface="Arial Narrow" panose="020B0606020202030204" pitchFamily="34" charset="0"/>
            </a:endParaRPr>
          </a:p>
        </p:txBody>
      </p:sp>
      <p:pic>
        <p:nvPicPr>
          <p:cNvPr id="12291" name="Picture 1">
            <a:extLst>
              <a:ext uri="{FF2B5EF4-FFF2-40B4-BE49-F238E27FC236}">
                <a16:creationId xmlns:a16="http://schemas.microsoft.com/office/drawing/2014/main" id="{BA26861D-58FD-AC8E-AB9D-D06EF6EEFE1F}"/>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349500" y="1484313"/>
            <a:ext cx="4454525" cy="307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theme/theme1.xml><?xml version="1.0" encoding="utf-8"?>
<a:theme xmlns:a="http://schemas.openxmlformats.org/drawingml/2006/main" name="Default">
  <a:themeElements>
    <a:clrScheme name="">
      <a:dk1>
        <a:srgbClr val="535353"/>
      </a:dk1>
      <a:lt1>
        <a:srgbClr val="FFFFFF"/>
      </a:lt1>
      <a:dk2>
        <a:srgbClr val="A7A7A7"/>
      </a:dk2>
      <a:lt2>
        <a:srgbClr val="535353"/>
      </a:lt2>
      <a:accent1>
        <a:srgbClr val="0F7EC5"/>
      </a:accent1>
      <a:accent2>
        <a:srgbClr val="11A1FF"/>
      </a:accent2>
      <a:accent3>
        <a:srgbClr val="FFFFFF"/>
      </a:accent3>
      <a:accent4>
        <a:srgbClr val="464646"/>
      </a:accent4>
      <a:accent5>
        <a:srgbClr val="AAC0DF"/>
      </a:accent5>
      <a:accent6>
        <a:srgbClr val="0E91E7"/>
      </a:accent6>
      <a:hlink>
        <a:srgbClr val="0000FF"/>
      </a:hlink>
      <a:folHlink>
        <a:srgbClr val="FF00FF"/>
      </a:folHlink>
    </a:clrScheme>
    <a:fontScheme name="Default">
      <a:majorFont>
        <a:latin typeface="Arial Narrow"/>
        <a:ea typeface="Arial Narrow"/>
        <a:cs typeface="Arial Narrow"/>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rgbClr val="FFFFFF"/>
        </a:solidFill>
        <a:ln w="25400" cap="flat" cmpd="sng" algn="ctr">
          <a:solidFill>
            <a:srgbClr val="0F7EC5"/>
          </a:solidFill>
          <a:prstDash val="solid"/>
          <a:bevel/>
          <a:headEnd type="none" w="med" len="med"/>
          <a:tailEnd type="none" w="med" len="med"/>
        </a:ln>
        <a:effectLst/>
      </a:spPr>
      <a:bodyPr vert="horz" wrap="square" lIns="45720" tIns="45720" rIns="45720" bIns="45720" numCol="1" anchor="ctr" anchorCtr="0" compatLnSpc="1">
        <a:prstTxWarp prst="textNoShape">
          <a:avLst/>
        </a:prstTxWarp>
        <a:spAutoFit/>
      </a:bodyPr>
      <a:lstStyle>
        <a:defPPr marL="0" marR="0" indent="0" algn="l" defTabSz="457200" rtl="0" eaLnBrk="1" fontAlgn="base" latinLnBrk="0" hangingPunct="0">
          <a:lnSpc>
            <a:spcPct val="100000"/>
          </a:lnSpc>
          <a:spcBef>
            <a:spcPct val="0"/>
          </a:spcBef>
          <a:spcAft>
            <a:spcPct val="0"/>
          </a:spcAft>
          <a:buClrTx/>
          <a:buSzTx/>
          <a:buFontTx/>
          <a:buNone/>
          <a:tabLst/>
          <a:defRPr kumimoji="0" lang="es-ES_tradnl" sz="1800" b="0" i="0" u="none" strike="noStrike" cap="none" normalizeH="0" baseline="0">
            <a:ln>
              <a:noFill/>
            </a:ln>
            <a:solidFill>
              <a:srgbClr val="535353"/>
            </a:solidFill>
            <a:effectLst/>
            <a:latin typeface="Arial" charset="0"/>
            <a:ea typeface="Arial" charset="0"/>
            <a:cs typeface="Arial" charset="0"/>
            <a:sym typeface="Arial" charset="0"/>
          </a:defRPr>
        </a:defPPr>
      </a:lstStyle>
    </a:spDef>
    <a:lnDef>
      <a:spPr bwMode="auto">
        <a:xfrm>
          <a:off x="0" y="0"/>
          <a:ext cx="1" cy="1"/>
        </a:xfrm>
        <a:custGeom>
          <a:avLst/>
          <a:gdLst/>
          <a:ahLst/>
          <a:cxnLst/>
          <a:rect l="0" t="0" r="0" b="0"/>
          <a:pathLst/>
        </a:custGeom>
        <a:solidFill>
          <a:srgbClr val="FFFFFF"/>
        </a:solidFill>
        <a:ln w="25400" cap="flat" cmpd="sng" algn="ctr">
          <a:solidFill>
            <a:srgbClr val="0F7EC5"/>
          </a:solidFill>
          <a:prstDash val="solid"/>
          <a:bevel/>
          <a:headEnd type="none" w="med" len="med"/>
          <a:tailEnd type="none" w="med" len="med"/>
        </a:ln>
        <a:effectLst/>
      </a:spPr>
      <a:bodyPr vert="horz" wrap="square" lIns="45720" tIns="45720" rIns="45720" bIns="45720" numCol="1" anchor="ctr" anchorCtr="0" compatLnSpc="1">
        <a:prstTxWarp prst="textNoShape">
          <a:avLst/>
        </a:prstTxWarp>
        <a:spAutoFit/>
      </a:bodyPr>
      <a:lstStyle>
        <a:defPPr marL="0" marR="0" indent="0" algn="l" defTabSz="457200" rtl="0" eaLnBrk="1" fontAlgn="base" latinLnBrk="0" hangingPunct="0">
          <a:lnSpc>
            <a:spcPct val="100000"/>
          </a:lnSpc>
          <a:spcBef>
            <a:spcPct val="0"/>
          </a:spcBef>
          <a:spcAft>
            <a:spcPct val="0"/>
          </a:spcAft>
          <a:buClrTx/>
          <a:buSzTx/>
          <a:buFontTx/>
          <a:buNone/>
          <a:tabLst/>
          <a:defRPr kumimoji="0" lang="es-ES_tradnl" sz="1800" b="0" i="0" u="none" strike="noStrike" cap="none" normalizeH="0" baseline="0">
            <a:ln>
              <a:noFill/>
            </a:ln>
            <a:solidFill>
              <a:srgbClr val="535353"/>
            </a:solidFill>
            <a:effectLst/>
            <a:latin typeface="Arial" charset="0"/>
            <a:ea typeface="Arial" charset="0"/>
            <a:cs typeface="Arial" charset="0"/>
            <a:sym typeface="Arial" charset="0"/>
          </a:defRPr>
        </a:defPPr>
      </a:lstStyle>
    </a:lnDef>
  </a:objectDefaults>
  <a:extraClrSchemeLst/>
</a:theme>
</file>

<file path=ppt/theme/theme2.xml><?xml version="1.0" encoding="utf-8"?>
<a:theme xmlns:a="http://schemas.openxmlformats.org/drawingml/2006/main" name="Default - 1_Quote slide">
  <a:themeElements>
    <a:clrScheme name="">
      <a:dk1>
        <a:srgbClr val="535353"/>
      </a:dk1>
      <a:lt1>
        <a:srgbClr val="FFFFFF"/>
      </a:lt1>
      <a:dk2>
        <a:srgbClr val="A7A7A7"/>
      </a:dk2>
      <a:lt2>
        <a:srgbClr val="535353"/>
      </a:lt2>
      <a:accent1>
        <a:srgbClr val="0F7EC5"/>
      </a:accent1>
      <a:accent2>
        <a:srgbClr val="11A1FF"/>
      </a:accent2>
      <a:accent3>
        <a:srgbClr val="FFFFFF"/>
      </a:accent3>
      <a:accent4>
        <a:srgbClr val="464646"/>
      </a:accent4>
      <a:accent5>
        <a:srgbClr val="AAC0DF"/>
      </a:accent5>
      <a:accent6>
        <a:srgbClr val="0E91E7"/>
      </a:accent6>
      <a:hlink>
        <a:srgbClr val="0000FF"/>
      </a:hlink>
      <a:folHlink>
        <a:srgbClr val="FF00FF"/>
      </a:folHlink>
    </a:clrScheme>
    <a:fontScheme name="Default - 1_Quote slide">
      <a:majorFont>
        <a:latin typeface="Arial Narrow"/>
        <a:ea typeface="Arial Narrow"/>
        <a:cs typeface="Arial Narrow"/>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rgbClr val="FFFFFF"/>
        </a:solidFill>
        <a:ln w="25400" cap="flat" cmpd="sng" algn="ctr">
          <a:solidFill>
            <a:srgbClr val="0F7EC5"/>
          </a:solidFill>
          <a:prstDash val="solid"/>
          <a:bevel/>
          <a:headEnd type="none" w="med" len="med"/>
          <a:tailEnd type="none" w="med" len="med"/>
        </a:ln>
        <a:effectLst/>
      </a:spPr>
      <a:bodyPr vert="horz" wrap="square" lIns="45720" tIns="45720" rIns="45720" bIns="45720" numCol="1" anchor="ctr" anchorCtr="0" compatLnSpc="1">
        <a:prstTxWarp prst="textNoShape">
          <a:avLst/>
        </a:prstTxWarp>
        <a:spAutoFit/>
      </a:bodyPr>
      <a:lstStyle>
        <a:defPPr marL="0" marR="0" indent="0" algn="l" defTabSz="457200" rtl="0" eaLnBrk="1" fontAlgn="base" latinLnBrk="0" hangingPunct="0">
          <a:lnSpc>
            <a:spcPct val="100000"/>
          </a:lnSpc>
          <a:spcBef>
            <a:spcPct val="0"/>
          </a:spcBef>
          <a:spcAft>
            <a:spcPct val="0"/>
          </a:spcAft>
          <a:buClrTx/>
          <a:buSzTx/>
          <a:buFontTx/>
          <a:buNone/>
          <a:tabLst/>
          <a:defRPr kumimoji="0" lang="es-ES_tradnl" sz="1800" b="0" i="0" u="none" strike="noStrike" cap="none" normalizeH="0" baseline="0">
            <a:ln>
              <a:noFill/>
            </a:ln>
            <a:solidFill>
              <a:srgbClr val="535353"/>
            </a:solidFill>
            <a:effectLst/>
            <a:latin typeface="Arial" charset="0"/>
            <a:ea typeface="Arial" charset="0"/>
            <a:cs typeface="Arial" charset="0"/>
            <a:sym typeface="Arial" charset="0"/>
          </a:defRPr>
        </a:defPPr>
      </a:lstStyle>
    </a:spDef>
    <a:lnDef>
      <a:spPr bwMode="auto">
        <a:xfrm>
          <a:off x="0" y="0"/>
          <a:ext cx="1" cy="1"/>
        </a:xfrm>
        <a:custGeom>
          <a:avLst/>
          <a:gdLst/>
          <a:ahLst/>
          <a:cxnLst/>
          <a:rect l="0" t="0" r="0" b="0"/>
          <a:pathLst/>
        </a:custGeom>
        <a:solidFill>
          <a:srgbClr val="FFFFFF"/>
        </a:solidFill>
        <a:ln w="25400" cap="flat" cmpd="sng" algn="ctr">
          <a:solidFill>
            <a:srgbClr val="0F7EC5"/>
          </a:solidFill>
          <a:prstDash val="solid"/>
          <a:bevel/>
          <a:headEnd type="none" w="med" len="med"/>
          <a:tailEnd type="none" w="med" len="med"/>
        </a:ln>
        <a:effectLst/>
      </a:spPr>
      <a:bodyPr vert="horz" wrap="square" lIns="45720" tIns="45720" rIns="45720" bIns="45720" numCol="1" anchor="ctr" anchorCtr="0" compatLnSpc="1">
        <a:prstTxWarp prst="textNoShape">
          <a:avLst/>
        </a:prstTxWarp>
        <a:spAutoFit/>
      </a:bodyPr>
      <a:lstStyle>
        <a:defPPr marL="0" marR="0" indent="0" algn="l" defTabSz="457200" rtl="0" eaLnBrk="1" fontAlgn="base" latinLnBrk="0" hangingPunct="0">
          <a:lnSpc>
            <a:spcPct val="100000"/>
          </a:lnSpc>
          <a:spcBef>
            <a:spcPct val="0"/>
          </a:spcBef>
          <a:spcAft>
            <a:spcPct val="0"/>
          </a:spcAft>
          <a:buClrTx/>
          <a:buSzTx/>
          <a:buFontTx/>
          <a:buNone/>
          <a:tabLst/>
          <a:defRPr kumimoji="0" lang="es-ES_tradnl" sz="1800" b="0" i="0" u="none" strike="noStrike" cap="none" normalizeH="0" baseline="0">
            <a:ln>
              <a:noFill/>
            </a:ln>
            <a:solidFill>
              <a:srgbClr val="535353"/>
            </a:solidFill>
            <a:effectLst/>
            <a:latin typeface="Arial" charset="0"/>
            <a:ea typeface="Arial" charset="0"/>
            <a:cs typeface="Arial" charset="0"/>
            <a:sym typeface="Arial" charset="0"/>
          </a:defRPr>
        </a:defPPr>
      </a:lstStyle>
    </a:lnDef>
  </a:objectDefaults>
  <a:extraClrSchemeLst/>
</a:theme>
</file>

<file path=ppt/theme/theme3.xml><?xml version="1.0" encoding="utf-8"?>
<a:theme xmlns:a="http://schemas.openxmlformats.org/drawingml/2006/main" name="Tema de Office">
  <a:themeElements>
    <a:clrScheme name="">
      <a:dk1>
        <a:srgbClr val="000000"/>
      </a:dk1>
      <a:lt1>
        <a:srgbClr val="FFFFFF"/>
      </a:lt1>
      <a:dk2>
        <a:srgbClr val="A7A7A7"/>
      </a:dk2>
      <a:lt2>
        <a:srgbClr val="535353"/>
      </a:lt2>
      <a:accent1>
        <a:srgbClr val="0F7EC5"/>
      </a:accent1>
      <a:accent2>
        <a:srgbClr val="11A1FF"/>
      </a:accent2>
      <a:accent3>
        <a:srgbClr val="FFFFFF"/>
      </a:accent3>
      <a:accent4>
        <a:srgbClr val="000000"/>
      </a:accent4>
      <a:accent5>
        <a:srgbClr val="AAC0DF"/>
      </a:accent5>
      <a:accent6>
        <a:srgbClr val="0E91E7"/>
      </a:accent6>
      <a:hlink>
        <a:srgbClr val="0000FF"/>
      </a:hlink>
      <a:folHlink>
        <a:srgbClr val="FF00F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DF3D7C797EA12745A270EF30E38719B9" ma:contentTypeVersion="13" ma:contentTypeDescription="Crear nuevo documento." ma:contentTypeScope="" ma:versionID="feff0f29e077e72dd6fa6953df5d7371">
  <xsd:schema xmlns:xsd="http://www.w3.org/2001/XMLSchema" xmlns:xs="http://www.w3.org/2001/XMLSchema" xmlns:p="http://schemas.microsoft.com/office/2006/metadata/properties" xmlns:ns2="0a70e875-3d35-4be2-921f-7117c31bab9b" xmlns:ns3="27c1adeb-3674-457c-b08c-8a73f31b6e23" targetNamespace="http://schemas.microsoft.com/office/2006/metadata/properties" ma:root="true" ma:fieldsID="9b4256d1cddb2683194a131f56fe33cb" ns2:_="" ns3:_="">
    <xsd:import namespace="0a70e875-3d35-4be2-921f-7117c31bab9b"/>
    <xsd:import namespace="27c1adeb-3674-457c-b08c-8a73f31b6e2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a70e875-3d35-4be2-921f-7117c31bab9b"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7c1adeb-3674-457c-b08c-8a73f31b6e2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LongProperties xmlns="http://schemas.microsoft.com/office/2006/metadata/long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64FDB34-1A9E-4DB8-B4E4-60C039870F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a70e875-3d35-4be2-921f-7117c31bab9b"/>
    <ds:schemaRef ds:uri="27c1adeb-3674-457c-b08c-8a73f31b6e2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AD16EB9-01B6-4776-9665-B804093F677B}">
  <ds:schemaRefs>
    <ds:schemaRef ds:uri="http://schemas.microsoft.com/office/2006/metadata/longProperties"/>
  </ds:schemaRefs>
</ds:datastoreItem>
</file>

<file path=customXml/itemProps3.xml><?xml version="1.0" encoding="utf-8"?>
<ds:datastoreItem xmlns:ds="http://schemas.openxmlformats.org/officeDocument/2006/customXml" ds:itemID="{10B1355A-36E7-4AD5-952F-CBF38F156E8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479</TotalTime>
  <Words>2636</Words>
  <Application>Microsoft Office PowerPoint</Application>
  <PresentationFormat>On-screen Show (4:3)</PresentationFormat>
  <Paragraphs>156</Paragraphs>
  <Slides>9</Slides>
  <Notes>8</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9</vt:i4>
      </vt:variant>
    </vt:vector>
  </HeadingPairs>
  <TitlesOfParts>
    <vt:vector size="16" baseType="lpstr">
      <vt:lpstr>Arial</vt:lpstr>
      <vt:lpstr>Arial </vt:lpstr>
      <vt:lpstr>Arial Narrow</vt:lpstr>
      <vt:lpstr>Avenir Roman</vt:lpstr>
      <vt:lpstr>Unit</vt:lpstr>
      <vt:lpstr>Default</vt:lpstr>
      <vt:lpstr>Default - 1_Quote slide</vt:lpstr>
      <vt:lpstr>Sistema para Optimización Económica de Dietas Bovinas en Entornos de Datos Escaso (Caporal AI)     Trabajo de Innovación en IA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Título de la asignatura</dc:title>
  <dc:creator>María Gómez Espinosa</dc:creator>
  <cp:lastModifiedBy>Leopoldo Lara</cp:lastModifiedBy>
  <cp:revision>20</cp:revision>
  <dcterms:modified xsi:type="dcterms:W3CDTF">2026-03-28T01:12:53Z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isplay_urn:schemas-microsoft-com:office:office#SharedWithUsers">
    <vt:lpwstr>Montserrat Boix Teruel;Cristina Jiménez Hernández</vt:lpwstr>
  </property>
  <property fmtid="{D5CDD505-2E9C-101B-9397-08002B2CF9AE}" pid="3" name="SharedWithUsers">
    <vt:lpwstr>1683;#Montserrat Boix Teruel;#2148;#Cristina Jiménez Hernández</vt:lpwstr>
  </property>
</Properties>
</file>